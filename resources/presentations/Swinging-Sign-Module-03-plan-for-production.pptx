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0cc2ffc9474916" /><Relationship Type="http://schemas.openxmlformats.org/officeDocument/2006/relationships/extended-properties" Target="/docProps/app.xml" Id="Rbadc015f6d664e08" /><Relationship Type="http://schemas.openxmlformats.org/officeDocument/2006/relationships/officeDocument" Target="/ppt/presentation.xml" Id="R4ddbe98a2f40469f" /></Relationships>
</file>

<file path=ppt/presentation.xml><?xml version="1.0" encoding="utf-8"?>
<p:presentation xmlns:p="http://schemas.openxmlformats.org/presentationml/2006/main">
  <p:sldMasterIdLst>
    <p:sldMasterId xmlns:r="http://schemas.openxmlformats.org/officeDocument/2006/relationships" id="2147483648" r:id="Raf547f5e3fee4899"/>
  </p:sldMasterIdLst>
  <p:notesMasterIdLst>
    <p:notesMasterId xmlns:r="http://schemas.openxmlformats.org/officeDocument/2006/relationships" r:id="R3a6df5d25bf0442e"/>
  </p:notesMasterIdLst>
  <p:sldIdLst>
    <p:sldId xmlns:r="http://schemas.openxmlformats.org/officeDocument/2006/relationships" id="256" r:id="Ra462cd5fc5964e25"/>
    <p:sldId xmlns:r="http://schemas.openxmlformats.org/officeDocument/2006/relationships" id="257" r:id="R089d25681e474926"/>
    <p:sldId xmlns:r="http://schemas.openxmlformats.org/officeDocument/2006/relationships" id="258" r:id="R689d376e819d46a1"/>
    <p:sldId xmlns:r="http://schemas.openxmlformats.org/officeDocument/2006/relationships" id="259" r:id="Rac9c176297734fd1"/>
    <p:sldId xmlns:r="http://schemas.openxmlformats.org/officeDocument/2006/relationships" id="260" r:id="R8438ad308a9c4ae3"/>
    <p:sldId xmlns:r="http://schemas.openxmlformats.org/officeDocument/2006/relationships" id="261" r:id="R7e2804650436456b"/>
    <p:sldId xmlns:r="http://schemas.openxmlformats.org/officeDocument/2006/relationships" id="262" r:id="R7d51e21562914fb6"/>
    <p:sldId xmlns:r="http://schemas.openxmlformats.org/officeDocument/2006/relationships" id="263" r:id="Rd08c06848bb446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6c32afbdb04df7" /><Relationship Type="http://schemas.openxmlformats.org/officeDocument/2006/relationships/slideMaster" Target="/ppt/slideMasters/slideMaster1.xml" Id="Raf547f5e3fee4899" /><Relationship Type="http://schemas.openxmlformats.org/officeDocument/2006/relationships/notesMaster" Target="/ppt/notesMasters/notesMaster1.xml" Id="R3a6df5d25bf0442e" /><Relationship Type="http://schemas.openxmlformats.org/officeDocument/2006/relationships/presProps" Target="/ppt/presProps.xml" Id="Rb9d9a602aa5246da" /><Relationship Type="http://schemas.openxmlformats.org/officeDocument/2006/relationships/tableStyles" Target="/ppt/tableStyles.xml" Id="Rb1b96660611a4d49" /><Relationship Type="http://schemas.openxmlformats.org/officeDocument/2006/relationships/slide" Target="/ppt/slides/slide1.xml" Id="Ra462cd5fc5964e25" /><Relationship Type="http://schemas.openxmlformats.org/officeDocument/2006/relationships/slide" Target="/ppt/slides/slide2.xml" Id="R089d25681e474926" /><Relationship Type="http://schemas.openxmlformats.org/officeDocument/2006/relationships/slide" Target="/ppt/slides/slide3.xml" Id="R689d376e819d46a1" /><Relationship Type="http://schemas.openxmlformats.org/officeDocument/2006/relationships/slide" Target="/ppt/slides/slide4.xml" Id="Rac9c176297734fd1" /><Relationship Type="http://schemas.openxmlformats.org/officeDocument/2006/relationships/slide" Target="/ppt/slides/slide5.xml" Id="R8438ad308a9c4ae3" /><Relationship Type="http://schemas.openxmlformats.org/officeDocument/2006/relationships/slide" Target="/ppt/slides/slide6.xml" Id="R7e2804650436456b" /><Relationship Type="http://schemas.openxmlformats.org/officeDocument/2006/relationships/slide" Target="/ppt/slides/slide7.xml" Id="R7d51e21562914fb6" /><Relationship Type="http://schemas.openxmlformats.org/officeDocument/2006/relationships/slide" Target="/ppt/slides/slide8.xml" Id="Rd08c06848bb446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ac8cc2640544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a2738119854e01" /><Relationship Type="http://schemas.openxmlformats.org/officeDocument/2006/relationships/notesMaster" Target="/ppt/notesMasters/notesMaster1.xml" Id="Rccb59ef9b0c246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f49ae3787544e4" /><Relationship Type="http://schemas.openxmlformats.org/officeDocument/2006/relationships/notesMaster" Target="/ppt/notesMasters/notesMaster1.xml" Id="Rdfc1c3aad29844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754b99843c4216" /><Relationship Type="http://schemas.openxmlformats.org/officeDocument/2006/relationships/notesMaster" Target="/ppt/notesMasters/notesMaster1.xml" Id="R8bbcb2acec3d46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e5dfe2609b4c4b" /><Relationship Type="http://schemas.openxmlformats.org/officeDocument/2006/relationships/notesMaster" Target="/ppt/notesMasters/notesMaster1.xml" Id="Re775b6b93e314e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9e39c566484606" /><Relationship Type="http://schemas.openxmlformats.org/officeDocument/2006/relationships/notesMaster" Target="/ppt/notesMasters/notesMaster1.xml" Id="Rb45f6c14976144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55f73ad07f4d77" /><Relationship Type="http://schemas.openxmlformats.org/officeDocument/2006/relationships/notesMaster" Target="/ppt/notesMasters/notesMaster1.xml" Id="R88654400987b48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d6567ff9af43fc" /><Relationship Type="http://schemas.openxmlformats.org/officeDocument/2006/relationships/notesMaster" Target="/ppt/notesMasters/notesMaster1.xml" Id="R3c2d8e85688948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6decd609934daf" /><Relationship Type="http://schemas.openxmlformats.org/officeDocument/2006/relationships/notesMaster" Target="/ppt/notesMasters/notesMaster1.xml" Id="Rb3c1afe62a434b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establish why Module 3 matters and connect it to the student's approved project pathway.</a:t>
            </a:r>
          </a:p>
          <a:p xmlns:a="http://schemas.openxmlformats.org/drawingml/2006/main">
            <a:r>
              <a:t>Say: Build a traceable proposal that connects materials, layout, Onshape drawings and mounting to the design need.</a:t>
            </a:r>
          </a:p>
          <a:p xmlns:a="http://schemas.openxmlformats.org/drawingml/2006/main">
            <a:r>
              <a:t>Prompt: Which word in the outcome names the decision students will make or explain?</a:t>
            </a:r>
          </a:p>
          <a:p xmlns:a="http://schemas.openxmlformats.org/drawingml/2006/main">
            <a:r>
              <a:t>Transition: The next slide maps the three ideas that build that decision.</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a:p xmlns:a="http://schemas.openxmlformats.org/drawingml/2006/main">
            <a:r>
              <a:t>- Original generated course visual: outputs/swinging-sign-course-site/assets/teaching/module-03-overview.png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preview the three named sections as one connected learning progression.</a:t>
            </a:r>
          </a:p>
          <a:p xmlns:a="http://schemas.openxmlformats.org/drawingml/2006/main">
            <a:r>
              <a:t>Warm-up prompt: Retrieval: what makes a digital design reviewable by someone other than its creator?</a:t>
            </a:r>
          </a:p>
          <a:p xmlns:a="http://schemas.openxmlformats.org/drawingml/2006/main">
            <a:r>
              <a:t>Invite a silent answer first, then take two contrasting responses. Do not resolve every detail yet.</a:t>
            </a:r>
          </a:p>
          <a:p xmlns:a="http://schemas.openxmlformats.org/drawingml/2006/main">
            <a:r>
              <a:t>Transition: Move from the route map into the first idea and ask students to listen for evidence they can reuse later.</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teach material properties and selection as part of the module's connected decision-making sequence.</a:t>
            </a:r>
          </a:p>
          <a:p xmlns:a="http://schemas.openxmlformats.org/drawingml/2006/main">
            <a:r>
              <a:t>Key explanation: Properties such as strength, hardness, toughness, mass and corrosion resistance describe different behaviours. Fit for purpose means matching relevant properties to confirmed use, environment, appearance and approved production limits. A sound justification states the need, evidence, trade-off and a conditional choice from teacher-approved options.</a:t>
            </a:r>
          </a:p>
          <a:p xmlns:a="http://schemas.openxmlformats.org/drawingml/2006/main">
            <a:r>
              <a:t>Prompt to the room: Recommend one provisional material option and state the property evidence and local fact still needed.</a:t>
            </a:r>
          </a:p>
          <a:p xmlns:a="http://schemas.openxmlformats.org/drawingml/2006/main">
            <a:r>
              <a:t>Likely misconception: ‘Metal’ is a broad label; different metals and forms behave differently.</a:t>
            </a:r>
          </a:p>
          <a:p xmlns:a="http://schemas.openxmlformats.org/drawingml/2006/main">
            <a:r>
              <a:t>Transition: Ask students to keep one precise term or relationship for the retrieval slide.</a:t>
            </a:r>
          </a:p>
          <a:p xmlns:a="http://schemas.openxmlformats.org/drawingml/2006/main">
            <a:r>
              <a:t/>
            </a:r>
          </a:p>
          <a:p xmlns:a="http://schemas.openxmlformats.org/drawingml/2006/main">
            <a:r>
              <a:t>Local procedure boundary: The teacher confirms material, grade, stock form, thickness, process and mounting. The current tea-light pathway is LED-only.</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a:p xmlns:a="http://schemas.openxmlformats.org/drawingml/2006/main">
            <a:r>
              <a:t>- Original generated course visual: outputs/swinging-sign-course-site/assets/teaching/m03s01-material-properties-selection.png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teach measurement, layout and resource efficiency as part of the module's connected decision-making sequence.</a:t>
            </a:r>
          </a:p>
          <a:p xmlns:a="http://schemas.openxmlformats.org/drawingml/2006/main">
            <a:r>
              <a:t>Key explanation: Units, reference points and version labels make dimensions and placement understandable to another person. Accuracy is closeness to the intended value; precision is consistency. A datum creates a shared reference. Nesting can reduce waste only after approved spacing, edge, orientation and process requirements are satisfied.</a:t>
            </a:r>
          </a:p>
          <a:p xmlns:a="http://schemas.openxmlformats.org/drawingml/2006/main">
            <a:r>
              <a:t>Prompt to the room: Compare two paper layouts: which communicates more clearly and uses the sheet more responsibly?</a:t>
            </a:r>
          </a:p>
          <a:p xmlns:a="http://schemas.openxmlformats.org/drawingml/2006/main">
            <a:r>
              <a:t>Likely misconception: The tightest layout is not automatically valid or efficient.</a:t>
            </a:r>
          </a:p>
          <a:p xmlns:a="http://schemas.openxmlformats.org/drawingml/2006/main">
            <a:r>
              <a:t>Transition: Ask students to keep one precise term or relationship for the retrieval slide.</a:t>
            </a:r>
          </a:p>
          <a:p xmlns:a="http://schemas.openxmlformats.org/drawingml/2006/main">
            <a:r>
              <a:t/>
            </a:r>
          </a:p>
          <a:p xmlns:a="http://schemas.openxmlformats.org/drawingml/2006/main">
            <a:r>
              <a:t>Local procedure boundary: Use only teacher-approved dimensions, spacing, orientation and layout rules for the actual project.</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a:p xmlns:a="http://schemas.openxmlformats.org/drawingml/2006/main">
            <a:r>
              <a:t>- Original generated course visual: outputs/swinging-sign-course-site/assets/teaching/m03s02-layout-resource-efficiency.png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teach onshape drawings, mounting and approval as part of the module's connected decision-making sequence.</a:t>
            </a:r>
          </a:p>
          <a:p xmlns:a="http://schemas.openxmlformats.org/drawingml/2006/main">
            <a:r>
              <a:t>Key explanation: One current Onshape drawing should show its views, approved dimensions, annotations and revision clearly enough to check. The mounting concept is part of the product system, so its relationship to criteria must be visible before approval. Looking correct on screen is not enough. Check the drawing, present the evidence, respond to feedback and wait for explicit authorisation.</a:t>
            </a:r>
          </a:p>
          <a:p xmlns:a="http://schemas.openxmlformats.org/drawingml/2006/main">
            <a:r>
              <a:t>Prompt to the room: Audit a fictional approval pack: what evidence is present, missing and still awaiting teacher approval?</a:t>
            </a:r>
          </a:p>
          <a:p xmlns:a="http://schemas.openxmlformats.org/drawingml/2006/main">
            <a:r>
              <a:t>Likely misconception: Visual appearance alone does not make an Onshape drawing or export production-ready.</a:t>
            </a:r>
          </a:p>
          <a:p xmlns:a="http://schemas.openxmlformats.org/drawingml/2006/main">
            <a:r>
              <a:t>Transition: Ask students to keep one precise term or relationship for the retrieval slide.</a:t>
            </a:r>
          </a:p>
          <a:p xmlns:a="http://schemas.openxmlformats.org/drawingml/2006/main">
            <a:r>
              <a:t/>
            </a:r>
          </a:p>
          <a:p xmlns:a="http://schemas.openxmlformats.org/drawingml/2006/main">
            <a:r>
              <a:t>Local procedure boundary: Only the teacher can approve the Onshape drawing, export, mounting concept and next production action.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a:p xmlns:a="http://schemas.openxmlformats.org/drawingml/2006/main">
            <a:r>
              <a:t>- Original generated course visual: outputs/swinging-sign-course-site/assets/teaching/m03s03-teacher-approval.png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retrieve all three taught ideas before students construct a longer response.</a:t>
            </a:r>
          </a:p>
          <a:p xmlns:a="http://schemas.openxmlformats.org/drawingml/2006/main">
            <a:r>
              <a:t>Routine: 45 seconds silent thinking, one partner explanation, then sample reasoning from the room.</a:t>
            </a:r>
          </a:p>
          <a:p xmlns:a="http://schemas.openxmlformats.org/drawingml/2006/main">
            <a:r>
              <a:t>Question 1: Why is the strongest material not always the best choice?</a:t>
            </a:r>
          </a:p>
          <a:p xmlns:a="http://schemas.openxmlformats.org/drawingml/2006/main">
            <a:r>
              <a:t>Question 2: What is the purpose of a datum?</a:t>
            </a:r>
          </a:p>
          <a:p xmlns:a="http://schemas.openxmlformats.org/drawingml/2006/main">
            <a:r>
              <a:t>Question 3: When does nesting become a valid efficiency decision?</a:t>
            </a:r>
          </a:p>
          <a:p xmlns:a="http://schemas.openxmlformats.org/drawingml/2006/main">
            <a:r>
              <a:t>Question 4: Why is an on-screen appearance not enough for approval?</a:t>
            </a:r>
          </a:p>
          <a:p xmlns:a="http://schemas.openxmlformats.org/drawingml/2006/main">
            <a:r>
              <a:t>Listen for unsupported practical claims. Redirect students to evidence and Teacher to confirm where needed.</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scaffold a higher-order response that joins evidence from all three module sections.</a:t>
            </a:r>
          </a:p>
          <a:p xmlns:a="http://schemas.openxmlformats.org/drawingml/2006/main">
            <a:r>
              <a:t>Read the question aloud: Decide whether a fictional proposal is ready for teacher review. Justify the material choice, evaluate the layout and identify any file or mounting evidence still missing.</a:t>
            </a:r>
          </a:p>
          <a:p xmlns:a="http://schemas.openxmlformats.org/drawingml/2006/main">
            <a:r>
              <a:t>Scaffold: Read: list the confirmed need, criteria and approved options. Select: choose property, measurement and file evidence that matters. Explain: connect each item to quality, resources or mounting. Check: recommend review, revision or pause — never assume approval.</a:t>
            </a:r>
          </a:p>
          <a:p xmlns:a="http://schemas.openxmlformats.org/drawingml/2006/main">
            <a:r>
              <a:t>Model only the first connection, then release students to complete their own explanation.</a:t>
            </a:r>
          </a:p>
          <a:p xmlns:a="http://schemas.openxmlformats.org/drawingml/2006/main">
            <a:r>
              <a:t>Success check: accurate concepts, explicit evidence, a justified decision and honest treatment of unconfirmed local facts.</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convert the lesson into immediate, retrievable evidence and make the next step explicit.</a:t>
            </a:r>
          </a:p>
          <a:p xmlns:a="http://schemas.openxmlformats.org/drawingml/2006/main">
            <a:r>
              <a:t>Give students quiet time to complete all three prompts before sharing.</a:t>
            </a:r>
          </a:p>
          <a:p xmlns:a="http://schemas.openxmlformats.org/drawingml/2006/main">
            <a:r>
              <a:t>Evidence destination: My folio cards 6–7: Material reasoning; Production plan and approval checkpoint.</a:t>
            </a:r>
          </a:p>
          <a:p xmlns:a="http://schemas.openxmlformats.org/drawingml/2006/main">
            <a:r>
              <a:t>Next step: Next: follow a teacher-authorised production sequence and record quality evidence.</a:t>
            </a:r>
          </a:p>
          <a:p xmlns:a="http://schemas.openxmlformats.org/drawingml/2006/main">
            <a:r>
              <a:t>Saving to the browser or exporting a folio is not formal submission. Follow the teacher's current submission direction.</a:t>
            </a:r>
          </a:p>
          <a:p xmlns:a="http://schemas.openxmlformats.org/drawingml/2006/main">
            <a:r>
              <a:t/>
            </a:r>
          </a:p>
          <a:p xmlns:a="http://schemas.openxmlformats.org/drawingml/2006/main">
            <a:r>
              <a:t>Local procedure boundary: This deck teaches design and production thinking only. Before any practical action, follow the current teacher-approved plan, demonstration, risk controls, materials, tools, process and authorisation.</a:t>
            </a:r>
          </a:p>
          <a:p xmlns:a="http://schemas.openxmlformats.org/drawingml/2006/main">
            <a:r>
              <a:t/>
            </a:r>
          </a:p>
          <a:p xmlns:a="http://schemas.openxmlformats.org/drawingml/2006/main">
            <a:r>
              <a:t>[Sources]</a:t>
            </a:r>
          </a:p>
          <a:p xmlns:a="http://schemas.openxmlformats.org/drawingml/2006/main">
            <a:r>
              <a:t>- NSW Curriculum, Technology 7–8 (2023), overview: https://curriculum.nsw.edu.au/learning-areas/tas/technology-7-8-2023/overview/course</a:t>
            </a:r>
          </a:p>
          <a:p xmlns:a="http://schemas.openxmlformats.org/drawingml/2006/main">
            <a:r>
              <a:t>- NSW Curriculum, Technology 7–8 (2023), outcomes: https://curriculum.nsw.edu.au/learning-areas/tas/technology-7-8-2023/outcomes</a:t>
            </a:r>
          </a:p>
          <a:p xmlns:a="http://schemas.openxmlformats.org/drawingml/2006/main">
            <a:r>
              <a:t>- NSW Curriculum, Technology 7–8 (2023), Stage 4 content: https://curriculum.nsw.edu.au/learning-areas/tas/technology-7-8-2023/content/stage-4/fadc5a8620</a:t>
            </a:r>
          </a:p>
          <a:p xmlns:a="http://schemas.openxmlformats.org/drawingml/2006/main">
            <a:r>
              <a:t>- Teacher-authored five-week unit guide supplied privately for this build; no private link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cc6fa783204f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9f2b0865a646df" /><Relationship Type="http://schemas.openxmlformats.org/officeDocument/2006/relationships/slideLayout" Target="/ppt/slideLayouts/slideLayout1.xml" Id="R8f377829e18f4d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377829e18f4d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a534cdd5fc4d9e" /><Relationship Type="http://schemas.openxmlformats.org/officeDocument/2006/relationships/image" Target="/ppt/media/image.png" Id="R3af53479828f44e5" /><Relationship Type="http://schemas.openxmlformats.org/officeDocument/2006/relationships/notesSlide" Target="/ppt/notesSlides/notesSlide1.xml" Id="R03dd9b20222244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196f15ebcdc4987" /><Relationship Type="http://schemas.openxmlformats.org/officeDocument/2006/relationships/notesSlide" Target="/ppt/notesSlides/notesSlide2.xml" Id="Re390d91f11b54e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229372587664318" /><Relationship Type="http://schemas.openxmlformats.org/officeDocument/2006/relationships/image" Target="/ppt/media/image2.png" Id="R26145a0dc3ba4504" /><Relationship Type="http://schemas.openxmlformats.org/officeDocument/2006/relationships/notesSlide" Target="/ppt/notesSlides/notesSlide3.xml" Id="R45484ea2d68641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41291fdc474bda" /><Relationship Type="http://schemas.openxmlformats.org/officeDocument/2006/relationships/image" Target="/ppt/media/image3.png" Id="R889f43508d4e4f77" /><Relationship Type="http://schemas.openxmlformats.org/officeDocument/2006/relationships/notesSlide" Target="/ppt/notesSlides/notesSlide4.xml" Id="R02c89ab45b8c4b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8ceaa1e8b5348ad" /><Relationship Type="http://schemas.openxmlformats.org/officeDocument/2006/relationships/image" Target="/ppt/media/image4.png" Id="Rf67450c85bb6497a" /><Relationship Type="http://schemas.openxmlformats.org/officeDocument/2006/relationships/notesSlide" Target="/ppt/notesSlides/notesSlide5.xml" Id="Rad305078c1f045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e3afd56f404b02" /><Relationship Type="http://schemas.openxmlformats.org/officeDocument/2006/relationships/notesSlide" Target="/ppt/notesSlides/notesSlide6.xml" Id="Rfe22760a86844c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6ba9ae410294ed6" /><Relationship Type="http://schemas.openxmlformats.org/officeDocument/2006/relationships/notesSlide" Target="/ppt/notesSlides/notesSlide7.xml" Id="R39720bd0b6c043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9ea2cfedea2457e" /><Relationship Type="http://schemas.openxmlformats.org/officeDocument/2006/relationships/notesSlide" Target="/ppt/notesSlides/notesSlide8.xml" Id="R48699f38d7924bb7" /></Relationships>
</file>

<file path=ppt/slides/slide1.xml><?xml version="1.0" encoding="utf-8"?>
<p:sld xmlns:p="http://schemas.openxmlformats.org/presentationml/2006/main">
  <p:cSld>
    <p:bg>
      <p:bgPr>
        <a:solidFill xmlns:a="http://schemas.openxmlformats.org/drawingml/2006/main">
          <a:srgbClr val="113F30"/>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af53479828f44e5"/>
          <a:srcRect xmlns:a="http://schemas.openxmlformats.org/drawingml/2006/main" l="23345" t="0" r="23345" b="0"/>
          <a:stretch xmlns:a="http://schemas.openxmlformats.org/drawingml/2006/main">
            <a:fillRect l="0" t="0" r="0" b="0"/>
          </a:stretch>
        </p:blipFill>
        <p:spPr>
          <a:xfrm xmlns:a="http://schemas.openxmlformats.org/drawingml/2006/main">
            <a:off x="5695950" y="0"/>
            <a:ext cx="6496050" cy="6858000"/>
          </a:xfrm>
          <a:prstGeom xmlns:a="http://schemas.openxmlformats.org/drawingml/2006/main" prst="roundRect">
            <a:avLst>
              <a:gd name="adj" fmla="val 2639"/>
            </a:avLst>
          </a:prstGeom>
        </p:spPr>
      </p:pic>
      <p:sp>
        <p:nvSpPr>
          <p:cNvPr id="2" name="title-accent">
            <a:extLst xmlns:a="http://schemas.openxmlformats.org/drawingml/2006/main">
              <a:ext uri="{FF2B5EF4-FFF2-40B4-BE49-F238E27FC236}">
                <a16:creationId xmlns:a16="http://schemas.microsoft.com/office/drawing/2014/main" id="{B5969DA6-1E1E-47A9-9547-CC011350821C}"/>
              </a:ext>
            </a:extLst>
          </p:cNvPr>
          <p:cNvSpPr>
            <a:spLocks xmlns:a="http://schemas.openxmlformats.org/drawingml/2006/main" noGrp="1"/>
          </p:cNvSpPr>
          <p:nvPr/>
        </p:nvSpPr>
        <p:spPr>
          <a:xfrm xmlns:a="http://schemas.openxmlformats.org/drawingml/2006/main">
            <a:off x="685800" y="723900"/>
            <a:ext cx="800100" cy="76200"/>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3" name="title-kicker">
            <a:extLst xmlns:a="http://schemas.openxmlformats.org/drawingml/2006/main">
              <a:ext uri="{FF2B5EF4-FFF2-40B4-BE49-F238E27FC236}">
                <a16:creationId xmlns:a16="http://schemas.microsoft.com/office/drawing/2014/main" id="{1D56FBE3-2530-45DB-89C8-1271A763099A}"/>
              </a:ext>
            </a:extLst>
          </p:cNvPr>
          <p:cNvSpPr>
            <a:spLocks xmlns:a="http://schemas.openxmlformats.org/drawingml/2006/main" noGrp="1"/>
          </p:cNvSpPr>
          <p:nvPr/>
        </p:nvSpPr>
        <p:spPr>
          <a:xfrm xmlns:a="http://schemas.openxmlformats.org/drawingml/2006/main">
            <a:off x="685800" y="102870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5E7DE"/>
                </a:solidFill>
              </a:defRPr>
            </a:pPr>
            <a:r>
              <a:rPr sz="1200" b="1">
                <a:solidFill>
                  <a:srgbClr val="D5E7DE"/>
                </a:solidFill>
              </a:rPr>
              <a:t>MODULE 3  •  STAGE 4 TECHNOLOGY</a:t>
            </a:r>
          </a:p>
        </p:txBody>
      </p:sp>
      <p:sp>
        <p:nvSpPr>
          <p:cNvPr id="4" name="deck-title">
            <a:extLst xmlns:a="http://schemas.openxmlformats.org/drawingml/2006/main">
              <a:ext uri="{FF2B5EF4-FFF2-40B4-BE49-F238E27FC236}">
                <a16:creationId xmlns:a16="http://schemas.microsoft.com/office/drawing/2014/main" id="{3FFB81FA-CD5A-41B3-B915-7738BC67328C}"/>
              </a:ext>
            </a:extLst>
          </p:cNvPr>
          <p:cNvSpPr>
            <a:spLocks xmlns:a="http://schemas.openxmlformats.org/drawingml/2006/main" noGrp="1"/>
          </p:cNvSpPr>
          <p:nvPr/>
        </p:nvSpPr>
        <p:spPr>
          <a:xfrm xmlns:a="http://schemas.openxmlformats.org/drawingml/2006/main">
            <a:off x="685800" y="2000250"/>
            <a:ext cx="44767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FFFFFF"/>
                </a:solidFill>
              </a:defRPr>
            </a:pPr>
            <a:r>
              <a:rPr sz="3900" b="1">
                <a:solidFill>
                  <a:srgbClr val="FFFFFF"/>
                </a:solidFill>
              </a:rPr>
              <a:t>Plan for production</a:t>
            </a:r>
          </a:p>
        </p:txBody>
      </p:sp>
      <p:sp>
        <p:nvSpPr>
          <p:cNvPr id="5" name="deck-outcome">
            <a:extLst xmlns:a="http://schemas.openxmlformats.org/drawingml/2006/main">
              <a:ext uri="{FF2B5EF4-FFF2-40B4-BE49-F238E27FC236}">
                <a16:creationId xmlns:a16="http://schemas.microsoft.com/office/drawing/2014/main" id="{6F53E31D-1D00-4C35-B07B-D8EC851861E3}"/>
              </a:ext>
            </a:extLst>
          </p:cNvPr>
          <p:cNvSpPr>
            <a:spLocks xmlns:a="http://schemas.openxmlformats.org/drawingml/2006/main" noGrp="1"/>
          </p:cNvSpPr>
          <p:nvPr/>
        </p:nvSpPr>
        <p:spPr>
          <a:xfrm xmlns:a="http://schemas.openxmlformats.org/drawingml/2006/main">
            <a:off x="685800" y="3943350"/>
            <a:ext cx="41719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E8F3ED"/>
                </a:solidFill>
              </a:defRPr>
            </a:pPr>
            <a:r>
              <a:rPr sz="1725" b="0">
                <a:solidFill>
                  <a:srgbClr val="E8F3ED"/>
                </a:solidFill>
              </a:rPr>
              <a:t>Build a traceable proposal that connects materials, layout, Onshape drawings and mounting to the design need.</a:t>
            </a:r>
          </a:p>
        </p:txBody>
      </p:sp>
      <p:sp>
        <p:nvSpPr>
          <p:cNvPr id="6" name="title-course">
            <a:extLst xmlns:a="http://schemas.openxmlformats.org/drawingml/2006/main">
              <a:ext uri="{FF2B5EF4-FFF2-40B4-BE49-F238E27FC236}">
                <a16:creationId xmlns:a16="http://schemas.microsoft.com/office/drawing/2014/main" id="{D9A64EEE-B2C0-4ED6-B38A-4D29ACE3782A}"/>
              </a:ext>
            </a:extLst>
          </p:cNvPr>
          <p:cNvSpPr>
            <a:spLocks xmlns:a="http://schemas.openxmlformats.org/drawingml/2006/main" noGrp="1"/>
          </p:cNvSpPr>
          <p:nvPr/>
        </p:nvSpPr>
        <p:spPr>
          <a:xfrm xmlns:a="http://schemas.openxmlformats.org/drawingml/2006/main">
            <a:off x="685800" y="60960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FD6CA"/>
                </a:solidFill>
              </a:defRPr>
            </a:pPr>
            <a:r>
              <a:rPr sz="1050" b="1">
                <a:solidFill>
                  <a:srgbClr val="BFD6CA"/>
                </a:solidFill>
              </a:rPr>
              <a:t>Swinging Sign  •  Materials and production processes</a:t>
            </a:r>
          </a:p>
        </p:txBody>
      </p:sp>
    </p:spTree>
    <p:extLst>
      <p:ext uri="{BB962C8B-B14F-4D97-AF65-F5344CB8AC3E}">
        <p14:creationId xmlns:p14="http://schemas.microsoft.com/office/powerpoint/2010/main" val="436952605"/>
      </p:ext>
    </p:extLst>
  </p:cSld>
</p:sld>
</file>

<file path=ppt/slides/slide2.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9" name="accent-2">
            <a:extLst xmlns:a="http://schemas.openxmlformats.org/drawingml/2006/main">
              <a:ext uri="{FF2B5EF4-FFF2-40B4-BE49-F238E27FC236}">
                <a16:creationId xmlns:a16="http://schemas.microsoft.com/office/drawing/2014/main" id="{4BB593ED-0D1B-4E60-A3C2-03B0087B139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2">
            <a:extLst xmlns:a="http://schemas.openxmlformats.org/drawingml/2006/main">
              <a:ext uri="{FF2B5EF4-FFF2-40B4-BE49-F238E27FC236}">
                <a16:creationId xmlns:a16="http://schemas.microsoft.com/office/drawing/2014/main" id="{C97479D8-C264-44E0-AB47-47AD501809A0}"/>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MODULE 3  •  PLAN FOR PRODUCTION</a:t>
            </a:r>
          </a:p>
        </p:txBody>
      </p:sp>
      <p:sp>
        <p:nvSpPr>
          <p:cNvPr id="3" name="slide-title-2">
            <a:extLst xmlns:a="http://schemas.openxmlformats.org/drawingml/2006/main">
              <a:ext uri="{FF2B5EF4-FFF2-40B4-BE49-F238E27FC236}">
                <a16:creationId xmlns:a16="http://schemas.microsoft.com/office/drawing/2014/main" id="{6EA46736-D583-46A2-9EAB-509BB30A0A5C}"/>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3F30"/>
                </a:solidFill>
              </a:defRPr>
            </a:pPr>
            <a:r>
              <a:rPr sz="2850" b="1">
                <a:solidFill>
                  <a:srgbClr val="113F30"/>
                </a:solidFill>
              </a:rPr>
              <a:t>Three checks turn a design idea into an approval-ready proposal</a:t>
            </a:r>
          </a:p>
        </p:txBody>
      </p:sp>
      <p:sp>
        <p:nvSpPr>
          <p:cNvPr id="4" name="map-number-1">
            <a:extLst xmlns:a="http://schemas.openxmlformats.org/drawingml/2006/main">
              <a:ext uri="{FF2B5EF4-FFF2-40B4-BE49-F238E27FC236}">
                <a16:creationId xmlns:a16="http://schemas.microsoft.com/office/drawing/2014/main" id="{F166C332-132D-44DD-87B5-DC2B19D2D8AC}"/>
              </a:ext>
            </a:extLst>
          </p:cNvPr>
          <p:cNvSpPr>
            <a:spLocks xmlns:a="http://schemas.openxmlformats.org/drawingml/2006/main" noGrp="1"/>
          </p:cNvSpPr>
          <p:nvPr/>
        </p:nvSpPr>
        <p:spPr>
          <a:xfrm xmlns:a="http://schemas.openxmlformats.org/drawingml/2006/main">
            <a:off x="819150" y="1676400"/>
            <a:ext cx="68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E7AD31"/>
                </a:solidFill>
              </a:defRPr>
            </a:pPr>
            <a:r>
              <a:rPr sz="3900" b="1">
                <a:solidFill>
                  <a:srgbClr val="E7AD31"/>
                </a:solidFill>
              </a:rPr>
              <a:t>1</a:t>
            </a:r>
          </a:p>
        </p:txBody>
      </p:sp>
      <p:sp>
        <p:nvSpPr>
          <p:cNvPr id="5" name="map-title-1">
            <a:extLst xmlns:a="http://schemas.openxmlformats.org/drawingml/2006/main">
              <a:ext uri="{FF2B5EF4-FFF2-40B4-BE49-F238E27FC236}">
                <a16:creationId xmlns:a16="http://schemas.microsoft.com/office/drawing/2014/main" id="{2C0D532A-7B6A-47E1-8447-A44B999FFAC8}"/>
              </a:ext>
            </a:extLst>
          </p:cNvPr>
          <p:cNvSpPr>
            <a:spLocks xmlns:a="http://schemas.openxmlformats.org/drawingml/2006/main" noGrp="1"/>
          </p:cNvSpPr>
          <p:nvPr/>
        </p:nvSpPr>
        <p:spPr>
          <a:xfrm xmlns:a="http://schemas.openxmlformats.org/drawingml/2006/main">
            <a:off x="1543050" y="1695450"/>
            <a:ext cx="2524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3F30"/>
                </a:solidFill>
              </a:defRPr>
            </a:pPr>
            <a:r>
              <a:rPr sz="1875" b="1">
                <a:solidFill>
                  <a:srgbClr val="113F30"/>
                </a:solidFill>
              </a:rPr>
              <a:t>Material properties and selection</a:t>
            </a:r>
          </a:p>
        </p:txBody>
      </p:sp>
      <p:sp>
        <p:nvSpPr>
          <p:cNvPr id="6" name="map-action-1">
            <a:extLst xmlns:a="http://schemas.openxmlformats.org/drawingml/2006/main">
              <a:ext uri="{FF2B5EF4-FFF2-40B4-BE49-F238E27FC236}">
                <a16:creationId xmlns:a16="http://schemas.microsoft.com/office/drawing/2014/main" id="{1D044034-F9C5-4228-A981-57731DDB0A42}"/>
              </a:ext>
            </a:extLst>
          </p:cNvPr>
          <p:cNvSpPr>
            <a:spLocks xmlns:a="http://schemas.openxmlformats.org/drawingml/2006/main" noGrp="1"/>
          </p:cNvSpPr>
          <p:nvPr/>
        </p:nvSpPr>
        <p:spPr>
          <a:xfrm xmlns:a="http://schemas.openxmlformats.org/drawingml/2006/main">
            <a:off x="819150" y="2647950"/>
            <a:ext cx="2914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F2A25"/>
                </a:solidFill>
              </a:defRPr>
            </a:pPr>
            <a:r>
              <a:rPr sz="1425" b="0">
                <a:solidFill>
                  <a:srgbClr val="1F2A25"/>
                </a:solidFill>
              </a:rPr>
              <a:t>Recommend one provisional material option and state the property evidence and local fact still needed.</a:t>
            </a:r>
          </a:p>
        </p:txBody>
      </p:sp>
      <p:sp>
        <p:nvSpPr>
          <p:cNvPr id="7" name="map-number-2">
            <a:extLst xmlns:a="http://schemas.openxmlformats.org/drawingml/2006/main">
              <a:ext uri="{FF2B5EF4-FFF2-40B4-BE49-F238E27FC236}">
                <a16:creationId xmlns:a16="http://schemas.microsoft.com/office/drawing/2014/main" id="{7F2EB813-5373-4786-8D34-02B29400515D}"/>
              </a:ext>
            </a:extLst>
          </p:cNvPr>
          <p:cNvSpPr>
            <a:spLocks xmlns:a="http://schemas.openxmlformats.org/drawingml/2006/main" noGrp="1"/>
          </p:cNvSpPr>
          <p:nvPr/>
        </p:nvSpPr>
        <p:spPr>
          <a:xfrm xmlns:a="http://schemas.openxmlformats.org/drawingml/2006/main">
            <a:off x="4248150" y="1676400"/>
            <a:ext cx="68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E7AD31"/>
                </a:solidFill>
              </a:defRPr>
            </a:pPr>
            <a:r>
              <a:rPr sz="3900" b="1">
                <a:solidFill>
                  <a:srgbClr val="E7AD31"/>
                </a:solidFill>
              </a:rPr>
              <a:t>2</a:t>
            </a:r>
          </a:p>
        </p:txBody>
      </p:sp>
      <p:sp>
        <p:nvSpPr>
          <p:cNvPr id="8" name="map-title-2">
            <a:extLst xmlns:a="http://schemas.openxmlformats.org/drawingml/2006/main">
              <a:ext uri="{FF2B5EF4-FFF2-40B4-BE49-F238E27FC236}">
                <a16:creationId xmlns:a16="http://schemas.microsoft.com/office/drawing/2014/main" id="{879998F6-6F65-4344-BD8D-9A2F7B582651}"/>
              </a:ext>
            </a:extLst>
          </p:cNvPr>
          <p:cNvSpPr>
            <a:spLocks xmlns:a="http://schemas.openxmlformats.org/drawingml/2006/main" noGrp="1"/>
          </p:cNvSpPr>
          <p:nvPr/>
        </p:nvSpPr>
        <p:spPr>
          <a:xfrm xmlns:a="http://schemas.openxmlformats.org/drawingml/2006/main">
            <a:off x="4972050" y="1695450"/>
            <a:ext cx="2524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3F30"/>
                </a:solidFill>
              </a:defRPr>
            </a:pPr>
            <a:r>
              <a:rPr sz="1875" b="1">
                <a:solidFill>
                  <a:srgbClr val="113F30"/>
                </a:solidFill>
              </a:rPr>
              <a:t>Measurement, layout and resource efficiency</a:t>
            </a:r>
          </a:p>
        </p:txBody>
      </p:sp>
      <p:sp>
        <p:nvSpPr>
          <p:cNvPr id="9" name="map-action-2">
            <a:extLst xmlns:a="http://schemas.openxmlformats.org/drawingml/2006/main">
              <a:ext uri="{FF2B5EF4-FFF2-40B4-BE49-F238E27FC236}">
                <a16:creationId xmlns:a16="http://schemas.microsoft.com/office/drawing/2014/main" id="{E1377E17-562E-4700-BDB6-5FA1C0CE05E3}"/>
              </a:ext>
            </a:extLst>
          </p:cNvPr>
          <p:cNvSpPr>
            <a:spLocks xmlns:a="http://schemas.openxmlformats.org/drawingml/2006/main" noGrp="1"/>
          </p:cNvSpPr>
          <p:nvPr/>
        </p:nvSpPr>
        <p:spPr>
          <a:xfrm xmlns:a="http://schemas.openxmlformats.org/drawingml/2006/main">
            <a:off x="4248150" y="2647950"/>
            <a:ext cx="2914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F2A25"/>
                </a:solidFill>
              </a:defRPr>
            </a:pPr>
            <a:r>
              <a:rPr sz="1425" b="0">
                <a:solidFill>
                  <a:srgbClr val="1F2A25"/>
                </a:solidFill>
              </a:rPr>
              <a:t>Compare two paper layouts: which communicates more clearly and uses the sheet more responsibly?</a:t>
            </a:r>
          </a:p>
        </p:txBody>
      </p:sp>
      <p:sp>
        <p:nvSpPr>
          <p:cNvPr id="10" name="map-number-3">
            <a:extLst xmlns:a="http://schemas.openxmlformats.org/drawingml/2006/main">
              <a:ext uri="{FF2B5EF4-FFF2-40B4-BE49-F238E27FC236}">
                <a16:creationId xmlns:a16="http://schemas.microsoft.com/office/drawing/2014/main" id="{D22F5EF9-6AB6-4F4D-9D6A-C180B9A5817A}"/>
              </a:ext>
            </a:extLst>
          </p:cNvPr>
          <p:cNvSpPr>
            <a:spLocks xmlns:a="http://schemas.openxmlformats.org/drawingml/2006/main" noGrp="1"/>
          </p:cNvSpPr>
          <p:nvPr/>
        </p:nvSpPr>
        <p:spPr>
          <a:xfrm xmlns:a="http://schemas.openxmlformats.org/drawingml/2006/main">
            <a:off x="7677150" y="1676400"/>
            <a:ext cx="68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E7AD31"/>
                </a:solidFill>
              </a:defRPr>
            </a:pPr>
            <a:r>
              <a:rPr sz="3900" b="1">
                <a:solidFill>
                  <a:srgbClr val="E7AD31"/>
                </a:solidFill>
              </a:rPr>
              <a:t>3</a:t>
            </a:r>
          </a:p>
        </p:txBody>
      </p:sp>
      <p:sp>
        <p:nvSpPr>
          <p:cNvPr id="11" name="map-title-3">
            <a:extLst xmlns:a="http://schemas.openxmlformats.org/drawingml/2006/main">
              <a:ext uri="{FF2B5EF4-FFF2-40B4-BE49-F238E27FC236}">
                <a16:creationId xmlns:a16="http://schemas.microsoft.com/office/drawing/2014/main" id="{C14CADFB-2A22-4D98-AF30-B85EE79E1EDB}"/>
              </a:ext>
            </a:extLst>
          </p:cNvPr>
          <p:cNvSpPr>
            <a:spLocks xmlns:a="http://schemas.openxmlformats.org/drawingml/2006/main" noGrp="1"/>
          </p:cNvSpPr>
          <p:nvPr/>
        </p:nvSpPr>
        <p:spPr>
          <a:xfrm xmlns:a="http://schemas.openxmlformats.org/drawingml/2006/main">
            <a:off x="8401050" y="1695450"/>
            <a:ext cx="2524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3F30"/>
                </a:solidFill>
              </a:defRPr>
            </a:pPr>
            <a:r>
              <a:rPr sz="1875" b="1">
                <a:solidFill>
                  <a:srgbClr val="113F30"/>
                </a:solidFill>
              </a:rPr>
              <a:t>Onshape drawings, mounting and approval</a:t>
            </a:r>
          </a:p>
        </p:txBody>
      </p:sp>
      <p:sp>
        <p:nvSpPr>
          <p:cNvPr id="12" name="map-action-3">
            <a:extLst xmlns:a="http://schemas.openxmlformats.org/drawingml/2006/main">
              <a:ext uri="{FF2B5EF4-FFF2-40B4-BE49-F238E27FC236}">
                <a16:creationId xmlns:a16="http://schemas.microsoft.com/office/drawing/2014/main" id="{131D72F5-C958-4D46-8A44-A237CD3D7A53}"/>
              </a:ext>
            </a:extLst>
          </p:cNvPr>
          <p:cNvSpPr>
            <a:spLocks xmlns:a="http://schemas.openxmlformats.org/drawingml/2006/main" noGrp="1"/>
          </p:cNvSpPr>
          <p:nvPr/>
        </p:nvSpPr>
        <p:spPr>
          <a:xfrm xmlns:a="http://schemas.openxmlformats.org/drawingml/2006/main">
            <a:off x="7677150" y="2647950"/>
            <a:ext cx="2914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F2A25"/>
                </a:solidFill>
              </a:defRPr>
            </a:pPr>
            <a:r>
              <a:rPr sz="1425" b="0">
                <a:solidFill>
                  <a:srgbClr val="1F2A25"/>
                </a:solidFill>
              </a:rPr>
              <a:t>Audit a fictional approval pack: what evidence is present, missing and still awaiting teacher approval?</a:t>
            </a:r>
          </a:p>
        </p:txBody>
      </p:sp>
      <p:sp>
        <p:nvSpPr>
          <p:cNvPr id="13" name="warm-up-band">
            <a:extLst xmlns:a="http://schemas.openxmlformats.org/drawingml/2006/main">
              <a:ext uri="{FF2B5EF4-FFF2-40B4-BE49-F238E27FC236}">
                <a16:creationId xmlns:a16="http://schemas.microsoft.com/office/drawing/2014/main" id="{E6B53CA3-077C-41EE-AF81-A77DCAC65208}"/>
              </a:ext>
            </a:extLst>
          </p:cNvPr>
          <p:cNvSpPr>
            <a:spLocks xmlns:a="http://schemas.openxmlformats.org/drawingml/2006/main" noGrp="1"/>
          </p:cNvSpPr>
          <p:nvPr/>
        </p:nvSpPr>
        <p:spPr>
          <a:xfrm xmlns:a="http://schemas.openxmlformats.org/drawingml/2006/main">
            <a:off x="685800" y="4629150"/>
            <a:ext cx="10820400" cy="1257300"/>
          </a:xfrm>
          <a:prstGeom xmlns:a="http://schemas.openxmlformats.org/drawingml/2006/main" prst="roundRect">
            <a:avLst>
              <a:gd name="adj" fmla="val 15152"/>
            </a:avLst>
          </a:prstGeom>
          <a:solidFill xmlns:a="http://schemas.openxmlformats.org/drawingml/2006/main">
            <a:srgbClr val="E8F3ED"/>
          </a:solidFill>
          <a:ln xmlns:a="http://schemas.openxmlformats.org/drawingml/2006/main" w="9525">
            <a:solidFill>
              <a:srgbClr val="C8D8CF"/>
            </a:solidFill>
            <a:prstDash val="solid"/>
          </a:ln>
        </p:spPr>
      </p:sp>
      <p:sp>
        <p:nvSpPr>
          <p:cNvPr id="14" name="warm-up-label">
            <a:extLst xmlns:a="http://schemas.openxmlformats.org/drawingml/2006/main">
              <a:ext uri="{FF2B5EF4-FFF2-40B4-BE49-F238E27FC236}">
                <a16:creationId xmlns:a16="http://schemas.microsoft.com/office/drawing/2014/main" id="{B6FE48E4-E9B0-4C86-BC48-664C2575CB2F}"/>
              </a:ext>
            </a:extLst>
          </p:cNvPr>
          <p:cNvSpPr>
            <a:spLocks xmlns:a="http://schemas.openxmlformats.org/drawingml/2006/main" noGrp="1"/>
          </p:cNvSpPr>
          <p:nvPr/>
        </p:nvSpPr>
        <p:spPr>
          <a:xfrm xmlns:a="http://schemas.openxmlformats.org/drawingml/2006/main">
            <a:off x="990600" y="4876800"/>
            <a:ext cx="2590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84932"/>
                </a:solidFill>
              </a:defRPr>
            </a:pPr>
            <a:r>
              <a:rPr sz="1125" b="1">
                <a:solidFill>
                  <a:srgbClr val="B84932"/>
                </a:solidFill>
              </a:rPr>
              <a:t>RETRIEVAL WARM-UP</a:t>
            </a:r>
          </a:p>
        </p:txBody>
      </p:sp>
      <p:sp>
        <p:nvSpPr>
          <p:cNvPr id="15" name="warm-up-question">
            <a:extLst xmlns:a="http://schemas.openxmlformats.org/drawingml/2006/main">
              <a:ext uri="{FF2B5EF4-FFF2-40B4-BE49-F238E27FC236}">
                <a16:creationId xmlns:a16="http://schemas.microsoft.com/office/drawing/2014/main" id="{2ECDE26F-EF22-4528-8964-70E21ED1AA33}"/>
              </a:ext>
            </a:extLst>
          </p:cNvPr>
          <p:cNvSpPr>
            <a:spLocks xmlns:a="http://schemas.openxmlformats.org/drawingml/2006/main" noGrp="1"/>
          </p:cNvSpPr>
          <p:nvPr/>
        </p:nvSpPr>
        <p:spPr>
          <a:xfrm xmlns:a="http://schemas.openxmlformats.org/drawingml/2006/main">
            <a:off x="990600" y="5219700"/>
            <a:ext cx="979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13F30"/>
                </a:solidFill>
              </a:defRPr>
            </a:pPr>
            <a:r>
              <a:rPr sz="1950" b="1">
                <a:solidFill>
                  <a:srgbClr val="113F30"/>
                </a:solidFill>
              </a:rPr>
              <a:t>Retrieval: what makes a digital design reviewable by someone other than its creator?</a:t>
            </a:r>
          </a:p>
        </p:txBody>
      </p:sp>
      <p:sp>
        <p:nvSpPr>
          <p:cNvPr id="16" name="footer-rule-2">
            <a:extLst xmlns:a="http://schemas.openxmlformats.org/drawingml/2006/main">
              <a:ext uri="{FF2B5EF4-FFF2-40B4-BE49-F238E27FC236}">
                <a16:creationId xmlns:a16="http://schemas.microsoft.com/office/drawing/2014/main" id="{59BAF02B-9C82-47CC-A7BC-28C1BA74D92C}"/>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C8D8CF"/>
          </a:solidFill>
          <a:ln xmlns:a="http://schemas.openxmlformats.org/drawingml/2006/main" w="0">
            <a:solidFill>
              <a:srgbClr val="C8D8CF"/>
            </a:solidFill>
            <a:prstDash val="solid"/>
          </a:ln>
        </p:spPr>
      </p:sp>
      <p:sp>
        <p:nvSpPr>
          <p:cNvPr id="17" name="footer-label-2">
            <a:extLst xmlns:a="http://schemas.openxmlformats.org/drawingml/2006/main">
              <a:ext uri="{FF2B5EF4-FFF2-40B4-BE49-F238E27FC236}">
                <a16:creationId xmlns:a16="http://schemas.microsoft.com/office/drawing/2014/main" id="{BD385C6C-981F-46F8-869B-AFA011139208}"/>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4645D"/>
                </a:solidFill>
              </a:defRPr>
            </a:pPr>
            <a:r>
              <a:rPr sz="900" b="1">
                <a:solidFill>
                  <a:srgbClr val="54645D"/>
                </a:solidFill>
              </a:rPr>
              <a:t>SWINGING SIGN  •  MODULE 3</a:t>
            </a:r>
          </a:p>
        </p:txBody>
      </p:sp>
      <p:sp>
        <p:nvSpPr>
          <p:cNvPr id="18" name="footer-page-2">
            <a:extLst xmlns:a="http://schemas.openxmlformats.org/drawingml/2006/main">
              <a:ext uri="{FF2B5EF4-FFF2-40B4-BE49-F238E27FC236}">
                <a16:creationId xmlns:a16="http://schemas.microsoft.com/office/drawing/2014/main" id="{F77EF94C-C9A7-4B4B-ABA1-5ABEB5B83F60}"/>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4645D"/>
                </a:solidFill>
              </a:defRPr>
            </a:pPr>
            <a:r>
              <a:rPr sz="900" b="1">
                <a:solidFill>
                  <a:srgbClr val="54645D"/>
                </a:solidFill>
              </a:rPr>
              <a:t>2 / 8</a:t>
            </a:r>
          </a:p>
        </p:txBody>
      </p:sp>
    </p:spTree>
    <p:extLst>
      <p:ext uri="{BB962C8B-B14F-4D97-AF65-F5344CB8AC3E}">
        <p14:creationId xmlns:p14="http://schemas.microsoft.com/office/powerpoint/2010/main" val="122796696"/>
      </p:ext>
    </p:extLst>
  </p:cSld>
</p:sld>
</file>

<file path=ppt/slides/slide3.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9" name="accent-3">
            <a:extLst xmlns:a="http://schemas.openxmlformats.org/drawingml/2006/main">
              <a:ext uri="{FF2B5EF4-FFF2-40B4-BE49-F238E27FC236}">
                <a16:creationId xmlns:a16="http://schemas.microsoft.com/office/drawing/2014/main" id="{F1B7D301-6E91-4855-8F8A-1AED6104BD0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3">
            <a:extLst xmlns:a="http://schemas.openxmlformats.org/drawingml/2006/main">
              <a:ext uri="{FF2B5EF4-FFF2-40B4-BE49-F238E27FC236}">
                <a16:creationId xmlns:a16="http://schemas.microsoft.com/office/drawing/2014/main" id="{8C8FDAA5-3EFA-43C9-B58B-11E4DA36F04D}"/>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MODULE 3  •  PLAN FOR PRODUCTION</a:t>
            </a:r>
          </a:p>
        </p:txBody>
      </p:sp>
      <p:sp>
        <p:nvSpPr>
          <p:cNvPr id="3" name="slide-title-3">
            <a:extLst xmlns:a="http://schemas.openxmlformats.org/drawingml/2006/main">
              <a:ext uri="{FF2B5EF4-FFF2-40B4-BE49-F238E27FC236}">
                <a16:creationId xmlns:a16="http://schemas.microsoft.com/office/drawing/2014/main" id="{5AFDEC71-E4B2-445B-9267-351333F0935C}"/>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3F30"/>
                </a:solidFill>
              </a:defRPr>
            </a:pPr>
            <a:r>
              <a:rPr sz="2850" b="1">
                <a:solidFill>
                  <a:srgbClr val="113F30"/>
                </a:solidFill>
              </a:rPr>
              <a:t>Material choice begins with purpose, not appearance</a:t>
            </a:r>
          </a:p>
        </p:txBody>
      </p:sp>
      <p:sp>
        <p:nvSpPr>
          <p:cNvPr id="4" name="section-name-3">
            <a:extLst xmlns:a="http://schemas.openxmlformats.org/drawingml/2006/main">
              <a:ext uri="{FF2B5EF4-FFF2-40B4-BE49-F238E27FC236}">
                <a16:creationId xmlns:a16="http://schemas.microsoft.com/office/drawing/2014/main" id="{C245598A-22B7-4581-B392-E494AE958733}"/>
              </a:ext>
            </a:extLst>
          </p:cNvPr>
          <p:cNvSpPr>
            <a:spLocks xmlns:a="http://schemas.openxmlformats.org/drawingml/2006/main" noGrp="1"/>
          </p:cNvSpPr>
          <p:nvPr/>
        </p:nvSpPr>
        <p:spPr>
          <a:xfrm xmlns:a="http://schemas.openxmlformats.org/drawingml/2006/main">
            <a:off x="685800" y="1285875"/>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MATERIAL PROPERTIES AND SELECTION</a:t>
            </a:r>
          </a:p>
        </p:txBody>
      </p:sp>
      <p:sp>
        <p:nvSpPr>
          <p:cNvPr id="5" name="s3-mark-1">
            <a:extLst xmlns:a="http://schemas.openxmlformats.org/drawingml/2006/main">
              <a:ext uri="{FF2B5EF4-FFF2-40B4-BE49-F238E27FC236}">
                <a16:creationId xmlns:a16="http://schemas.microsoft.com/office/drawing/2014/main" id="{A2B95557-40F4-4C09-82DB-0348133EC191}"/>
              </a:ext>
            </a:extLst>
          </p:cNvPr>
          <p:cNvSpPr>
            <a:spLocks xmlns:a="http://schemas.openxmlformats.org/drawingml/2006/main" noGrp="1"/>
          </p:cNvSpPr>
          <p:nvPr/>
        </p:nvSpPr>
        <p:spPr>
          <a:xfrm xmlns:a="http://schemas.openxmlformats.org/drawingml/2006/main">
            <a:off x="685800" y="179070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6" name="s3-text-1">
            <a:extLst xmlns:a="http://schemas.openxmlformats.org/drawingml/2006/main">
              <a:ext uri="{FF2B5EF4-FFF2-40B4-BE49-F238E27FC236}">
                <a16:creationId xmlns:a16="http://schemas.microsoft.com/office/drawing/2014/main" id="{BE854EB6-F763-4205-9105-71504C2731C6}"/>
              </a:ext>
            </a:extLst>
          </p:cNvPr>
          <p:cNvSpPr>
            <a:spLocks xmlns:a="http://schemas.openxmlformats.org/drawingml/2006/main" noGrp="1"/>
          </p:cNvSpPr>
          <p:nvPr/>
        </p:nvSpPr>
        <p:spPr>
          <a:xfrm xmlns:a="http://schemas.openxmlformats.org/drawingml/2006/main">
            <a:off x="952500" y="171450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Properties such as strength, hardness, toughness, mass and corrosion resistance describe different behaviours.</a:t>
            </a:r>
          </a:p>
        </p:txBody>
      </p:sp>
      <p:sp>
        <p:nvSpPr>
          <p:cNvPr id="7" name="s3-mark-2">
            <a:extLst xmlns:a="http://schemas.openxmlformats.org/drawingml/2006/main">
              <a:ext uri="{FF2B5EF4-FFF2-40B4-BE49-F238E27FC236}">
                <a16:creationId xmlns:a16="http://schemas.microsoft.com/office/drawing/2014/main" id="{E7F776B2-6F54-47BF-A9AB-DF084B2E2733}"/>
              </a:ext>
            </a:extLst>
          </p:cNvPr>
          <p:cNvSpPr>
            <a:spLocks xmlns:a="http://schemas.openxmlformats.org/drawingml/2006/main" noGrp="1"/>
          </p:cNvSpPr>
          <p:nvPr/>
        </p:nvSpPr>
        <p:spPr>
          <a:xfrm xmlns:a="http://schemas.openxmlformats.org/drawingml/2006/main">
            <a:off x="685800" y="278130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8" name="s3-text-2">
            <a:extLst xmlns:a="http://schemas.openxmlformats.org/drawingml/2006/main">
              <a:ext uri="{FF2B5EF4-FFF2-40B4-BE49-F238E27FC236}">
                <a16:creationId xmlns:a16="http://schemas.microsoft.com/office/drawing/2014/main" id="{D9427FC3-041F-44AA-B9F1-00281B12ED18}"/>
              </a:ext>
            </a:extLst>
          </p:cNvPr>
          <p:cNvSpPr>
            <a:spLocks xmlns:a="http://schemas.openxmlformats.org/drawingml/2006/main" noGrp="1"/>
          </p:cNvSpPr>
          <p:nvPr/>
        </p:nvSpPr>
        <p:spPr>
          <a:xfrm xmlns:a="http://schemas.openxmlformats.org/drawingml/2006/main">
            <a:off x="952500" y="270510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Fit for purpose means matching relevant properties to confirmed use, environment, appearance and approved production limits.</a:t>
            </a:r>
          </a:p>
        </p:txBody>
      </p:sp>
      <p:sp>
        <p:nvSpPr>
          <p:cNvPr id="9" name="s3-mark-3">
            <a:extLst xmlns:a="http://schemas.openxmlformats.org/drawingml/2006/main">
              <a:ext uri="{FF2B5EF4-FFF2-40B4-BE49-F238E27FC236}">
                <a16:creationId xmlns:a16="http://schemas.microsoft.com/office/drawing/2014/main" id="{CA358C9B-445A-4644-ADEE-E7830BB2F30C}"/>
              </a:ext>
            </a:extLst>
          </p:cNvPr>
          <p:cNvSpPr>
            <a:spLocks xmlns:a="http://schemas.openxmlformats.org/drawingml/2006/main" noGrp="1"/>
          </p:cNvSpPr>
          <p:nvPr/>
        </p:nvSpPr>
        <p:spPr>
          <a:xfrm xmlns:a="http://schemas.openxmlformats.org/drawingml/2006/main">
            <a:off x="685800" y="377190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0" name="s3-text-3">
            <a:extLst xmlns:a="http://schemas.openxmlformats.org/drawingml/2006/main">
              <a:ext uri="{FF2B5EF4-FFF2-40B4-BE49-F238E27FC236}">
                <a16:creationId xmlns:a16="http://schemas.microsoft.com/office/drawing/2014/main" id="{352133B6-6E4E-4957-9052-6809236AFF37}"/>
              </a:ext>
            </a:extLst>
          </p:cNvPr>
          <p:cNvSpPr>
            <a:spLocks xmlns:a="http://schemas.openxmlformats.org/drawingml/2006/main" noGrp="1"/>
          </p:cNvSpPr>
          <p:nvPr/>
        </p:nvSpPr>
        <p:spPr>
          <a:xfrm xmlns:a="http://schemas.openxmlformats.org/drawingml/2006/main">
            <a:off x="952500" y="369570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A sound justification states the need, evidence, trade-off and a conditional choice from teacher-approved options.</a:t>
            </a:r>
          </a:p>
        </p:txBody>
      </p:sp>
      <p:sp>
        <p:nvSpPr>
          <p:cNvPr id="11" name="prompt-band-3">
            <a:extLst xmlns:a="http://schemas.openxmlformats.org/drawingml/2006/main">
              <a:ext uri="{FF2B5EF4-FFF2-40B4-BE49-F238E27FC236}">
                <a16:creationId xmlns:a16="http://schemas.microsoft.com/office/drawing/2014/main" id="{12254194-BED7-4658-B090-AB56F6E088F1}"/>
              </a:ext>
            </a:extLst>
          </p:cNvPr>
          <p:cNvSpPr>
            <a:spLocks xmlns:a="http://schemas.openxmlformats.org/drawingml/2006/main" noGrp="1"/>
          </p:cNvSpPr>
          <p:nvPr/>
        </p:nvSpPr>
        <p:spPr>
          <a:xfrm xmlns:a="http://schemas.openxmlformats.org/drawingml/2006/main">
            <a:off x="685800" y="4724400"/>
            <a:ext cx="4171950" cy="1257300"/>
          </a:xfrm>
          <a:prstGeom xmlns:a="http://schemas.openxmlformats.org/drawingml/2006/main" prst="roundRect">
            <a:avLst>
              <a:gd name="adj" fmla="val 12121"/>
            </a:avLst>
          </a:prstGeom>
          <a:solidFill xmlns:a="http://schemas.openxmlformats.org/drawingml/2006/main">
            <a:srgbClr val="E8F3ED"/>
          </a:solidFill>
          <a:ln xmlns:a="http://schemas.openxmlformats.org/drawingml/2006/main" w="9525">
            <a:solidFill>
              <a:srgbClr val="C8D8CF"/>
            </a:solidFill>
            <a:prstDash val="solid"/>
          </a:ln>
        </p:spPr>
      </p:sp>
      <p:sp>
        <p:nvSpPr>
          <p:cNvPr id="12" name="prompt-label-3">
            <a:extLst xmlns:a="http://schemas.openxmlformats.org/drawingml/2006/main">
              <a:ext uri="{FF2B5EF4-FFF2-40B4-BE49-F238E27FC236}">
                <a16:creationId xmlns:a16="http://schemas.microsoft.com/office/drawing/2014/main" id="{FE133B08-041E-4E9C-B06E-E7EE0C31974A}"/>
              </a:ext>
            </a:extLst>
          </p:cNvPr>
          <p:cNvSpPr>
            <a:spLocks xmlns:a="http://schemas.openxmlformats.org/drawingml/2006/main" noGrp="1"/>
          </p:cNvSpPr>
          <p:nvPr/>
        </p:nvSpPr>
        <p:spPr>
          <a:xfrm xmlns:a="http://schemas.openxmlformats.org/drawingml/2006/main">
            <a:off x="895350" y="4857750"/>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APPLY IT</a:t>
            </a:r>
          </a:p>
        </p:txBody>
      </p:sp>
      <p:sp>
        <p:nvSpPr>
          <p:cNvPr id="13" name="prompt-3">
            <a:extLst xmlns:a="http://schemas.openxmlformats.org/drawingml/2006/main">
              <a:ext uri="{FF2B5EF4-FFF2-40B4-BE49-F238E27FC236}">
                <a16:creationId xmlns:a16="http://schemas.microsoft.com/office/drawing/2014/main" id="{0A0B3CC0-8FEA-48D1-A11D-139018D8CD4B}"/>
              </a:ext>
            </a:extLst>
          </p:cNvPr>
          <p:cNvSpPr>
            <a:spLocks xmlns:a="http://schemas.openxmlformats.org/drawingml/2006/main" noGrp="1"/>
          </p:cNvSpPr>
          <p:nvPr/>
        </p:nvSpPr>
        <p:spPr>
          <a:xfrm xmlns:a="http://schemas.openxmlformats.org/drawingml/2006/main">
            <a:off x="895350" y="5143500"/>
            <a:ext cx="3714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13F30"/>
                </a:solidFill>
              </a:defRPr>
            </a:pPr>
            <a:r>
              <a:rPr sz="1350" b="1">
                <a:solidFill>
                  <a:srgbClr val="113F30"/>
                </a:solidFill>
              </a:rPr>
              <a:t>Recommend one provisional material option and state the property evidence and local fact still needed.</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6145a0dc3ba4504"/>
          <a:srcRect xmlns:a="http://schemas.openxmlformats.org/drawingml/2006/main" l="226" t="0" r="226" b="0"/>
          <a:stretch xmlns:a="http://schemas.openxmlformats.org/drawingml/2006/main">
            <a:fillRect l="0" t="0" r="0" b="0"/>
          </a:stretch>
        </p:blipFill>
        <p:spPr>
          <a:xfrm xmlns:a="http://schemas.openxmlformats.org/drawingml/2006/main">
            <a:off x="5219700" y="1447800"/>
            <a:ext cx="6286500" cy="4210050"/>
          </a:xfrm>
          <a:prstGeom xmlns:a="http://schemas.openxmlformats.org/drawingml/2006/main" prst="roundRect">
            <a:avLst>
              <a:gd name="adj" fmla="val 4072"/>
            </a:avLst>
          </a:prstGeom>
        </p:spPr>
      </p:pic>
      <p:sp>
        <p:nvSpPr>
          <p:cNvPr id="15" name="caption-3">
            <a:extLst xmlns:a="http://schemas.openxmlformats.org/drawingml/2006/main">
              <a:ext uri="{FF2B5EF4-FFF2-40B4-BE49-F238E27FC236}">
                <a16:creationId xmlns:a16="http://schemas.microsoft.com/office/drawing/2014/main" id="{F0F33188-9B56-44C7-869D-908FDE32273B}"/>
              </a:ext>
            </a:extLst>
          </p:cNvPr>
          <p:cNvSpPr>
            <a:spLocks xmlns:a="http://schemas.openxmlformats.org/drawingml/2006/main" noGrp="1"/>
          </p:cNvSpPr>
          <p:nvPr/>
        </p:nvSpPr>
        <p:spPr>
          <a:xfrm xmlns:a="http://schemas.openxmlformats.org/drawingml/2006/main">
            <a:off x="5334000" y="5772150"/>
            <a:ext cx="605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4645D"/>
                </a:solidFill>
              </a:defRPr>
            </a:pPr>
            <a:r>
              <a:rPr sz="1275" b="0">
                <a:solidFill>
                  <a:srgbClr val="54645D"/>
                </a:solidFill>
              </a:rPr>
              <a:t>Appearance gives clues, not proof. Compare properties against the need.</a:t>
            </a:r>
          </a:p>
        </p:txBody>
      </p:sp>
      <p:sp>
        <p:nvSpPr>
          <p:cNvPr id="16" name="footer-rule-3">
            <a:extLst xmlns:a="http://schemas.openxmlformats.org/drawingml/2006/main">
              <a:ext uri="{FF2B5EF4-FFF2-40B4-BE49-F238E27FC236}">
                <a16:creationId xmlns:a16="http://schemas.microsoft.com/office/drawing/2014/main" id="{713C0A0B-F51C-456D-8CCF-1D762F1E11EC}"/>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C8D8CF"/>
          </a:solidFill>
          <a:ln xmlns:a="http://schemas.openxmlformats.org/drawingml/2006/main" w="0">
            <a:solidFill>
              <a:srgbClr val="C8D8CF"/>
            </a:solidFill>
            <a:prstDash val="solid"/>
          </a:ln>
        </p:spPr>
      </p:sp>
      <p:sp>
        <p:nvSpPr>
          <p:cNvPr id="17" name="footer-label-3">
            <a:extLst xmlns:a="http://schemas.openxmlformats.org/drawingml/2006/main">
              <a:ext uri="{FF2B5EF4-FFF2-40B4-BE49-F238E27FC236}">
                <a16:creationId xmlns:a16="http://schemas.microsoft.com/office/drawing/2014/main" id="{B67F341D-CD31-458D-B108-E71825B02503}"/>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4645D"/>
                </a:solidFill>
              </a:defRPr>
            </a:pPr>
            <a:r>
              <a:rPr sz="900" b="1">
                <a:solidFill>
                  <a:srgbClr val="54645D"/>
                </a:solidFill>
              </a:rPr>
              <a:t>SWINGING SIGN  •  MODULE 3</a:t>
            </a:r>
          </a:p>
        </p:txBody>
      </p:sp>
      <p:sp>
        <p:nvSpPr>
          <p:cNvPr id="18" name="footer-page-3">
            <a:extLst xmlns:a="http://schemas.openxmlformats.org/drawingml/2006/main">
              <a:ext uri="{FF2B5EF4-FFF2-40B4-BE49-F238E27FC236}">
                <a16:creationId xmlns:a16="http://schemas.microsoft.com/office/drawing/2014/main" id="{E91FE3E9-3362-4EFF-9860-367CB6CFC73F}"/>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4645D"/>
                </a:solidFill>
              </a:defRPr>
            </a:pPr>
            <a:r>
              <a:rPr sz="900" b="1">
                <a:solidFill>
                  <a:srgbClr val="54645D"/>
                </a:solidFill>
              </a:rPr>
              <a:t>3 / 8</a:t>
            </a:r>
          </a:p>
        </p:txBody>
      </p:sp>
    </p:spTree>
    <p:extLst>
      <p:ext uri="{BB962C8B-B14F-4D97-AF65-F5344CB8AC3E}">
        <p14:creationId xmlns:p14="http://schemas.microsoft.com/office/powerpoint/2010/main" val="447379983"/>
      </p:ext>
    </p:extLst>
  </p:cSld>
</p:sld>
</file>

<file path=ppt/slides/slide4.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19" name="accent-4">
            <a:extLst xmlns:a="http://schemas.openxmlformats.org/drawingml/2006/main">
              <a:ext uri="{FF2B5EF4-FFF2-40B4-BE49-F238E27FC236}">
                <a16:creationId xmlns:a16="http://schemas.microsoft.com/office/drawing/2014/main" id="{7C1FF233-731B-489D-965F-C63B0727437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4">
            <a:extLst xmlns:a="http://schemas.openxmlformats.org/drawingml/2006/main">
              <a:ext uri="{FF2B5EF4-FFF2-40B4-BE49-F238E27FC236}">
                <a16:creationId xmlns:a16="http://schemas.microsoft.com/office/drawing/2014/main" id="{5A4FD3EA-293D-4B64-AF2D-747D1AA96B17}"/>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MODULE 3  •  PLAN FOR PRODUCTION</a:t>
            </a:r>
          </a:p>
        </p:txBody>
      </p:sp>
      <p:sp>
        <p:nvSpPr>
          <p:cNvPr id="3" name="slide-title-4">
            <a:extLst xmlns:a="http://schemas.openxmlformats.org/drawingml/2006/main">
              <a:ext uri="{FF2B5EF4-FFF2-40B4-BE49-F238E27FC236}">
                <a16:creationId xmlns:a16="http://schemas.microsoft.com/office/drawing/2014/main" id="{22C5B3DD-8898-4290-B17E-E98FC357888B}"/>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3F30"/>
                </a:solidFill>
              </a:defRPr>
            </a:pPr>
            <a:r>
              <a:rPr sz="2850" b="1">
                <a:solidFill>
                  <a:srgbClr val="113F30"/>
                </a:solidFill>
              </a:rPr>
              <a:t>A layout must be clear before it can be efficient</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89f43508d4e4f77"/>
          <a:srcRect xmlns:a="http://schemas.openxmlformats.org/drawingml/2006/main" l="2338" t="0" r="2338" b="0"/>
          <a:stretch xmlns:a="http://schemas.openxmlformats.org/drawingml/2006/main">
            <a:fillRect l="0" t="0" r="0" b="0"/>
          </a:stretch>
        </p:blipFill>
        <p:spPr>
          <a:xfrm xmlns:a="http://schemas.openxmlformats.org/drawingml/2006/main">
            <a:off x="685800" y="1447800"/>
            <a:ext cx="6019800" cy="4210050"/>
          </a:xfrm>
          <a:prstGeom xmlns:a="http://schemas.openxmlformats.org/drawingml/2006/main" prst="roundRect">
            <a:avLst>
              <a:gd name="adj" fmla="val 4072"/>
            </a:avLst>
          </a:prstGeom>
        </p:spPr>
      </p:pic>
      <p:sp>
        <p:nvSpPr>
          <p:cNvPr id="5" name="caption-4">
            <a:extLst xmlns:a="http://schemas.openxmlformats.org/drawingml/2006/main">
              <a:ext uri="{FF2B5EF4-FFF2-40B4-BE49-F238E27FC236}">
                <a16:creationId xmlns:a16="http://schemas.microsoft.com/office/drawing/2014/main" id="{244D70CA-CBC0-4558-B66C-5ACB5E6D0B86}"/>
              </a:ext>
            </a:extLst>
          </p:cNvPr>
          <p:cNvSpPr>
            <a:spLocks xmlns:a="http://schemas.openxmlformats.org/drawingml/2006/main" noGrp="1"/>
          </p:cNvSpPr>
          <p:nvPr/>
        </p:nvSpPr>
        <p:spPr>
          <a:xfrm xmlns:a="http://schemas.openxmlformats.org/drawingml/2006/main">
            <a:off x="800100" y="5772150"/>
            <a:ext cx="579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4645D"/>
                </a:solidFill>
              </a:defRPr>
            </a:pPr>
            <a:r>
              <a:rPr sz="1275" b="0">
                <a:solidFill>
                  <a:srgbClr val="54645D"/>
                </a:solidFill>
              </a:rPr>
              <a:t>Efficiency is considered inside approved spacing and process boundaries.</a:t>
            </a:r>
          </a:p>
        </p:txBody>
      </p:sp>
      <p:sp>
        <p:nvSpPr>
          <p:cNvPr id="6" name="section-name-4">
            <a:extLst xmlns:a="http://schemas.openxmlformats.org/drawingml/2006/main">
              <a:ext uri="{FF2B5EF4-FFF2-40B4-BE49-F238E27FC236}">
                <a16:creationId xmlns:a16="http://schemas.microsoft.com/office/drawing/2014/main" id="{2E496433-45E3-4C53-B03A-B269DAF1D0C2}"/>
              </a:ext>
            </a:extLst>
          </p:cNvPr>
          <p:cNvSpPr>
            <a:spLocks xmlns:a="http://schemas.openxmlformats.org/drawingml/2006/main" noGrp="1"/>
          </p:cNvSpPr>
          <p:nvPr/>
        </p:nvSpPr>
        <p:spPr>
          <a:xfrm xmlns:a="http://schemas.openxmlformats.org/drawingml/2006/main">
            <a:off x="7105650" y="1438275"/>
            <a:ext cx="440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MEASUREMENT, LAYOUT AND RESOURCE EFFICIENCY</a:t>
            </a:r>
          </a:p>
        </p:txBody>
      </p:sp>
      <p:sp>
        <p:nvSpPr>
          <p:cNvPr id="7" name="s4-mark-1">
            <a:extLst xmlns:a="http://schemas.openxmlformats.org/drawingml/2006/main">
              <a:ext uri="{FF2B5EF4-FFF2-40B4-BE49-F238E27FC236}">
                <a16:creationId xmlns:a16="http://schemas.microsoft.com/office/drawing/2014/main" id="{2BD76266-C655-4522-BD01-216DB2212FE6}"/>
              </a:ext>
            </a:extLst>
          </p:cNvPr>
          <p:cNvSpPr>
            <a:spLocks xmlns:a="http://schemas.openxmlformats.org/drawingml/2006/main" noGrp="1"/>
          </p:cNvSpPr>
          <p:nvPr/>
        </p:nvSpPr>
        <p:spPr>
          <a:xfrm xmlns:a="http://schemas.openxmlformats.org/drawingml/2006/main">
            <a:off x="7105650" y="188595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8" name="s4-text-1">
            <a:extLst xmlns:a="http://schemas.openxmlformats.org/drawingml/2006/main">
              <a:ext uri="{FF2B5EF4-FFF2-40B4-BE49-F238E27FC236}">
                <a16:creationId xmlns:a16="http://schemas.microsoft.com/office/drawing/2014/main" id="{9D58F1E9-7649-4A08-B359-47302665A71C}"/>
              </a:ext>
            </a:extLst>
          </p:cNvPr>
          <p:cNvSpPr>
            <a:spLocks xmlns:a="http://schemas.openxmlformats.org/drawingml/2006/main" noGrp="1"/>
          </p:cNvSpPr>
          <p:nvPr/>
        </p:nvSpPr>
        <p:spPr>
          <a:xfrm xmlns:a="http://schemas.openxmlformats.org/drawingml/2006/main">
            <a:off x="7372350" y="1809750"/>
            <a:ext cx="41338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Units, reference points and version labels make dimensions and placement understandable to another person.</a:t>
            </a:r>
          </a:p>
        </p:txBody>
      </p:sp>
      <p:sp>
        <p:nvSpPr>
          <p:cNvPr id="9" name="s4-mark-2">
            <a:extLst xmlns:a="http://schemas.openxmlformats.org/drawingml/2006/main">
              <a:ext uri="{FF2B5EF4-FFF2-40B4-BE49-F238E27FC236}">
                <a16:creationId xmlns:a16="http://schemas.microsoft.com/office/drawing/2014/main" id="{356A9B7E-C4DA-40F3-AC2C-491A052CB4D1}"/>
              </a:ext>
            </a:extLst>
          </p:cNvPr>
          <p:cNvSpPr>
            <a:spLocks xmlns:a="http://schemas.openxmlformats.org/drawingml/2006/main" noGrp="1"/>
          </p:cNvSpPr>
          <p:nvPr/>
        </p:nvSpPr>
        <p:spPr>
          <a:xfrm xmlns:a="http://schemas.openxmlformats.org/drawingml/2006/main">
            <a:off x="7105650" y="2867025"/>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0" name="s4-text-2">
            <a:extLst xmlns:a="http://schemas.openxmlformats.org/drawingml/2006/main">
              <a:ext uri="{FF2B5EF4-FFF2-40B4-BE49-F238E27FC236}">
                <a16:creationId xmlns:a16="http://schemas.microsoft.com/office/drawing/2014/main" id="{32F5E339-E176-4F5E-85EF-A4DB7D05AE64}"/>
              </a:ext>
            </a:extLst>
          </p:cNvPr>
          <p:cNvSpPr>
            <a:spLocks xmlns:a="http://schemas.openxmlformats.org/drawingml/2006/main" noGrp="1"/>
          </p:cNvSpPr>
          <p:nvPr/>
        </p:nvSpPr>
        <p:spPr>
          <a:xfrm xmlns:a="http://schemas.openxmlformats.org/drawingml/2006/main">
            <a:off x="7372350" y="2790825"/>
            <a:ext cx="41338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Accuracy is closeness to the intended value; precision is consistency. A datum creates a shared reference.</a:t>
            </a:r>
          </a:p>
        </p:txBody>
      </p:sp>
      <p:sp>
        <p:nvSpPr>
          <p:cNvPr id="11" name="s4-mark-3">
            <a:extLst xmlns:a="http://schemas.openxmlformats.org/drawingml/2006/main">
              <a:ext uri="{FF2B5EF4-FFF2-40B4-BE49-F238E27FC236}">
                <a16:creationId xmlns:a16="http://schemas.microsoft.com/office/drawing/2014/main" id="{752162BE-2AA8-4664-A693-615BB904F9E0}"/>
              </a:ext>
            </a:extLst>
          </p:cNvPr>
          <p:cNvSpPr>
            <a:spLocks xmlns:a="http://schemas.openxmlformats.org/drawingml/2006/main" noGrp="1"/>
          </p:cNvSpPr>
          <p:nvPr/>
        </p:nvSpPr>
        <p:spPr>
          <a:xfrm xmlns:a="http://schemas.openxmlformats.org/drawingml/2006/main">
            <a:off x="7105650" y="3848100"/>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2" name="s4-text-3">
            <a:extLst xmlns:a="http://schemas.openxmlformats.org/drawingml/2006/main">
              <a:ext uri="{FF2B5EF4-FFF2-40B4-BE49-F238E27FC236}">
                <a16:creationId xmlns:a16="http://schemas.microsoft.com/office/drawing/2014/main" id="{1E5ECCDF-36E3-48CE-8975-ED2275E113D8}"/>
              </a:ext>
            </a:extLst>
          </p:cNvPr>
          <p:cNvSpPr>
            <a:spLocks xmlns:a="http://schemas.openxmlformats.org/drawingml/2006/main" noGrp="1"/>
          </p:cNvSpPr>
          <p:nvPr/>
        </p:nvSpPr>
        <p:spPr>
          <a:xfrm xmlns:a="http://schemas.openxmlformats.org/drawingml/2006/main">
            <a:off x="7372350" y="3771900"/>
            <a:ext cx="41338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F2A25"/>
                </a:solidFill>
              </a:defRPr>
            </a:pPr>
            <a:r>
              <a:rPr sz="1575" b="0">
                <a:solidFill>
                  <a:srgbClr val="1F2A25"/>
                </a:solidFill>
              </a:rPr>
              <a:t>Nesting can reduce waste only after approved spacing, edge, orientation and process requirements are satisfied.</a:t>
            </a:r>
          </a:p>
        </p:txBody>
      </p:sp>
      <p:sp>
        <p:nvSpPr>
          <p:cNvPr id="13" name="prompt-band-4">
            <a:extLst xmlns:a="http://schemas.openxmlformats.org/drawingml/2006/main">
              <a:ext uri="{FF2B5EF4-FFF2-40B4-BE49-F238E27FC236}">
                <a16:creationId xmlns:a16="http://schemas.microsoft.com/office/drawing/2014/main" id="{BC178873-5611-4155-9C1B-1DD85A270F8F}"/>
              </a:ext>
            </a:extLst>
          </p:cNvPr>
          <p:cNvSpPr>
            <a:spLocks xmlns:a="http://schemas.openxmlformats.org/drawingml/2006/main" noGrp="1"/>
          </p:cNvSpPr>
          <p:nvPr/>
        </p:nvSpPr>
        <p:spPr>
          <a:xfrm xmlns:a="http://schemas.openxmlformats.org/drawingml/2006/main">
            <a:off x="7105650" y="4762500"/>
            <a:ext cx="4400550" cy="1219200"/>
          </a:xfrm>
          <a:prstGeom xmlns:a="http://schemas.openxmlformats.org/drawingml/2006/main" prst="roundRect">
            <a:avLst>
              <a:gd name="adj" fmla="val 12500"/>
            </a:avLst>
          </a:prstGeom>
          <a:solidFill xmlns:a="http://schemas.openxmlformats.org/drawingml/2006/main">
            <a:srgbClr val="E8F3ED"/>
          </a:solidFill>
          <a:ln xmlns:a="http://schemas.openxmlformats.org/drawingml/2006/main" w="9525">
            <a:solidFill>
              <a:srgbClr val="C8D8CF"/>
            </a:solidFill>
            <a:prstDash val="solid"/>
          </a:ln>
        </p:spPr>
      </p:sp>
      <p:sp>
        <p:nvSpPr>
          <p:cNvPr id="14" name="prompt-label-4">
            <a:extLst xmlns:a="http://schemas.openxmlformats.org/drawingml/2006/main">
              <a:ext uri="{FF2B5EF4-FFF2-40B4-BE49-F238E27FC236}">
                <a16:creationId xmlns:a16="http://schemas.microsoft.com/office/drawing/2014/main" id="{94ECF138-0F0C-4BAE-A005-C93BFCDFF8B9}"/>
              </a:ext>
            </a:extLst>
          </p:cNvPr>
          <p:cNvSpPr>
            <a:spLocks xmlns:a="http://schemas.openxmlformats.org/drawingml/2006/main" noGrp="1"/>
          </p:cNvSpPr>
          <p:nvPr/>
        </p:nvSpPr>
        <p:spPr>
          <a:xfrm xmlns:a="http://schemas.openxmlformats.org/drawingml/2006/main">
            <a:off x="7315200" y="490537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APPLY IT</a:t>
            </a:r>
          </a:p>
        </p:txBody>
      </p:sp>
      <p:sp>
        <p:nvSpPr>
          <p:cNvPr id="15" name="prompt-4">
            <a:extLst xmlns:a="http://schemas.openxmlformats.org/drawingml/2006/main">
              <a:ext uri="{FF2B5EF4-FFF2-40B4-BE49-F238E27FC236}">
                <a16:creationId xmlns:a16="http://schemas.microsoft.com/office/drawing/2014/main" id="{44FBA5FD-0A40-49F6-AF0E-A05773F0CB9B}"/>
              </a:ext>
            </a:extLst>
          </p:cNvPr>
          <p:cNvSpPr>
            <a:spLocks xmlns:a="http://schemas.openxmlformats.org/drawingml/2006/main" noGrp="1"/>
          </p:cNvSpPr>
          <p:nvPr/>
        </p:nvSpPr>
        <p:spPr>
          <a:xfrm xmlns:a="http://schemas.openxmlformats.org/drawingml/2006/main">
            <a:off x="7315200" y="5191125"/>
            <a:ext cx="3943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13F30"/>
                </a:solidFill>
              </a:defRPr>
            </a:pPr>
            <a:r>
              <a:rPr sz="1350" b="1">
                <a:solidFill>
                  <a:srgbClr val="113F30"/>
                </a:solidFill>
              </a:rPr>
              <a:t>Compare two paper layouts: which communicates more clearly and uses the sheet more responsibly?</a:t>
            </a:r>
          </a:p>
        </p:txBody>
      </p:sp>
      <p:sp>
        <p:nvSpPr>
          <p:cNvPr id="16" name="footer-rule-4">
            <a:extLst xmlns:a="http://schemas.openxmlformats.org/drawingml/2006/main">
              <a:ext uri="{FF2B5EF4-FFF2-40B4-BE49-F238E27FC236}">
                <a16:creationId xmlns:a16="http://schemas.microsoft.com/office/drawing/2014/main" id="{C41531CE-32BC-42C6-A4D1-E7644A317883}"/>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C8D8CF"/>
          </a:solidFill>
          <a:ln xmlns:a="http://schemas.openxmlformats.org/drawingml/2006/main" w="0">
            <a:solidFill>
              <a:srgbClr val="C8D8CF"/>
            </a:solidFill>
            <a:prstDash val="solid"/>
          </a:ln>
        </p:spPr>
      </p:sp>
      <p:sp>
        <p:nvSpPr>
          <p:cNvPr id="17" name="footer-label-4">
            <a:extLst xmlns:a="http://schemas.openxmlformats.org/drawingml/2006/main">
              <a:ext uri="{FF2B5EF4-FFF2-40B4-BE49-F238E27FC236}">
                <a16:creationId xmlns:a16="http://schemas.microsoft.com/office/drawing/2014/main" id="{FF0880AB-F2EA-4E8B-921A-9C583E9EBF76}"/>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4645D"/>
                </a:solidFill>
              </a:defRPr>
            </a:pPr>
            <a:r>
              <a:rPr sz="900" b="1">
                <a:solidFill>
                  <a:srgbClr val="54645D"/>
                </a:solidFill>
              </a:rPr>
              <a:t>SWINGING SIGN  •  MODULE 3</a:t>
            </a:r>
          </a:p>
        </p:txBody>
      </p:sp>
      <p:sp>
        <p:nvSpPr>
          <p:cNvPr id="18" name="footer-page-4">
            <a:extLst xmlns:a="http://schemas.openxmlformats.org/drawingml/2006/main">
              <a:ext uri="{FF2B5EF4-FFF2-40B4-BE49-F238E27FC236}">
                <a16:creationId xmlns:a16="http://schemas.microsoft.com/office/drawing/2014/main" id="{DB2D92A7-D4AD-4264-A951-F3B9DD44A9A1}"/>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4645D"/>
                </a:solidFill>
              </a:defRPr>
            </a:pPr>
            <a:r>
              <a:rPr sz="900" b="1">
                <a:solidFill>
                  <a:srgbClr val="54645D"/>
                </a:solidFill>
              </a:rPr>
              <a:t>4 / 8</a:t>
            </a:r>
          </a:p>
        </p:txBody>
      </p:sp>
    </p:spTree>
    <p:extLst>
      <p:ext uri="{BB962C8B-B14F-4D97-AF65-F5344CB8AC3E}">
        <p14:creationId xmlns:p14="http://schemas.microsoft.com/office/powerpoint/2010/main" val="559332217"/>
      </p:ext>
    </p:extLst>
  </p:cSld>
</p:sld>
</file>

<file path=ppt/slides/slide5.xml><?xml version="1.0" encoding="utf-8"?>
<p:sld xmlns:p="http://schemas.openxmlformats.org/presentationml/2006/main">
  <p:cSld>
    <p:bg>
      <p:bgPr>
        <a:solidFill xmlns:a="http://schemas.openxmlformats.org/drawingml/2006/main">
          <a:srgbClr val="113F30"/>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67450c85bb6497a"/>
          <a:srcRect xmlns:a="http://schemas.openxmlformats.org/drawingml/2006/main" l="12870" t="0" r="12870" b="0"/>
          <a:stretch xmlns:a="http://schemas.openxmlformats.org/drawingml/2006/main">
            <a:fillRect l="0" t="0" r="0" b="0"/>
          </a:stretch>
        </p:blipFill>
        <p:spPr>
          <a:xfrm xmlns:a="http://schemas.openxmlformats.org/drawingml/2006/main">
            <a:off x="4552950" y="0"/>
            <a:ext cx="7639050" cy="6858000"/>
          </a:xfrm>
          <a:prstGeom xmlns:a="http://schemas.openxmlformats.org/drawingml/2006/main" prst="roundRect">
            <a:avLst>
              <a:gd name="adj" fmla="val 2500"/>
            </a:avLst>
          </a:prstGeom>
        </p:spPr>
      </p:pic>
      <p:sp>
        <p:nvSpPr>
          <p:cNvPr id="2" name="image-layout-panel-5">
            <a:extLst xmlns:a="http://schemas.openxmlformats.org/drawingml/2006/main">
              <a:ext uri="{FF2B5EF4-FFF2-40B4-BE49-F238E27FC236}">
                <a16:creationId xmlns:a16="http://schemas.microsoft.com/office/drawing/2014/main" id="{4009C267-08FB-49AD-AB0D-EAA4EB5A1B43}"/>
              </a:ext>
            </a:extLst>
          </p:cNvPr>
          <p:cNvSpPr>
            <a:spLocks xmlns:a="http://schemas.openxmlformats.org/drawingml/2006/main" noGrp="1"/>
          </p:cNvSpPr>
          <p:nvPr/>
        </p:nvSpPr>
        <p:spPr>
          <a:xfrm xmlns:a="http://schemas.openxmlformats.org/drawingml/2006/main">
            <a:off x="0" y="0"/>
            <a:ext cx="5010150" cy="6858000"/>
          </a:xfrm>
          <a:prstGeom xmlns:a="http://schemas.openxmlformats.org/drawingml/2006/main" prst="rect">
            <a:avLst/>
          </a:prstGeom>
          <a:solidFill xmlns:a="http://schemas.openxmlformats.org/drawingml/2006/main">
            <a:srgbClr val="113F30"/>
          </a:solidFill>
          <a:ln xmlns:a="http://schemas.openxmlformats.org/drawingml/2006/main" w="0">
            <a:solidFill>
              <a:srgbClr val="113F30"/>
            </a:solidFill>
            <a:prstDash val="solid"/>
          </a:ln>
        </p:spPr>
      </p:sp>
      <p:sp>
        <p:nvSpPr>
          <p:cNvPr id="3" name="image-layout-accent-5">
            <a:extLst xmlns:a="http://schemas.openxmlformats.org/drawingml/2006/main">
              <a:ext uri="{FF2B5EF4-FFF2-40B4-BE49-F238E27FC236}">
                <a16:creationId xmlns:a16="http://schemas.microsoft.com/office/drawing/2014/main" id="{9CAB4371-2D16-4343-A20F-F5EBD518A0EC}"/>
              </a:ext>
            </a:extLst>
          </p:cNvPr>
          <p:cNvSpPr>
            <a:spLocks xmlns:a="http://schemas.openxmlformats.org/drawingml/2006/main" noGrp="1"/>
          </p:cNvSpPr>
          <p:nvPr/>
        </p:nvSpPr>
        <p:spPr>
          <a:xfrm xmlns:a="http://schemas.openxmlformats.org/drawingml/2006/main">
            <a:off x="685800" y="514350"/>
            <a:ext cx="800100" cy="76200"/>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4" name="module-kicker-5">
            <a:extLst xmlns:a="http://schemas.openxmlformats.org/drawingml/2006/main">
              <a:ext uri="{FF2B5EF4-FFF2-40B4-BE49-F238E27FC236}">
                <a16:creationId xmlns:a16="http://schemas.microsoft.com/office/drawing/2014/main" id="{41BFB659-7365-4B15-8AD9-8EC8511E5C03}"/>
              </a:ext>
            </a:extLst>
          </p:cNvPr>
          <p:cNvSpPr>
            <a:spLocks xmlns:a="http://schemas.openxmlformats.org/drawingml/2006/main" noGrp="1"/>
          </p:cNvSpPr>
          <p:nvPr/>
        </p:nvSpPr>
        <p:spPr>
          <a:xfrm xmlns:a="http://schemas.openxmlformats.org/drawingml/2006/main">
            <a:off x="685800" y="790575"/>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FE1D8"/>
                </a:solidFill>
              </a:defRPr>
            </a:pPr>
            <a:r>
              <a:rPr sz="1050" b="1">
                <a:solidFill>
                  <a:srgbClr val="CFE1D8"/>
                </a:solidFill>
              </a:rPr>
              <a:t>MODULE 3  •  ONSHAPE DRAWINGS, MOUNTING AND APPROVAL</a:t>
            </a:r>
          </a:p>
        </p:txBody>
      </p:sp>
      <p:sp>
        <p:nvSpPr>
          <p:cNvPr id="5" name="stacked-slide-title-5">
            <a:extLst xmlns:a="http://schemas.openxmlformats.org/drawingml/2006/main">
              <a:ext uri="{FF2B5EF4-FFF2-40B4-BE49-F238E27FC236}">
                <a16:creationId xmlns:a16="http://schemas.microsoft.com/office/drawing/2014/main" id="{37ABAD45-D611-402D-B663-82DA7763C1B4}"/>
              </a:ext>
            </a:extLst>
          </p:cNvPr>
          <p:cNvSpPr>
            <a:spLocks xmlns:a="http://schemas.openxmlformats.org/drawingml/2006/main" noGrp="1"/>
          </p:cNvSpPr>
          <p:nvPr/>
        </p:nvSpPr>
        <p:spPr>
          <a:xfrm xmlns:a="http://schemas.openxmlformats.org/drawingml/2006/main">
            <a:off x="685800" y="1219200"/>
            <a:ext cx="38290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Approval needs one traceable current proposal</a:t>
            </a:r>
          </a:p>
        </p:txBody>
      </p:sp>
      <p:sp>
        <p:nvSpPr>
          <p:cNvPr id="6" name="s5-mark-1">
            <a:extLst xmlns:a="http://schemas.openxmlformats.org/drawingml/2006/main">
              <a:ext uri="{FF2B5EF4-FFF2-40B4-BE49-F238E27FC236}">
                <a16:creationId xmlns:a16="http://schemas.microsoft.com/office/drawing/2014/main" id="{86C214DC-1AEC-44CE-A750-B42C12C117FC}"/>
              </a:ext>
            </a:extLst>
          </p:cNvPr>
          <p:cNvSpPr>
            <a:spLocks xmlns:a="http://schemas.openxmlformats.org/drawingml/2006/main" noGrp="1"/>
          </p:cNvSpPr>
          <p:nvPr/>
        </p:nvSpPr>
        <p:spPr>
          <a:xfrm xmlns:a="http://schemas.openxmlformats.org/drawingml/2006/main">
            <a:off x="685800" y="2714625"/>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7" name="s5-text-1">
            <a:extLst xmlns:a="http://schemas.openxmlformats.org/drawingml/2006/main">
              <a:ext uri="{FF2B5EF4-FFF2-40B4-BE49-F238E27FC236}">
                <a16:creationId xmlns:a16="http://schemas.microsoft.com/office/drawing/2014/main" id="{7A25E1CB-83B7-457B-8D88-17DDC0E677DB}"/>
              </a:ext>
            </a:extLst>
          </p:cNvPr>
          <p:cNvSpPr>
            <a:spLocks xmlns:a="http://schemas.openxmlformats.org/drawingml/2006/main" noGrp="1"/>
          </p:cNvSpPr>
          <p:nvPr/>
        </p:nvSpPr>
        <p:spPr>
          <a:xfrm xmlns:a="http://schemas.openxmlformats.org/drawingml/2006/main">
            <a:off x="952500" y="2638425"/>
            <a:ext cx="3562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FFFFFF"/>
                </a:solidFill>
              </a:defRPr>
            </a:pPr>
            <a:r>
              <a:rPr sz="1575" b="0">
                <a:solidFill>
                  <a:srgbClr val="FFFFFF"/>
                </a:solidFill>
              </a:rPr>
              <a:t>One current Onshape drawing should show its views, approved dimensions, annotations and revision clearly enough to check.</a:t>
            </a:r>
          </a:p>
        </p:txBody>
      </p:sp>
      <p:sp>
        <p:nvSpPr>
          <p:cNvPr id="8" name="s5-mark-2">
            <a:extLst xmlns:a="http://schemas.openxmlformats.org/drawingml/2006/main">
              <a:ext uri="{FF2B5EF4-FFF2-40B4-BE49-F238E27FC236}">
                <a16:creationId xmlns:a16="http://schemas.microsoft.com/office/drawing/2014/main" id="{E751EC2E-1DF6-4B66-81D0-960DF3D9B50C}"/>
              </a:ext>
            </a:extLst>
          </p:cNvPr>
          <p:cNvSpPr>
            <a:spLocks xmlns:a="http://schemas.openxmlformats.org/drawingml/2006/main" noGrp="1"/>
          </p:cNvSpPr>
          <p:nvPr/>
        </p:nvSpPr>
        <p:spPr>
          <a:xfrm xmlns:a="http://schemas.openxmlformats.org/drawingml/2006/main">
            <a:off x="685800" y="3629025"/>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9" name="s5-text-2">
            <a:extLst xmlns:a="http://schemas.openxmlformats.org/drawingml/2006/main">
              <a:ext uri="{FF2B5EF4-FFF2-40B4-BE49-F238E27FC236}">
                <a16:creationId xmlns:a16="http://schemas.microsoft.com/office/drawing/2014/main" id="{795D2A7C-97A3-4E09-86C0-7C52F4FF14A1}"/>
              </a:ext>
            </a:extLst>
          </p:cNvPr>
          <p:cNvSpPr>
            <a:spLocks xmlns:a="http://schemas.openxmlformats.org/drawingml/2006/main" noGrp="1"/>
          </p:cNvSpPr>
          <p:nvPr/>
        </p:nvSpPr>
        <p:spPr>
          <a:xfrm xmlns:a="http://schemas.openxmlformats.org/drawingml/2006/main">
            <a:off x="952500" y="3552825"/>
            <a:ext cx="3562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FFFFFF"/>
                </a:solidFill>
              </a:defRPr>
            </a:pPr>
            <a:r>
              <a:rPr sz="1575" b="0">
                <a:solidFill>
                  <a:srgbClr val="FFFFFF"/>
                </a:solidFill>
              </a:rPr>
              <a:t>The mounting concept is part of the product system, so its relationship to criteria must be visible before approval.</a:t>
            </a:r>
          </a:p>
        </p:txBody>
      </p:sp>
      <p:sp>
        <p:nvSpPr>
          <p:cNvPr id="10" name="s5-mark-3">
            <a:extLst xmlns:a="http://schemas.openxmlformats.org/drawingml/2006/main">
              <a:ext uri="{FF2B5EF4-FFF2-40B4-BE49-F238E27FC236}">
                <a16:creationId xmlns:a16="http://schemas.microsoft.com/office/drawing/2014/main" id="{29EECAFC-7C5E-4FE0-9911-00799A4D4C3B}"/>
              </a:ext>
            </a:extLst>
          </p:cNvPr>
          <p:cNvSpPr>
            <a:spLocks xmlns:a="http://schemas.openxmlformats.org/drawingml/2006/main" noGrp="1"/>
          </p:cNvSpPr>
          <p:nvPr/>
        </p:nvSpPr>
        <p:spPr>
          <a:xfrm xmlns:a="http://schemas.openxmlformats.org/drawingml/2006/main">
            <a:off x="685800" y="4543425"/>
            <a:ext cx="114300" cy="1143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1" name="s5-text-3">
            <a:extLst xmlns:a="http://schemas.openxmlformats.org/drawingml/2006/main">
              <a:ext uri="{FF2B5EF4-FFF2-40B4-BE49-F238E27FC236}">
                <a16:creationId xmlns:a16="http://schemas.microsoft.com/office/drawing/2014/main" id="{9A43F697-A021-4541-94E5-2E8F8BFD8ECE}"/>
              </a:ext>
            </a:extLst>
          </p:cNvPr>
          <p:cNvSpPr>
            <a:spLocks xmlns:a="http://schemas.openxmlformats.org/drawingml/2006/main" noGrp="1"/>
          </p:cNvSpPr>
          <p:nvPr/>
        </p:nvSpPr>
        <p:spPr>
          <a:xfrm xmlns:a="http://schemas.openxmlformats.org/drawingml/2006/main">
            <a:off x="952500" y="4467225"/>
            <a:ext cx="3562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FFFFFF"/>
                </a:solidFill>
              </a:defRPr>
            </a:pPr>
            <a:r>
              <a:rPr sz="1575" b="0">
                <a:solidFill>
                  <a:srgbClr val="FFFFFF"/>
                </a:solidFill>
              </a:rPr>
              <a:t>Looking correct on screen is not enough. Check the drawing, present the evidence, respond to feedback and wait for explicit authorisation.</a:t>
            </a:r>
          </a:p>
        </p:txBody>
      </p:sp>
      <p:sp>
        <p:nvSpPr>
          <p:cNvPr id="12" name="prompt-label-5">
            <a:extLst xmlns:a="http://schemas.openxmlformats.org/drawingml/2006/main">
              <a:ext uri="{FF2B5EF4-FFF2-40B4-BE49-F238E27FC236}">
                <a16:creationId xmlns:a16="http://schemas.microsoft.com/office/drawing/2014/main" id="{C67BF3E1-D02A-4B3B-9B44-6DDA4297CFDC}"/>
              </a:ext>
            </a:extLst>
          </p:cNvPr>
          <p:cNvSpPr>
            <a:spLocks xmlns:a="http://schemas.openxmlformats.org/drawingml/2006/main" noGrp="1"/>
          </p:cNvSpPr>
          <p:nvPr/>
        </p:nvSpPr>
        <p:spPr>
          <a:xfrm xmlns:a="http://schemas.openxmlformats.org/drawingml/2006/main">
            <a:off x="685800" y="5467350"/>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E7AD31"/>
                </a:solidFill>
              </a:defRPr>
            </a:pPr>
            <a:r>
              <a:rPr sz="1050" b="1">
                <a:solidFill>
                  <a:srgbClr val="E7AD31"/>
                </a:solidFill>
              </a:rPr>
              <a:t>APPLY IT</a:t>
            </a:r>
          </a:p>
        </p:txBody>
      </p:sp>
      <p:sp>
        <p:nvSpPr>
          <p:cNvPr id="13" name="prompt-5">
            <a:extLst xmlns:a="http://schemas.openxmlformats.org/drawingml/2006/main">
              <a:ext uri="{FF2B5EF4-FFF2-40B4-BE49-F238E27FC236}">
                <a16:creationId xmlns:a16="http://schemas.microsoft.com/office/drawing/2014/main" id="{FB812DAB-9A99-4D28-80A4-BDB74DE6EEC7}"/>
              </a:ext>
            </a:extLst>
          </p:cNvPr>
          <p:cNvSpPr>
            <a:spLocks xmlns:a="http://schemas.openxmlformats.org/drawingml/2006/main" noGrp="1"/>
          </p:cNvSpPr>
          <p:nvPr/>
        </p:nvSpPr>
        <p:spPr>
          <a:xfrm xmlns:a="http://schemas.openxmlformats.org/drawingml/2006/main">
            <a:off x="685800" y="5772150"/>
            <a:ext cx="3829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Audit a fictional approval pack: what evidence is present, missing and still awaiting teacher approval?</a:t>
            </a:r>
          </a:p>
        </p:txBody>
      </p:sp>
      <p:sp>
        <p:nvSpPr>
          <p:cNvPr id="14" name="caption-5">
            <a:extLst xmlns:a="http://schemas.openxmlformats.org/drawingml/2006/main">
              <a:ext uri="{FF2B5EF4-FFF2-40B4-BE49-F238E27FC236}">
                <a16:creationId xmlns:a16="http://schemas.microsoft.com/office/drawing/2014/main" id="{4F64E2A2-6E9A-4A01-A397-70EE46BEF37E}"/>
              </a:ext>
            </a:extLst>
          </p:cNvPr>
          <p:cNvSpPr>
            <a:spLocks xmlns:a="http://schemas.openxmlformats.org/drawingml/2006/main" noGrp="1"/>
          </p:cNvSpPr>
          <p:nvPr/>
        </p:nvSpPr>
        <p:spPr>
          <a:xfrm xmlns:a="http://schemas.openxmlformats.org/drawingml/2006/main">
            <a:off x="5334000" y="6096000"/>
            <a:ext cx="5905500" cy="400050"/>
          </a:xfrm>
          <a:prstGeom xmlns:a="http://schemas.openxmlformats.org/drawingml/2006/main" prst="roundRect">
            <a:avLst>
              <a:gd name="adj" fmla="val 23810"/>
            </a:avLst>
          </a:prstGeom>
          <a:solidFill xmlns:a="http://schemas.openxmlformats.org/drawingml/2006/main">
            <a:srgbClr val="113F3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A production hold point turns evidence into an explicit next decision.</a:t>
            </a:r>
          </a:p>
        </p:txBody>
      </p:sp>
      <p:sp>
        <p:nvSpPr>
          <p:cNvPr id="15" name="footer-rule-5">
            <a:extLst xmlns:a="http://schemas.openxmlformats.org/drawingml/2006/main">
              <a:ext uri="{FF2B5EF4-FFF2-40B4-BE49-F238E27FC236}">
                <a16:creationId xmlns:a16="http://schemas.microsoft.com/office/drawing/2014/main" id="{684E0A6A-E775-4973-A8D3-5CF075F9E83D}"/>
              </a:ext>
            </a:extLst>
          </p:cNvPr>
          <p:cNvSpPr>
            <a:spLocks xmlns:a="http://schemas.openxmlformats.org/drawingml/2006/main" noGrp="1"/>
          </p:cNvSpPr>
          <p:nvPr/>
        </p:nvSpPr>
        <p:spPr>
          <a:xfrm xmlns:a="http://schemas.openxmlformats.org/drawingml/2006/main">
            <a:off x="685800" y="6477000"/>
            <a:ext cx="3829050" cy="19050"/>
          </a:xfrm>
          <a:prstGeom xmlns:a="http://schemas.openxmlformats.org/drawingml/2006/main" prst="rect">
            <a:avLst/>
          </a:prstGeom>
          <a:solidFill xmlns:a="http://schemas.openxmlformats.org/drawingml/2006/main">
            <a:srgbClr val="5C8774"/>
          </a:solidFill>
          <a:ln xmlns:a="http://schemas.openxmlformats.org/drawingml/2006/main" w="0">
            <a:solidFill>
              <a:srgbClr val="5C8774"/>
            </a:solidFill>
            <a:prstDash val="solid"/>
          </a:ln>
        </p:spPr>
      </p:sp>
      <p:sp>
        <p:nvSpPr>
          <p:cNvPr id="16" name="footer-label-5">
            <a:extLst xmlns:a="http://schemas.openxmlformats.org/drawingml/2006/main">
              <a:ext uri="{FF2B5EF4-FFF2-40B4-BE49-F238E27FC236}">
                <a16:creationId xmlns:a16="http://schemas.microsoft.com/office/drawing/2014/main" id="{3B39376C-9DC9-47CF-9F65-834B1FE3B8C8}"/>
              </a:ext>
            </a:extLst>
          </p:cNvPr>
          <p:cNvSpPr>
            <a:spLocks xmlns:a="http://schemas.openxmlformats.org/drawingml/2006/main" noGrp="1"/>
          </p:cNvSpPr>
          <p:nvPr/>
        </p:nvSpPr>
        <p:spPr>
          <a:xfrm xmlns:a="http://schemas.openxmlformats.org/drawingml/2006/main">
            <a:off x="685800" y="65436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D8E7DF"/>
                </a:solidFill>
              </a:defRPr>
            </a:pPr>
            <a:r>
              <a:rPr sz="900" b="1">
                <a:solidFill>
                  <a:srgbClr val="D8E7DF"/>
                </a:solidFill>
              </a:rPr>
              <a:t>SWINGING SIGN  •  MODULE 3</a:t>
            </a:r>
          </a:p>
        </p:txBody>
      </p:sp>
      <p:sp>
        <p:nvSpPr>
          <p:cNvPr id="17" name="footer-page-5">
            <a:extLst xmlns:a="http://schemas.openxmlformats.org/drawingml/2006/main">
              <a:ext uri="{FF2B5EF4-FFF2-40B4-BE49-F238E27FC236}">
                <a16:creationId xmlns:a16="http://schemas.microsoft.com/office/drawing/2014/main" id="{26E2A3A4-D0EA-48CC-9CE9-5E004C5A249C}"/>
              </a:ext>
            </a:extLst>
          </p:cNvPr>
          <p:cNvSpPr>
            <a:spLocks xmlns:a="http://schemas.openxmlformats.org/drawingml/2006/main" noGrp="1"/>
          </p:cNvSpPr>
          <p:nvPr/>
        </p:nvSpPr>
        <p:spPr>
          <a:xfrm xmlns:a="http://schemas.openxmlformats.org/drawingml/2006/main">
            <a:off x="10763250" y="6543675"/>
            <a:ext cx="742950" cy="228600"/>
          </a:xfrm>
          <a:prstGeom xmlns:a="http://schemas.openxmlformats.org/drawingml/2006/main" prst="roundRect">
            <a:avLst>
              <a:gd name="adj" fmla="val 25000"/>
            </a:avLst>
          </a:prstGeom>
          <a:solidFill xmlns:a="http://schemas.openxmlformats.org/drawingml/2006/main">
            <a:srgbClr val="113F3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FFFFF"/>
                </a:solidFill>
              </a:defRPr>
            </a:pPr>
            <a:r>
              <a:rPr sz="900" b="1">
                <a:solidFill>
                  <a:srgbClr val="FFFFFF"/>
                </a:solidFill>
              </a:rPr>
              <a:t>5 / 8</a:t>
            </a:r>
          </a:p>
        </p:txBody>
      </p:sp>
    </p:spTree>
    <p:extLst>
      <p:ext uri="{BB962C8B-B14F-4D97-AF65-F5344CB8AC3E}">
        <p14:creationId xmlns:p14="http://schemas.microsoft.com/office/powerpoint/2010/main" val="1166143228"/>
      </p:ext>
    </p:extLst>
  </p:cSld>
</p:sld>
</file>

<file path=ppt/slides/slide6.xml><?xml version="1.0" encoding="utf-8"?>
<p:sld xmlns:p="http://schemas.openxmlformats.org/presentationml/2006/main">
  <p:cSld>
    <p:bg>
      <p:bgPr>
        <a:solidFill xmlns:a="http://schemas.openxmlformats.org/drawingml/2006/main">
          <a:srgbClr val="113F30"/>
        </a:solidFill>
      </p:bgPr>
    </p:bg>
    <p:spTree>
      <p:nvGrpSpPr>
        <p:cNvPr id="1" name=""/>
        <p:cNvGrpSpPr/>
        <p:nvPr/>
      </p:nvGrpSpPr>
      <p:grpSpPr>
        <a:xfrm xmlns:a="http://schemas.openxmlformats.org/drawingml/2006/main"/>
      </p:grpSpPr>
      <p:sp>
        <p:nvSpPr>
          <p:cNvPr id="20" name="accent-6">
            <a:extLst xmlns:a="http://schemas.openxmlformats.org/drawingml/2006/main">
              <a:ext uri="{FF2B5EF4-FFF2-40B4-BE49-F238E27FC236}">
                <a16:creationId xmlns:a16="http://schemas.microsoft.com/office/drawing/2014/main" id="{70356D06-8D15-4829-BA2A-BF9C1EBBAE3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6">
            <a:extLst xmlns:a="http://schemas.openxmlformats.org/drawingml/2006/main">
              <a:ext uri="{FF2B5EF4-FFF2-40B4-BE49-F238E27FC236}">
                <a16:creationId xmlns:a16="http://schemas.microsoft.com/office/drawing/2014/main" id="{207B4C75-A874-47CC-9269-19DC98EE9525}"/>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FE1D8"/>
                </a:solidFill>
              </a:defRPr>
            </a:pPr>
            <a:r>
              <a:rPr sz="1050" b="1">
                <a:solidFill>
                  <a:srgbClr val="CFE1D8"/>
                </a:solidFill>
              </a:rPr>
              <a:t>MODULE 3  •  PLAN FOR PRODUCTION</a:t>
            </a:r>
          </a:p>
        </p:txBody>
      </p:sp>
      <p:sp>
        <p:nvSpPr>
          <p:cNvPr id="3" name="slide-title-6">
            <a:extLst xmlns:a="http://schemas.openxmlformats.org/drawingml/2006/main">
              <a:ext uri="{FF2B5EF4-FFF2-40B4-BE49-F238E27FC236}">
                <a16:creationId xmlns:a16="http://schemas.microsoft.com/office/drawing/2014/main" id="{64C029DD-F2C4-46D3-9557-EF153E47FC01}"/>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Stop. Think. Explain.</a:t>
            </a:r>
          </a:p>
        </p:txBody>
      </p:sp>
      <p:sp>
        <p:nvSpPr>
          <p:cNvPr id="4" name="retrieval-instruction">
            <a:extLst xmlns:a="http://schemas.openxmlformats.org/drawingml/2006/main">
              <a:ext uri="{FF2B5EF4-FFF2-40B4-BE49-F238E27FC236}">
                <a16:creationId xmlns:a16="http://schemas.microsoft.com/office/drawing/2014/main" id="{ABDC1F39-9802-4178-B154-2F29EA165B12}"/>
              </a:ext>
            </a:extLst>
          </p:cNvPr>
          <p:cNvSpPr>
            <a:spLocks xmlns:a="http://schemas.openxmlformats.org/drawingml/2006/main" noGrp="1"/>
          </p:cNvSpPr>
          <p:nvPr/>
        </p:nvSpPr>
        <p:spPr>
          <a:xfrm xmlns:a="http://schemas.openxmlformats.org/drawingml/2006/main">
            <a:off x="685800" y="1266825"/>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D8E7DF"/>
                </a:solidFill>
              </a:defRPr>
            </a:pPr>
            <a:r>
              <a:rPr sz="1650" b="0">
                <a:solidFill>
                  <a:srgbClr val="D8E7DF"/>
                </a:solidFill>
              </a:rPr>
              <a:t>Answer silently first. Then justify one answer with a partner.</a:t>
            </a:r>
          </a:p>
        </p:txBody>
      </p:sp>
      <p:sp>
        <p:nvSpPr>
          <p:cNvPr id="5" name="retrieval-line-1">
            <a:extLst xmlns:a="http://schemas.openxmlformats.org/drawingml/2006/main">
              <a:ext uri="{FF2B5EF4-FFF2-40B4-BE49-F238E27FC236}">
                <a16:creationId xmlns:a16="http://schemas.microsoft.com/office/drawing/2014/main" id="{42BCD326-BAE6-4FE9-8066-2BCED1748F11}"/>
              </a:ext>
            </a:extLst>
          </p:cNvPr>
          <p:cNvSpPr>
            <a:spLocks xmlns:a="http://schemas.openxmlformats.org/drawingml/2006/main" noGrp="1"/>
          </p:cNvSpPr>
          <p:nvPr/>
        </p:nvSpPr>
        <p:spPr>
          <a:xfrm xmlns:a="http://schemas.openxmlformats.org/drawingml/2006/main">
            <a:off x="685800" y="1809750"/>
            <a:ext cx="10820400" cy="781050"/>
          </a:xfrm>
          <a:prstGeom xmlns:a="http://schemas.openxmlformats.org/drawingml/2006/main" prst="roundRect">
            <a:avLst>
              <a:gd name="adj" fmla="val 19512"/>
            </a:avLst>
          </a:prstGeom>
          <a:solidFill xmlns:a="http://schemas.openxmlformats.org/drawingml/2006/main">
            <a:srgbClr val="1D503D"/>
          </a:solidFill>
          <a:ln xmlns:a="http://schemas.openxmlformats.org/drawingml/2006/main" w="9525">
            <a:solidFill>
              <a:srgbClr val="4F7D69"/>
            </a:solidFill>
            <a:prstDash val="solid"/>
          </a:ln>
        </p:spPr>
      </p:sp>
      <p:sp>
        <p:nvSpPr>
          <p:cNvPr id="6" name="retrieval-number-1">
            <a:extLst xmlns:a="http://schemas.openxmlformats.org/drawingml/2006/main">
              <a:ext uri="{FF2B5EF4-FFF2-40B4-BE49-F238E27FC236}">
                <a16:creationId xmlns:a16="http://schemas.microsoft.com/office/drawing/2014/main" id="{4D841970-8C4C-4572-8F38-35A3F89E50CA}"/>
              </a:ext>
            </a:extLst>
          </p:cNvPr>
          <p:cNvSpPr>
            <a:spLocks xmlns:a="http://schemas.openxmlformats.org/drawingml/2006/main" noGrp="1"/>
          </p:cNvSpPr>
          <p:nvPr/>
        </p:nvSpPr>
        <p:spPr>
          <a:xfrm xmlns:a="http://schemas.openxmlformats.org/drawingml/2006/main">
            <a:off x="895350" y="19907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E7AD31"/>
                </a:solidFill>
              </a:defRPr>
            </a:pPr>
            <a:r>
              <a:rPr sz="1875" b="1">
                <a:solidFill>
                  <a:srgbClr val="E7AD31"/>
                </a:solidFill>
              </a:rPr>
              <a:t>1</a:t>
            </a:r>
          </a:p>
        </p:txBody>
      </p:sp>
      <p:sp>
        <p:nvSpPr>
          <p:cNvPr id="7" name="retrieval-question-1">
            <a:extLst xmlns:a="http://schemas.openxmlformats.org/drawingml/2006/main">
              <a:ext uri="{FF2B5EF4-FFF2-40B4-BE49-F238E27FC236}">
                <a16:creationId xmlns:a16="http://schemas.microsoft.com/office/drawing/2014/main" id="{A9D0B638-8D4A-4FFA-A2F0-ABE26896143E}"/>
              </a:ext>
            </a:extLst>
          </p:cNvPr>
          <p:cNvSpPr>
            <a:spLocks xmlns:a="http://schemas.openxmlformats.org/drawingml/2006/main" noGrp="1"/>
          </p:cNvSpPr>
          <p:nvPr/>
        </p:nvSpPr>
        <p:spPr>
          <a:xfrm xmlns:a="http://schemas.openxmlformats.org/drawingml/2006/main">
            <a:off x="1524000" y="1962150"/>
            <a:ext cx="965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Why is the strongest material not always the best choice?</a:t>
            </a:r>
          </a:p>
        </p:txBody>
      </p:sp>
      <p:sp>
        <p:nvSpPr>
          <p:cNvPr id="8" name="retrieval-line-2">
            <a:extLst xmlns:a="http://schemas.openxmlformats.org/drawingml/2006/main">
              <a:ext uri="{FF2B5EF4-FFF2-40B4-BE49-F238E27FC236}">
                <a16:creationId xmlns:a16="http://schemas.microsoft.com/office/drawing/2014/main" id="{E3D26246-CED6-4DAF-8C7E-1025DE7CCA97}"/>
              </a:ext>
            </a:extLst>
          </p:cNvPr>
          <p:cNvSpPr>
            <a:spLocks xmlns:a="http://schemas.openxmlformats.org/drawingml/2006/main" noGrp="1"/>
          </p:cNvSpPr>
          <p:nvPr/>
        </p:nvSpPr>
        <p:spPr>
          <a:xfrm xmlns:a="http://schemas.openxmlformats.org/drawingml/2006/main">
            <a:off x="685800" y="2800350"/>
            <a:ext cx="10820400" cy="781050"/>
          </a:xfrm>
          <a:prstGeom xmlns:a="http://schemas.openxmlformats.org/drawingml/2006/main" prst="roundRect">
            <a:avLst>
              <a:gd name="adj" fmla="val 19512"/>
            </a:avLst>
          </a:prstGeom>
          <a:solidFill xmlns:a="http://schemas.openxmlformats.org/drawingml/2006/main">
            <a:srgbClr val="245E48"/>
          </a:solidFill>
          <a:ln xmlns:a="http://schemas.openxmlformats.org/drawingml/2006/main" w="9525">
            <a:solidFill>
              <a:srgbClr val="4F7D69"/>
            </a:solidFill>
            <a:prstDash val="solid"/>
          </a:ln>
        </p:spPr>
      </p:sp>
      <p:sp>
        <p:nvSpPr>
          <p:cNvPr id="9" name="retrieval-number-2">
            <a:extLst xmlns:a="http://schemas.openxmlformats.org/drawingml/2006/main">
              <a:ext uri="{FF2B5EF4-FFF2-40B4-BE49-F238E27FC236}">
                <a16:creationId xmlns:a16="http://schemas.microsoft.com/office/drawing/2014/main" id="{2352D2E1-EA9E-435D-A2C7-D6F10DCD127B}"/>
              </a:ext>
            </a:extLst>
          </p:cNvPr>
          <p:cNvSpPr>
            <a:spLocks xmlns:a="http://schemas.openxmlformats.org/drawingml/2006/main" noGrp="1"/>
          </p:cNvSpPr>
          <p:nvPr/>
        </p:nvSpPr>
        <p:spPr>
          <a:xfrm xmlns:a="http://schemas.openxmlformats.org/drawingml/2006/main">
            <a:off x="895350" y="29813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E7AD31"/>
                </a:solidFill>
              </a:defRPr>
            </a:pPr>
            <a:r>
              <a:rPr sz="1875" b="1">
                <a:solidFill>
                  <a:srgbClr val="E7AD31"/>
                </a:solidFill>
              </a:rPr>
              <a:t>2</a:t>
            </a:r>
          </a:p>
        </p:txBody>
      </p:sp>
      <p:sp>
        <p:nvSpPr>
          <p:cNvPr id="10" name="retrieval-question-2">
            <a:extLst xmlns:a="http://schemas.openxmlformats.org/drawingml/2006/main">
              <a:ext uri="{FF2B5EF4-FFF2-40B4-BE49-F238E27FC236}">
                <a16:creationId xmlns:a16="http://schemas.microsoft.com/office/drawing/2014/main" id="{E203734F-1A7E-4566-9373-2DD5021AE694}"/>
              </a:ext>
            </a:extLst>
          </p:cNvPr>
          <p:cNvSpPr>
            <a:spLocks xmlns:a="http://schemas.openxmlformats.org/drawingml/2006/main" noGrp="1"/>
          </p:cNvSpPr>
          <p:nvPr/>
        </p:nvSpPr>
        <p:spPr>
          <a:xfrm xmlns:a="http://schemas.openxmlformats.org/drawingml/2006/main">
            <a:off x="1524000" y="2952750"/>
            <a:ext cx="965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is the purpose of a datum?</a:t>
            </a:r>
          </a:p>
        </p:txBody>
      </p:sp>
      <p:sp>
        <p:nvSpPr>
          <p:cNvPr id="11" name="retrieval-line-3">
            <a:extLst xmlns:a="http://schemas.openxmlformats.org/drawingml/2006/main">
              <a:ext uri="{FF2B5EF4-FFF2-40B4-BE49-F238E27FC236}">
                <a16:creationId xmlns:a16="http://schemas.microsoft.com/office/drawing/2014/main" id="{845B39B3-701C-460E-A297-324E56F9D880}"/>
              </a:ext>
            </a:extLst>
          </p:cNvPr>
          <p:cNvSpPr>
            <a:spLocks xmlns:a="http://schemas.openxmlformats.org/drawingml/2006/main" noGrp="1"/>
          </p:cNvSpPr>
          <p:nvPr/>
        </p:nvSpPr>
        <p:spPr>
          <a:xfrm xmlns:a="http://schemas.openxmlformats.org/drawingml/2006/main">
            <a:off x="685800" y="3790950"/>
            <a:ext cx="10820400" cy="781050"/>
          </a:xfrm>
          <a:prstGeom xmlns:a="http://schemas.openxmlformats.org/drawingml/2006/main" prst="roundRect">
            <a:avLst>
              <a:gd name="adj" fmla="val 19512"/>
            </a:avLst>
          </a:prstGeom>
          <a:solidFill xmlns:a="http://schemas.openxmlformats.org/drawingml/2006/main">
            <a:srgbClr val="1D503D"/>
          </a:solidFill>
          <a:ln xmlns:a="http://schemas.openxmlformats.org/drawingml/2006/main" w="9525">
            <a:solidFill>
              <a:srgbClr val="4F7D69"/>
            </a:solidFill>
            <a:prstDash val="solid"/>
          </a:ln>
        </p:spPr>
      </p:sp>
      <p:sp>
        <p:nvSpPr>
          <p:cNvPr id="12" name="retrieval-number-3">
            <a:extLst xmlns:a="http://schemas.openxmlformats.org/drawingml/2006/main">
              <a:ext uri="{FF2B5EF4-FFF2-40B4-BE49-F238E27FC236}">
                <a16:creationId xmlns:a16="http://schemas.microsoft.com/office/drawing/2014/main" id="{2145D460-B805-46C1-8111-E5FC719584AE}"/>
              </a:ext>
            </a:extLst>
          </p:cNvPr>
          <p:cNvSpPr>
            <a:spLocks xmlns:a="http://schemas.openxmlformats.org/drawingml/2006/main" noGrp="1"/>
          </p:cNvSpPr>
          <p:nvPr/>
        </p:nvSpPr>
        <p:spPr>
          <a:xfrm xmlns:a="http://schemas.openxmlformats.org/drawingml/2006/main">
            <a:off x="895350" y="39719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E7AD31"/>
                </a:solidFill>
              </a:defRPr>
            </a:pPr>
            <a:r>
              <a:rPr sz="1875" b="1">
                <a:solidFill>
                  <a:srgbClr val="E7AD31"/>
                </a:solidFill>
              </a:rPr>
              <a:t>3</a:t>
            </a:r>
          </a:p>
        </p:txBody>
      </p:sp>
      <p:sp>
        <p:nvSpPr>
          <p:cNvPr id="13" name="retrieval-question-3">
            <a:extLst xmlns:a="http://schemas.openxmlformats.org/drawingml/2006/main">
              <a:ext uri="{FF2B5EF4-FFF2-40B4-BE49-F238E27FC236}">
                <a16:creationId xmlns:a16="http://schemas.microsoft.com/office/drawing/2014/main" id="{30416302-50DD-4EBC-8B46-FAE9BBA082D4}"/>
              </a:ext>
            </a:extLst>
          </p:cNvPr>
          <p:cNvSpPr>
            <a:spLocks xmlns:a="http://schemas.openxmlformats.org/drawingml/2006/main" noGrp="1"/>
          </p:cNvSpPr>
          <p:nvPr/>
        </p:nvSpPr>
        <p:spPr>
          <a:xfrm xmlns:a="http://schemas.openxmlformats.org/drawingml/2006/main">
            <a:off x="1524000" y="3943350"/>
            <a:ext cx="965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When does nesting become a valid efficiency decision?</a:t>
            </a:r>
          </a:p>
        </p:txBody>
      </p:sp>
      <p:sp>
        <p:nvSpPr>
          <p:cNvPr id="14" name="retrieval-line-4">
            <a:extLst xmlns:a="http://schemas.openxmlformats.org/drawingml/2006/main">
              <a:ext uri="{FF2B5EF4-FFF2-40B4-BE49-F238E27FC236}">
                <a16:creationId xmlns:a16="http://schemas.microsoft.com/office/drawing/2014/main" id="{668EF824-60CB-4E92-80D5-9BB3992D7366}"/>
              </a:ext>
            </a:extLst>
          </p:cNvPr>
          <p:cNvSpPr>
            <a:spLocks xmlns:a="http://schemas.openxmlformats.org/drawingml/2006/main" noGrp="1"/>
          </p:cNvSpPr>
          <p:nvPr/>
        </p:nvSpPr>
        <p:spPr>
          <a:xfrm xmlns:a="http://schemas.openxmlformats.org/drawingml/2006/main">
            <a:off x="685800" y="4781550"/>
            <a:ext cx="10820400" cy="781050"/>
          </a:xfrm>
          <a:prstGeom xmlns:a="http://schemas.openxmlformats.org/drawingml/2006/main" prst="roundRect">
            <a:avLst>
              <a:gd name="adj" fmla="val 19512"/>
            </a:avLst>
          </a:prstGeom>
          <a:solidFill xmlns:a="http://schemas.openxmlformats.org/drawingml/2006/main">
            <a:srgbClr val="245E48"/>
          </a:solidFill>
          <a:ln xmlns:a="http://schemas.openxmlformats.org/drawingml/2006/main" w="9525">
            <a:solidFill>
              <a:srgbClr val="4F7D69"/>
            </a:solidFill>
            <a:prstDash val="solid"/>
          </a:ln>
        </p:spPr>
      </p:sp>
      <p:sp>
        <p:nvSpPr>
          <p:cNvPr id="15" name="retrieval-number-4">
            <a:extLst xmlns:a="http://schemas.openxmlformats.org/drawingml/2006/main">
              <a:ext uri="{FF2B5EF4-FFF2-40B4-BE49-F238E27FC236}">
                <a16:creationId xmlns:a16="http://schemas.microsoft.com/office/drawing/2014/main" id="{CFC94B66-D903-43ED-A782-64A545B3B351}"/>
              </a:ext>
            </a:extLst>
          </p:cNvPr>
          <p:cNvSpPr>
            <a:spLocks xmlns:a="http://schemas.openxmlformats.org/drawingml/2006/main" noGrp="1"/>
          </p:cNvSpPr>
          <p:nvPr/>
        </p:nvSpPr>
        <p:spPr>
          <a:xfrm xmlns:a="http://schemas.openxmlformats.org/drawingml/2006/main">
            <a:off x="895350" y="49625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E7AD31"/>
                </a:solidFill>
              </a:defRPr>
            </a:pPr>
            <a:r>
              <a:rPr sz="1875" b="1">
                <a:solidFill>
                  <a:srgbClr val="E7AD31"/>
                </a:solidFill>
              </a:rPr>
              <a:t>4</a:t>
            </a:r>
          </a:p>
        </p:txBody>
      </p:sp>
      <p:sp>
        <p:nvSpPr>
          <p:cNvPr id="16" name="retrieval-question-4">
            <a:extLst xmlns:a="http://schemas.openxmlformats.org/drawingml/2006/main">
              <a:ext uri="{FF2B5EF4-FFF2-40B4-BE49-F238E27FC236}">
                <a16:creationId xmlns:a16="http://schemas.microsoft.com/office/drawing/2014/main" id="{0363F2BF-7F45-4FAB-B64B-A64BFF06C0AE}"/>
              </a:ext>
            </a:extLst>
          </p:cNvPr>
          <p:cNvSpPr>
            <a:spLocks xmlns:a="http://schemas.openxmlformats.org/drawingml/2006/main" noGrp="1"/>
          </p:cNvSpPr>
          <p:nvPr/>
        </p:nvSpPr>
        <p:spPr>
          <a:xfrm xmlns:a="http://schemas.openxmlformats.org/drawingml/2006/main">
            <a:off x="1524000" y="4933950"/>
            <a:ext cx="965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Why is an on-screen appearance not enough for approval?</a:t>
            </a:r>
          </a:p>
        </p:txBody>
      </p:sp>
      <p:sp>
        <p:nvSpPr>
          <p:cNvPr id="17" name="footer-rule-6">
            <a:extLst xmlns:a="http://schemas.openxmlformats.org/drawingml/2006/main">
              <a:ext uri="{FF2B5EF4-FFF2-40B4-BE49-F238E27FC236}">
                <a16:creationId xmlns:a16="http://schemas.microsoft.com/office/drawing/2014/main" id="{B8FDB7E4-4B8C-4703-A09A-F221AC8D54C4}"/>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5C8774"/>
          </a:solidFill>
          <a:ln xmlns:a="http://schemas.openxmlformats.org/drawingml/2006/main" w="0">
            <a:solidFill>
              <a:srgbClr val="5C8774"/>
            </a:solidFill>
            <a:prstDash val="solid"/>
          </a:ln>
        </p:spPr>
      </p:sp>
      <p:sp>
        <p:nvSpPr>
          <p:cNvPr id="18" name="footer-label-6">
            <a:extLst xmlns:a="http://schemas.openxmlformats.org/drawingml/2006/main">
              <a:ext uri="{FF2B5EF4-FFF2-40B4-BE49-F238E27FC236}">
                <a16:creationId xmlns:a16="http://schemas.microsoft.com/office/drawing/2014/main" id="{87105296-1D38-463E-AFB6-679F2BA5BA5B}"/>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D8E7DF"/>
                </a:solidFill>
              </a:defRPr>
            </a:pPr>
            <a:r>
              <a:rPr sz="900" b="1">
                <a:solidFill>
                  <a:srgbClr val="D8E7DF"/>
                </a:solidFill>
              </a:rPr>
              <a:t>SWINGING SIGN  •  MODULE 3</a:t>
            </a:r>
          </a:p>
        </p:txBody>
      </p:sp>
      <p:sp>
        <p:nvSpPr>
          <p:cNvPr id="19" name="footer-page-6">
            <a:extLst xmlns:a="http://schemas.openxmlformats.org/drawingml/2006/main">
              <a:ext uri="{FF2B5EF4-FFF2-40B4-BE49-F238E27FC236}">
                <a16:creationId xmlns:a16="http://schemas.microsoft.com/office/drawing/2014/main" id="{CA9D5AC1-EC0C-4E2E-9EC7-268BBB67766B}"/>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D8E7DF"/>
                </a:solidFill>
              </a:defRPr>
            </a:pPr>
            <a:r>
              <a:rPr sz="900" b="1">
                <a:solidFill>
                  <a:srgbClr val="D8E7DF"/>
                </a:solidFill>
              </a:rPr>
              <a:t>6 / 8</a:t>
            </a:r>
          </a:p>
        </p:txBody>
      </p:sp>
    </p:spTree>
    <p:extLst>
      <p:ext uri="{BB962C8B-B14F-4D97-AF65-F5344CB8AC3E}">
        <p14:creationId xmlns:p14="http://schemas.microsoft.com/office/powerpoint/2010/main" val="775283349"/>
      </p:ext>
    </p:extLst>
  </p:cSld>
</p:sld>
</file>

<file path=ppt/slides/slide7.xml><?xml version="1.0" encoding="utf-8"?>
<p:sld xmlns:p="http://schemas.openxmlformats.org/presentationml/2006/main">
  <p:cSld>
    <p:bg>
      <p:bgPr>
        <a:solidFill xmlns:a="http://schemas.openxmlformats.org/drawingml/2006/main">
          <a:srgbClr val="FBF7EE"/>
        </a:solidFill>
      </p:bgPr>
    </p:bg>
    <p:spTree>
      <p:nvGrpSpPr>
        <p:cNvPr id="1" name=""/>
        <p:cNvGrpSpPr/>
        <p:nvPr/>
      </p:nvGrpSpPr>
      <p:grpSpPr>
        <a:xfrm xmlns:a="http://schemas.openxmlformats.org/drawingml/2006/main"/>
      </p:grpSpPr>
      <p:sp>
        <p:nvSpPr>
          <p:cNvPr id="23" name="accent-7">
            <a:extLst xmlns:a="http://schemas.openxmlformats.org/drawingml/2006/main">
              <a:ext uri="{FF2B5EF4-FFF2-40B4-BE49-F238E27FC236}">
                <a16:creationId xmlns:a16="http://schemas.microsoft.com/office/drawing/2014/main" id="{82FAC3D5-BE72-40E6-A48B-6095F084DA5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module-kicker-7">
            <a:extLst xmlns:a="http://schemas.openxmlformats.org/drawingml/2006/main">
              <a:ext uri="{FF2B5EF4-FFF2-40B4-BE49-F238E27FC236}">
                <a16:creationId xmlns:a16="http://schemas.microsoft.com/office/drawing/2014/main" id="{F1AC5752-FA49-4AA4-8D72-964D08974C2A}"/>
              </a:ext>
            </a:extLst>
          </p:cNvPr>
          <p:cNvSpPr>
            <a:spLocks xmlns:a="http://schemas.openxmlformats.org/drawingml/2006/main" noGrp="1"/>
          </p:cNvSpPr>
          <p:nvPr/>
        </p:nvSpPr>
        <p:spPr>
          <a:xfrm xmlns:a="http://schemas.openxmlformats.org/drawingml/2006/main">
            <a:off x="685800" y="2667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MODULE 3  •  PLAN FOR PRODUCTION</a:t>
            </a:r>
          </a:p>
        </p:txBody>
      </p:sp>
      <p:sp>
        <p:nvSpPr>
          <p:cNvPr id="3" name="slide-title-7">
            <a:extLst xmlns:a="http://schemas.openxmlformats.org/drawingml/2006/main">
              <a:ext uri="{FF2B5EF4-FFF2-40B4-BE49-F238E27FC236}">
                <a16:creationId xmlns:a16="http://schemas.microsoft.com/office/drawing/2014/main" id="{C47318AE-9D9A-49CD-9199-697666B3F31D}"/>
              </a:ext>
            </a:extLst>
          </p:cNvPr>
          <p:cNvSpPr>
            <a:spLocks xmlns:a="http://schemas.openxmlformats.org/drawingml/2006/main" noGrp="1"/>
          </p:cNvSpPr>
          <p:nvPr/>
        </p:nvSpPr>
        <p:spPr>
          <a:xfrm xmlns:a="http://schemas.openxmlformats.org/drawingml/2006/main">
            <a:off x="685800" y="5905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3F30"/>
                </a:solidFill>
              </a:defRPr>
            </a:pPr>
            <a:r>
              <a:rPr sz="2850" b="1">
                <a:solidFill>
                  <a:srgbClr val="113F30"/>
                </a:solidFill>
              </a:rPr>
              <a:t>Build one connected explanation</a:t>
            </a:r>
          </a:p>
        </p:txBody>
      </p:sp>
      <p:sp>
        <p:nvSpPr>
          <p:cNvPr id="4" name="guided-question-surface">
            <a:extLst xmlns:a="http://schemas.openxmlformats.org/drawingml/2006/main">
              <a:ext uri="{FF2B5EF4-FFF2-40B4-BE49-F238E27FC236}">
                <a16:creationId xmlns:a16="http://schemas.microsoft.com/office/drawing/2014/main" id="{F8984BD8-F7A3-414E-A5B8-D3D5E94A6085}"/>
              </a:ext>
            </a:extLst>
          </p:cNvPr>
          <p:cNvSpPr>
            <a:spLocks xmlns:a="http://schemas.openxmlformats.org/drawingml/2006/main" noGrp="1"/>
          </p:cNvSpPr>
          <p:nvPr/>
        </p:nvSpPr>
        <p:spPr>
          <a:xfrm xmlns:a="http://schemas.openxmlformats.org/drawingml/2006/main">
            <a:off x="685800" y="1352550"/>
            <a:ext cx="108204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9525">
            <a:solidFill>
              <a:srgbClr val="C8D8CF"/>
            </a:solidFill>
            <a:prstDash val="solid"/>
          </a:ln>
        </p:spPr>
      </p:sp>
      <p:sp>
        <p:nvSpPr>
          <p:cNvPr id="5" name="guided-question-label">
            <a:extLst xmlns:a="http://schemas.openxmlformats.org/drawingml/2006/main">
              <a:ext uri="{FF2B5EF4-FFF2-40B4-BE49-F238E27FC236}">
                <a16:creationId xmlns:a16="http://schemas.microsoft.com/office/drawing/2014/main" id="{DF31586E-E73B-459F-9A22-3040ACE2C04B}"/>
              </a:ext>
            </a:extLst>
          </p:cNvPr>
          <p:cNvSpPr>
            <a:spLocks xmlns:a="http://schemas.openxmlformats.org/drawingml/2006/main" noGrp="1"/>
          </p:cNvSpPr>
          <p:nvPr/>
        </p:nvSpPr>
        <p:spPr>
          <a:xfrm xmlns:a="http://schemas.openxmlformats.org/drawingml/2006/main">
            <a:off x="933450" y="15430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4932"/>
                </a:solidFill>
              </a:defRPr>
            </a:pPr>
            <a:r>
              <a:rPr sz="1050" b="1">
                <a:solidFill>
                  <a:srgbClr val="B84932"/>
                </a:solidFill>
              </a:rPr>
              <a:t>THE QUESTION</a:t>
            </a:r>
          </a:p>
        </p:txBody>
      </p:sp>
      <p:sp>
        <p:nvSpPr>
          <p:cNvPr id="6" name="guided-question">
            <a:extLst xmlns:a="http://schemas.openxmlformats.org/drawingml/2006/main">
              <a:ext uri="{FF2B5EF4-FFF2-40B4-BE49-F238E27FC236}">
                <a16:creationId xmlns:a16="http://schemas.microsoft.com/office/drawing/2014/main" id="{DB0663E5-5989-4635-B51B-C9FB78F7B1B8}"/>
              </a:ext>
            </a:extLst>
          </p:cNvPr>
          <p:cNvSpPr>
            <a:spLocks xmlns:a="http://schemas.openxmlformats.org/drawingml/2006/main" noGrp="1"/>
          </p:cNvSpPr>
          <p:nvPr/>
        </p:nvSpPr>
        <p:spPr>
          <a:xfrm xmlns:a="http://schemas.openxmlformats.org/drawingml/2006/main">
            <a:off x="933450" y="18669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13F30"/>
                </a:solidFill>
              </a:defRPr>
            </a:pPr>
            <a:r>
              <a:rPr sz="1725" b="1">
                <a:solidFill>
                  <a:srgbClr val="113F30"/>
                </a:solidFill>
              </a:rPr>
              <a:t>Decide whether a fictional proposal is ready for teacher review. Justify the material choice, evaluate the layout and identify any file or mounting evidence still missing.</a:t>
            </a:r>
          </a:p>
        </p:txBody>
      </p:sp>
      <p:sp>
        <p:nvSpPr>
          <p:cNvPr id="7" name="guided-step-1">
            <a:extLst xmlns:a="http://schemas.openxmlformats.org/drawingml/2006/main">
              <a:ext uri="{FF2B5EF4-FFF2-40B4-BE49-F238E27FC236}">
                <a16:creationId xmlns:a16="http://schemas.microsoft.com/office/drawing/2014/main" id="{52B8792D-D619-41AA-A918-D4BE5FDC5021}"/>
              </a:ext>
            </a:extLst>
          </p:cNvPr>
          <p:cNvSpPr>
            <a:spLocks xmlns:a="http://schemas.openxmlformats.org/drawingml/2006/main" noGrp="1"/>
          </p:cNvSpPr>
          <p:nvPr/>
        </p:nvSpPr>
        <p:spPr>
          <a:xfrm xmlns:a="http://schemas.openxmlformats.org/drawingml/2006/main">
            <a:off x="685800" y="2990850"/>
            <a:ext cx="2514600" cy="2095500"/>
          </a:xfrm>
          <a:prstGeom xmlns:a="http://schemas.openxmlformats.org/drawingml/2006/main" prst="roundRect">
            <a:avLst>
              <a:gd name="adj" fmla="val 8182"/>
            </a:avLst>
          </a:prstGeom>
          <a:solidFill xmlns:a="http://schemas.openxmlformats.org/drawingml/2006/main">
            <a:srgbClr val="113F30"/>
          </a:solidFill>
          <a:ln xmlns:a="http://schemas.openxmlformats.org/drawingml/2006/main" w="0">
            <a:solidFill>
              <a:srgbClr val="113F30"/>
            </a:solidFill>
            <a:prstDash val="solid"/>
          </a:ln>
        </p:spPr>
      </p:sp>
      <p:sp>
        <p:nvSpPr>
          <p:cNvPr id="8" name="guided-step-name-1">
            <a:extLst xmlns:a="http://schemas.openxmlformats.org/drawingml/2006/main">
              <a:ext uri="{FF2B5EF4-FFF2-40B4-BE49-F238E27FC236}">
                <a16:creationId xmlns:a16="http://schemas.microsoft.com/office/drawing/2014/main" id="{B2834700-A362-4673-826D-F71E604C77F5}"/>
              </a:ext>
            </a:extLst>
          </p:cNvPr>
          <p:cNvSpPr>
            <a:spLocks xmlns:a="http://schemas.openxmlformats.org/drawingml/2006/main" noGrp="1"/>
          </p:cNvSpPr>
          <p:nvPr/>
        </p:nvSpPr>
        <p:spPr>
          <a:xfrm xmlns:a="http://schemas.openxmlformats.org/drawingml/2006/main">
            <a:off x="895350" y="3219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7AD31"/>
                </a:solidFill>
              </a:defRPr>
            </a:pPr>
            <a:r>
              <a:rPr sz="1650" b="1">
                <a:solidFill>
                  <a:srgbClr val="E7AD31"/>
                </a:solidFill>
              </a:rPr>
              <a:t>READ</a:t>
            </a:r>
          </a:p>
        </p:txBody>
      </p:sp>
      <p:sp>
        <p:nvSpPr>
          <p:cNvPr id="9" name="guided-step-body-1">
            <a:extLst xmlns:a="http://schemas.openxmlformats.org/drawingml/2006/main">
              <a:ext uri="{FF2B5EF4-FFF2-40B4-BE49-F238E27FC236}">
                <a16:creationId xmlns:a16="http://schemas.microsoft.com/office/drawing/2014/main" id="{F3072893-173B-482B-B82A-E11509832A38}"/>
              </a:ext>
            </a:extLst>
          </p:cNvPr>
          <p:cNvSpPr>
            <a:spLocks xmlns:a="http://schemas.openxmlformats.org/drawingml/2006/main" noGrp="1"/>
          </p:cNvSpPr>
          <p:nvPr/>
        </p:nvSpPr>
        <p:spPr>
          <a:xfrm xmlns:a="http://schemas.openxmlformats.org/drawingml/2006/main">
            <a:off x="895350" y="3676650"/>
            <a:ext cx="2095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list the confirmed need, criteria and approved options.</a:t>
            </a:r>
          </a:p>
        </p:txBody>
      </p:sp>
      <p:sp>
        <p:nvSpPr>
          <p:cNvPr id="10" name="guided-step-2">
            <a:extLst xmlns:a="http://schemas.openxmlformats.org/drawingml/2006/main">
              <a:ext uri="{FF2B5EF4-FFF2-40B4-BE49-F238E27FC236}">
                <a16:creationId xmlns:a16="http://schemas.microsoft.com/office/drawing/2014/main" id="{B40EE718-579F-4140-B38D-81F38D0D1E6D}"/>
              </a:ext>
            </a:extLst>
          </p:cNvPr>
          <p:cNvSpPr>
            <a:spLocks xmlns:a="http://schemas.openxmlformats.org/drawingml/2006/main" noGrp="1"/>
          </p:cNvSpPr>
          <p:nvPr/>
        </p:nvSpPr>
        <p:spPr>
          <a:xfrm xmlns:a="http://schemas.openxmlformats.org/drawingml/2006/main">
            <a:off x="3429000" y="2990850"/>
            <a:ext cx="2514600" cy="2095500"/>
          </a:xfrm>
          <a:prstGeom xmlns:a="http://schemas.openxmlformats.org/drawingml/2006/main" prst="roundRect">
            <a:avLst>
              <a:gd name="adj" fmla="val 8182"/>
            </a:avLst>
          </a:prstGeom>
          <a:solidFill xmlns:a="http://schemas.openxmlformats.org/drawingml/2006/main">
            <a:srgbClr val="176046"/>
          </a:solidFill>
          <a:ln xmlns:a="http://schemas.openxmlformats.org/drawingml/2006/main" w="0">
            <a:solidFill>
              <a:srgbClr val="176046"/>
            </a:solidFill>
            <a:prstDash val="solid"/>
          </a:ln>
        </p:spPr>
      </p:sp>
      <p:sp>
        <p:nvSpPr>
          <p:cNvPr id="11" name="guided-step-name-2">
            <a:extLst xmlns:a="http://schemas.openxmlformats.org/drawingml/2006/main">
              <a:ext uri="{FF2B5EF4-FFF2-40B4-BE49-F238E27FC236}">
                <a16:creationId xmlns:a16="http://schemas.microsoft.com/office/drawing/2014/main" id="{53371CC6-5A0E-405B-8C6B-EEA68B66223F}"/>
              </a:ext>
            </a:extLst>
          </p:cNvPr>
          <p:cNvSpPr>
            <a:spLocks xmlns:a="http://schemas.openxmlformats.org/drawingml/2006/main" noGrp="1"/>
          </p:cNvSpPr>
          <p:nvPr/>
        </p:nvSpPr>
        <p:spPr>
          <a:xfrm xmlns:a="http://schemas.openxmlformats.org/drawingml/2006/main">
            <a:off x="3638550" y="3219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7AD31"/>
                </a:solidFill>
              </a:defRPr>
            </a:pPr>
            <a:r>
              <a:rPr sz="1650" b="1">
                <a:solidFill>
                  <a:srgbClr val="E7AD31"/>
                </a:solidFill>
              </a:rPr>
              <a:t>SELECT</a:t>
            </a:r>
          </a:p>
        </p:txBody>
      </p:sp>
      <p:sp>
        <p:nvSpPr>
          <p:cNvPr id="12" name="guided-step-body-2">
            <a:extLst xmlns:a="http://schemas.openxmlformats.org/drawingml/2006/main">
              <a:ext uri="{FF2B5EF4-FFF2-40B4-BE49-F238E27FC236}">
                <a16:creationId xmlns:a16="http://schemas.microsoft.com/office/drawing/2014/main" id="{31766288-FE7D-4144-9E8E-920590457074}"/>
              </a:ext>
            </a:extLst>
          </p:cNvPr>
          <p:cNvSpPr>
            <a:spLocks xmlns:a="http://schemas.openxmlformats.org/drawingml/2006/main" noGrp="1"/>
          </p:cNvSpPr>
          <p:nvPr/>
        </p:nvSpPr>
        <p:spPr>
          <a:xfrm xmlns:a="http://schemas.openxmlformats.org/drawingml/2006/main">
            <a:off x="3638550" y="3676650"/>
            <a:ext cx="2095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choose property, measurement and file evidence that matters.</a:t>
            </a:r>
          </a:p>
        </p:txBody>
      </p:sp>
      <p:sp>
        <p:nvSpPr>
          <p:cNvPr id="13" name="guided-step-3">
            <a:extLst xmlns:a="http://schemas.openxmlformats.org/drawingml/2006/main">
              <a:ext uri="{FF2B5EF4-FFF2-40B4-BE49-F238E27FC236}">
                <a16:creationId xmlns:a16="http://schemas.microsoft.com/office/drawing/2014/main" id="{AED262C1-20C2-4B28-A152-1C0A2F8C6680}"/>
              </a:ext>
            </a:extLst>
          </p:cNvPr>
          <p:cNvSpPr>
            <a:spLocks xmlns:a="http://schemas.openxmlformats.org/drawingml/2006/main" noGrp="1"/>
          </p:cNvSpPr>
          <p:nvPr/>
        </p:nvSpPr>
        <p:spPr>
          <a:xfrm xmlns:a="http://schemas.openxmlformats.org/drawingml/2006/main">
            <a:off x="6172200" y="2990850"/>
            <a:ext cx="2514600" cy="2095500"/>
          </a:xfrm>
          <a:prstGeom xmlns:a="http://schemas.openxmlformats.org/drawingml/2006/main" prst="roundRect">
            <a:avLst>
              <a:gd name="adj" fmla="val 8182"/>
            </a:avLst>
          </a:prstGeom>
          <a:solidFill xmlns:a="http://schemas.openxmlformats.org/drawingml/2006/main">
            <a:srgbClr val="113F30"/>
          </a:solidFill>
          <a:ln xmlns:a="http://schemas.openxmlformats.org/drawingml/2006/main" w="0">
            <a:solidFill>
              <a:srgbClr val="113F30"/>
            </a:solidFill>
            <a:prstDash val="solid"/>
          </a:ln>
        </p:spPr>
      </p:sp>
      <p:sp>
        <p:nvSpPr>
          <p:cNvPr id="14" name="guided-step-name-3">
            <a:extLst xmlns:a="http://schemas.openxmlformats.org/drawingml/2006/main">
              <a:ext uri="{FF2B5EF4-FFF2-40B4-BE49-F238E27FC236}">
                <a16:creationId xmlns:a16="http://schemas.microsoft.com/office/drawing/2014/main" id="{FE3200AC-F873-4D32-8DE8-2F961BF04268}"/>
              </a:ext>
            </a:extLst>
          </p:cNvPr>
          <p:cNvSpPr>
            <a:spLocks xmlns:a="http://schemas.openxmlformats.org/drawingml/2006/main" noGrp="1"/>
          </p:cNvSpPr>
          <p:nvPr/>
        </p:nvSpPr>
        <p:spPr>
          <a:xfrm xmlns:a="http://schemas.openxmlformats.org/drawingml/2006/main">
            <a:off x="6381750" y="3219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7AD31"/>
                </a:solidFill>
              </a:defRPr>
            </a:pPr>
            <a:r>
              <a:rPr sz="1650" b="1">
                <a:solidFill>
                  <a:srgbClr val="E7AD31"/>
                </a:solidFill>
              </a:rPr>
              <a:t>EXPLAIN</a:t>
            </a:r>
          </a:p>
        </p:txBody>
      </p:sp>
      <p:sp>
        <p:nvSpPr>
          <p:cNvPr id="15" name="guided-step-body-3">
            <a:extLst xmlns:a="http://schemas.openxmlformats.org/drawingml/2006/main">
              <a:ext uri="{FF2B5EF4-FFF2-40B4-BE49-F238E27FC236}">
                <a16:creationId xmlns:a16="http://schemas.microsoft.com/office/drawing/2014/main" id="{DCA36802-3CDF-4F35-8ED8-4EF1B7B06CF7}"/>
              </a:ext>
            </a:extLst>
          </p:cNvPr>
          <p:cNvSpPr>
            <a:spLocks xmlns:a="http://schemas.openxmlformats.org/drawingml/2006/main" noGrp="1"/>
          </p:cNvSpPr>
          <p:nvPr/>
        </p:nvSpPr>
        <p:spPr>
          <a:xfrm xmlns:a="http://schemas.openxmlformats.org/drawingml/2006/main">
            <a:off x="6381750" y="3676650"/>
            <a:ext cx="2095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connect each item to quality, resources or mounting.</a:t>
            </a:r>
          </a:p>
        </p:txBody>
      </p:sp>
      <p:sp>
        <p:nvSpPr>
          <p:cNvPr id="16" name="guided-step-4">
            <a:extLst xmlns:a="http://schemas.openxmlformats.org/drawingml/2006/main">
              <a:ext uri="{FF2B5EF4-FFF2-40B4-BE49-F238E27FC236}">
                <a16:creationId xmlns:a16="http://schemas.microsoft.com/office/drawing/2014/main" id="{DEF7BED9-59CA-48A5-BB5D-A506723C68C1}"/>
              </a:ext>
            </a:extLst>
          </p:cNvPr>
          <p:cNvSpPr>
            <a:spLocks xmlns:a="http://schemas.openxmlformats.org/drawingml/2006/main" noGrp="1"/>
          </p:cNvSpPr>
          <p:nvPr/>
        </p:nvSpPr>
        <p:spPr>
          <a:xfrm xmlns:a="http://schemas.openxmlformats.org/drawingml/2006/main">
            <a:off x="8915400" y="2990850"/>
            <a:ext cx="2514600" cy="2095500"/>
          </a:xfrm>
          <a:prstGeom xmlns:a="http://schemas.openxmlformats.org/drawingml/2006/main" prst="roundRect">
            <a:avLst>
              <a:gd name="adj" fmla="val 8182"/>
            </a:avLst>
          </a:prstGeom>
          <a:solidFill xmlns:a="http://schemas.openxmlformats.org/drawingml/2006/main">
            <a:srgbClr val="176046"/>
          </a:solidFill>
          <a:ln xmlns:a="http://schemas.openxmlformats.org/drawingml/2006/main" w="0">
            <a:solidFill>
              <a:srgbClr val="176046"/>
            </a:solidFill>
            <a:prstDash val="solid"/>
          </a:ln>
        </p:spPr>
      </p:sp>
      <p:sp>
        <p:nvSpPr>
          <p:cNvPr id="17" name="guided-step-name-4">
            <a:extLst xmlns:a="http://schemas.openxmlformats.org/drawingml/2006/main">
              <a:ext uri="{FF2B5EF4-FFF2-40B4-BE49-F238E27FC236}">
                <a16:creationId xmlns:a16="http://schemas.microsoft.com/office/drawing/2014/main" id="{F78DCCDD-F693-4BCE-89C9-9905D75A77A8}"/>
              </a:ext>
            </a:extLst>
          </p:cNvPr>
          <p:cNvSpPr>
            <a:spLocks xmlns:a="http://schemas.openxmlformats.org/drawingml/2006/main" noGrp="1"/>
          </p:cNvSpPr>
          <p:nvPr/>
        </p:nvSpPr>
        <p:spPr>
          <a:xfrm xmlns:a="http://schemas.openxmlformats.org/drawingml/2006/main">
            <a:off x="9124950" y="3219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E7AD31"/>
                </a:solidFill>
              </a:defRPr>
            </a:pPr>
            <a:r>
              <a:rPr sz="1650" b="1">
                <a:solidFill>
                  <a:srgbClr val="E7AD31"/>
                </a:solidFill>
              </a:rPr>
              <a:t>CHECK</a:t>
            </a:r>
          </a:p>
        </p:txBody>
      </p:sp>
      <p:sp>
        <p:nvSpPr>
          <p:cNvPr id="18" name="guided-step-body-4">
            <a:extLst xmlns:a="http://schemas.openxmlformats.org/drawingml/2006/main">
              <a:ext uri="{FF2B5EF4-FFF2-40B4-BE49-F238E27FC236}">
                <a16:creationId xmlns:a16="http://schemas.microsoft.com/office/drawing/2014/main" id="{CE69E46E-5765-49E6-8E2C-4AB025A31D1B}"/>
              </a:ext>
            </a:extLst>
          </p:cNvPr>
          <p:cNvSpPr>
            <a:spLocks xmlns:a="http://schemas.openxmlformats.org/drawingml/2006/main" noGrp="1"/>
          </p:cNvSpPr>
          <p:nvPr/>
        </p:nvSpPr>
        <p:spPr>
          <a:xfrm xmlns:a="http://schemas.openxmlformats.org/drawingml/2006/main">
            <a:off x="9124950" y="3676650"/>
            <a:ext cx="2095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recommend review, revision or pause — never assume approval.</a:t>
            </a:r>
          </a:p>
        </p:txBody>
      </p:sp>
      <p:sp>
        <p:nvSpPr>
          <p:cNvPr id="19" name="guided-sentence">
            <a:extLst xmlns:a="http://schemas.openxmlformats.org/drawingml/2006/main">
              <a:ext uri="{FF2B5EF4-FFF2-40B4-BE49-F238E27FC236}">
                <a16:creationId xmlns:a16="http://schemas.microsoft.com/office/drawing/2014/main" id="{F275BC27-889D-4A0F-BA95-C80C57634DB2}"/>
              </a:ext>
            </a:extLst>
          </p:cNvPr>
          <p:cNvSpPr>
            <a:spLocks xmlns:a="http://schemas.openxmlformats.org/drawingml/2006/main" noGrp="1"/>
          </p:cNvSpPr>
          <p:nvPr/>
        </p:nvSpPr>
        <p:spPr>
          <a:xfrm xmlns:a="http://schemas.openxmlformats.org/drawingml/2006/main">
            <a:off x="685800" y="539115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B84932"/>
                </a:solidFill>
              </a:defRPr>
            </a:pPr>
            <a:r>
              <a:rPr sz="1500" b="1">
                <a:solidFill>
                  <a:srgbClr val="B84932"/>
                </a:solidFill>
              </a:rPr>
              <a:t>Sentence support: The strongest evidence is ___ because ___. This means ___. Before practical work, ___ still needs teacher confirmation.</a:t>
            </a:r>
          </a:p>
        </p:txBody>
      </p:sp>
      <p:sp>
        <p:nvSpPr>
          <p:cNvPr id="20" name="footer-rule-7">
            <a:extLst xmlns:a="http://schemas.openxmlformats.org/drawingml/2006/main">
              <a:ext uri="{FF2B5EF4-FFF2-40B4-BE49-F238E27FC236}">
                <a16:creationId xmlns:a16="http://schemas.microsoft.com/office/drawing/2014/main" id="{3FFFD166-451E-4BC6-9B96-01F8739739C7}"/>
              </a:ext>
            </a:extLst>
          </p:cNvPr>
          <p:cNvSpPr>
            <a:spLocks xmlns:a="http://schemas.openxmlformats.org/drawingml/2006/main" noGrp="1"/>
          </p:cNvSpPr>
          <p:nvPr/>
        </p:nvSpPr>
        <p:spPr>
          <a:xfrm xmlns:a="http://schemas.openxmlformats.org/drawingml/2006/main">
            <a:off x="685800" y="6486525"/>
            <a:ext cx="10820400" cy="19050"/>
          </a:xfrm>
          <a:prstGeom xmlns:a="http://schemas.openxmlformats.org/drawingml/2006/main" prst="rect">
            <a:avLst/>
          </a:prstGeom>
          <a:solidFill xmlns:a="http://schemas.openxmlformats.org/drawingml/2006/main">
            <a:srgbClr val="C8D8CF"/>
          </a:solidFill>
          <a:ln xmlns:a="http://schemas.openxmlformats.org/drawingml/2006/main" w="0">
            <a:solidFill>
              <a:srgbClr val="C8D8CF"/>
            </a:solidFill>
            <a:prstDash val="solid"/>
          </a:ln>
        </p:spPr>
      </p:sp>
      <p:sp>
        <p:nvSpPr>
          <p:cNvPr id="21" name="footer-label-7">
            <a:extLst xmlns:a="http://schemas.openxmlformats.org/drawingml/2006/main">
              <a:ext uri="{FF2B5EF4-FFF2-40B4-BE49-F238E27FC236}">
                <a16:creationId xmlns:a16="http://schemas.microsoft.com/office/drawing/2014/main" id="{8B4088B4-1CA6-4B14-B119-CE89ACD920BA}"/>
              </a:ext>
            </a:extLst>
          </p:cNvPr>
          <p:cNvSpPr>
            <a:spLocks xmlns:a="http://schemas.openxmlformats.org/drawingml/2006/main" noGrp="1"/>
          </p:cNvSpPr>
          <p:nvPr/>
        </p:nvSpPr>
        <p:spPr>
          <a:xfrm xmlns:a="http://schemas.openxmlformats.org/drawingml/2006/main">
            <a:off x="685800" y="656272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4645D"/>
                </a:solidFill>
              </a:defRPr>
            </a:pPr>
            <a:r>
              <a:rPr sz="900" b="1">
                <a:solidFill>
                  <a:srgbClr val="54645D"/>
                </a:solidFill>
              </a:rPr>
              <a:t>SWINGING SIGN  •  MODULE 3</a:t>
            </a:r>
          </a:p>
        </p:txBody>
      </p:sp>
      <p:sp>
        <p:nvSpPr>
          <p:cNvPr id="22" name="footer-page-7">
            <a:extLst xmlns:a="http://schemas.openxmlformats.org/drawingml/2006/main">
              <a:ext uri="{FF2B5EF4-FFF2-40B4-BE49-F238E27FC236}">
                <a16:creationId xmlns:a16="http://schemas.microsoft.com/office/drawing/2014/main" id="{A9DC640F-FD1F-45DE-9106-5951F39A0F2E}"/>
              </a:ext>
            </a:extLst>
          </p:cNvPr>
          <p:cNvSpPr>
            <a:spLocks xmlns:a="http://schemas.openxmlformats.org/drawingml/2006/main" noGrp="1"/>
          </p:cNvSpPr>
          <p:nvPr/>
        </p:nvSpPr>
        <p:spPr>
          <a:xfrm xmlns:a="http://schemas.openxmlformats.org/drawingml/2006/main">
            <a:off x="10763250" y="65627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4645D"/>
                </a:solidFill>
              </a:defRPr>
            </a:pPr>
            <a:r>
              <a:rPr sz="900" b="1">
                <a:solidFill>
                  <a:srgbClr val="54645D"/>
                </a:solidFill>
              </a:rPr>
              <a:t>7 / 8</a:t>
            </a:r>
          </a:p>
        </p:txBody>
      </p:sp>
    </p:spTree>
    <p:extLst>
      <p:ext uri="{BB962C8B-B14F-4D97-AF65-F5344CB8AC3E}">
        <p14:creationId xmlns:p14="http://schemas.microsoft.com/office/powerpoint/2010/main" val="31959"/>
      </p:ext>
    </p:extLst>
  </p:cSld>
</p:sld>
</file>

<file path=ppt/slides/slide8.xml><?xml version="1.0" encoding="utf-8"?>
<p:sld xmlns:p="http://schemas.openxmlformats.org/presentationml/2006/main">
  <p:cSld>
    <p:bg>
      <p:bgPr>
        <a:solidFill xmlns:a="http://schemas.openxmlformats.org/drawingml/2006/main">
          <a:srgbClr val="B84932"/>
        </a:solidFill>
      </p:bgPr>
    </p:bg>
    <p:spTree>
      <p:nvGrpSpPr>
        <p:cNvPr id="1" name=""/>
        <p:cNvGrpSpPr/>
        <p:nvPr/>
      </p:nvGrpSpPr>
      <p:grpSpPr>
        <a:xfrm xmlns:a="http://schemas.openxmlformats.org/drawingml/2006/main"/>
      </p:grpSpPr>
      <p:sp>
        <p:nvSpPr>
          <p:cNvPr id="18" name="exit-accent">
            <a:extLst xmlns:a="http://schemas.openxmlformats.org/drawingml/2006/main">
              <a:ext uri="{FF2B5EF4-FFF2-40B4-BE49-F238E27FC236}">
                <a16:creationId xmlns:a16="http://schemas.microsoft.com/office/drawing/2014/main" id="{49AE3376-331A-4B58-BC82-32B1C06A16FD}"/>
              </a:ext>
            </a:extLst>
          </p:cNvPr>
          <p:cNvSpPr>
            <a:spLocks xmlns:a="http://schemas.openxmlformats.org/drawingml/2006/main" noGrp="1"/>
          </p:cNvSpPr>
          <p:nvPr/>
        </p:nvSpPr>
        <p:spPr>
          <a:xfrm xmlns:a="http://schemas.openxmlformats.org/drawingml/2006/main">
            <a:off x="685800" y="533400"/>
            <a:ext cx="800100" cy="76200"/>
          </a:xfrm>
          <a:prstGeom xmlns:a="http://schemas.openxmlformats.org/drawingml/2006/main" prst="rect">
            <a:avLst/>
          </a:prstGeom>
          <a:solidFill xmlns:a="http://schemas.openxmlformats.org/drawingml/2006/main">
            <a:srgbClr val="E7AD31"/>
          </a:solidFill>
          <a:ln xmlns:a="http://schemas.openxmlformats.org/drawingml/2006/main" w="0">
            <a:solidFill>
              <a:srgbClr val="E7AD31"/>
            </a:solidFill>
            <a:prstDash val="solid"/>
          </a:ln>
        </p:spPr>
      </p:sp>
      <p:sp>
        <p:nvSpPr>
          <p:cNvPr id="2" name="exit-kicker">
            <a:extLst xmlns:a="http://schemas.openxmlformats.org/drawingml/2006/main">
              <a:ext uri="{FF2B5EF4-FFF2-40B4-BE49-F238E27FC236}">
                <a16:creationId xmlns:a16="http://schemas.microsoft.com/office/drawing/2014/main" id="{89FC1DC9-9DC5-475D-AB33-64C019E9FE4A}"/>
              </a:ext>
            </a:extLst>
          </p:cNvPr>
          <p:cNvSpPr>
            <a:spLocks xmlns:a="http://schemas.openxmlformats.org/drawingml/2006/main" noGrp="1"/>
          </p:cNvSpPr>
          <p:nvPr/>
        </p:nvSpPr>
        <p:spPr>
          <a:xfrm xmlns:a="http://schemas.openxmlformats.org/drawingml/2006/main">
            <a:off x="685800" y="828675"/>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E6D9"/>
                </a:solidFill>
              </a:defRPr>
            </a:pPr>
            <a:r>
              <a:rPr sz="1125" b="1">
                <a:solidFill>
                  <a:srgbClr val="FFE6D9"/>
                </a:solidFill>
              </a:rPr>
              <a:t>MODULE 3  •  EXIT EVIDENCE</a:t>
            </a:r>
          </a:p>
        </p:txBody>
      </p:sp>
      <p:sp>
        <p:nvSpPr>
          <p:cNvPr id="3" name="exit-title">
            <a:extLst xmlns:a="http://schemas.openxmlformats.org/drawingml/2006/main">
              <a:ext uri="{FF2B5EF4-FFF2-40B4-BE49-F238E27FC236}">
                <a16:creationId xmlns:a16="http://schemas.microsoft.com/office/drawing/2014/main" id="{B2580AFE-0870-4AA4-B999-8EF3E556E750}"/>
              </a:ext>
            </a:extLst>
          </p:cNvPr>
          <p:cNvSpPr>
            <a:spLocks xmlns:a="http://schemas.openxmlformats.org/drawingml/2006/main" noGrp="1"/>
          </p:cNvSpPr>
          <p:nvPr/>
        </p:nvSpPr>
        <p:spPr>
          <a:xfrm xmlns:a="http://schemas.openxmlformats.org/drawingml/2006/main">
            <a:off x="685800" y="1219200"/>
            <a:ext cx="714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you pack up…</a:t>
            </a:r>
          </a:p>
        </p:txBody>
      </p:sp>
      <p:sp>
        <p:nvSpPr>
          <p:cNvPr id="4" name="exit-row-1">
            <a:extLst xmlns:a="http://schemas.openxmlformats.org/drawingml/2006/main">
              <a:ext uri="{FF2B5EF4-FFF2-40B4-BE49-F238E27FC236}">
                <a16:creationId xmlns:a16="http://schemas.microsoft.com/office/drawing/2014/main" id="{25F3DE28-7C5E-4675-A0C7-55CF98CBDA40}"/>
              </a:ext>
            </a:extLst>
          </p:cNvPr>
          <p:cNvSpPr>
            <a:spLocks xmlns:a="http://schemas.openxmlformats.org/drawingml/2006/main" noGrp="1"/>
          </p:cNvSpPr>
          <p:nvPr/>
        </p:nvSpPr>
        <p:spPr>
          <a:xfrm xmlns:a="http://schemas.openxmlformats.org/drawingml/2006/main">
            <a:off x="685800" y="2190750"/>
            <a:ext cx="80962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0">
            <a:solidFill>
              <a:srgbClr val="FFFFFF"/>
            </a:solidFill>
            <a:prstDash val="solid"/>
          </a:ln>
        </p:spPr>
      </p:sp>
      <p:sp>
        <p:nvSpPr>
          <p:cNvPr id="5" name="exit-number-1">
            <a:extLst xmlns:a="http://schemas.openxmlformats.org/drawingml/2006/main">
              <a:ext uri="{FF2B5EF4-FFF2-40B4-BE49-F238E27FC236}">
                <a16:creationId xmlns:a16="http://schemas.microsoft.com/office/drawing/2014/main" id="{77BE366E-56FC-42A0-8353-9A6859CEEF74}"/>
              </a:ext>
            </a:extLst>
          </p:cNvPr>
          <p:cNvSpPr>
            <a:spLocks xmlns:a="http://schemas.openxmlformats.org/drawingml/2006/main" noGrp="1"/>
          </p:cNvSpPr>
          <p:nvPr/>
        </p:nvSpPr>
        <p:spPr>
          <a:xfrm xmlns:a="http://schemas.openxmlformats.org/drawingml/2006/main">
            <a:off x="895350" y="23431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B84932"/>
                </a:solidFill>
              </a:defRPr>
            </a:pPr>
            <a:r>
              <a:rPr sz="1725" b="1">
                <a:solidFill>
                  <a:srgbClr val="B84932"/>
                </a:solidFill>
              </a:rPr>
              <a:t>1</a:t>
            </a:r>
          </a:p>
        </p:txBody>
      </p:sp>
      <p:sp>
        <p:nvSpPr>
          <p:cNvPr id="6" name="exit-prompt-1">
            <a:extLst xmlns:a="http://schemas.openxmlformats.org/drawingml/2006/main">
              <a:ext uri="{FF2B5EF4-FFF2-40B4-BE49-F238E27FC236}">
                <a16:creationId xmlns:a16="http://schemas.microsoft.com/office/drawing/2014/main" id="{DEE54A5D-02B4-4946-ADCE-75098F7B97CA}"/>
              </a:ext>
            </a:extLst>
          </p:cNvPr>
          <p:cNvSpPr>
            <a:spLocks xmlns:a="http://schemas.openxmlformats.org/drawingml/2006/main" noGrp="1"/>
          </p:cNvSpPr>
          <p:nvPr/>
        </p:nvSpPr>
        <p:spPr>
          <a:xfrm xmlns:a="http://schemas.openxmlformats.org/drawingml/2006/main">
            <a:off x="1466850" y="2333625"/>
            <a:ext cx="6991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13F30"/>
                </a:solidFill>
              </a:defRPr>
            </a:pPr>
            <a:r>
              <a:rPr sz="1725" b="1">
                <a:solidFill>
                  <a:srgbClr val="113F30"/>
                </a:solidFill>
              </a:rPr>
              <a:t>One idea I can now explain is…</a:t>
            </a:r>
          </a:p>
        </p:txBody>
      </p:sp>
      <p:sp>
        <p:nvSpPr>
          <p:cNvPr id="7" name="exit-row-2">
            <a:extLst xmlns:a="http://schemas.openxmlformats.org/drawingml/2006/main">
              <a:ext uri="{FF2B5EF4-FFF2-40B4-BE49-F238E27FC236}">
                <a16:creationId xmlns:a16="http://schemas.microsoft.com/office/drawing/2014/main" id="{2172BC21-B685-44ED-B111-6763BA9EB94B}"/>
              </a:ext>
            </a:extLst>
          </p:cNvPr>
          <p:cNvSpPr>
            <a:spLocks xmlns:a="http://schemas.openxmlformats.org/drawingml/2006/main" noGrp="1"/>
          </p:cNvSpPr>
          <p:nvPr/>
        </p:nvSpPr>
        <p:spPr>
          <a:xfrm xmlns:a="http://schemas.openxmlformats.org/drawingml/2006/main">
            <a:off x="685800" y="3086100"/>
            <a:ext cx="80962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0">
            <a:solidFill>
              <a:srgbClr val="FFFFFF"/>
            </a:solidFill>
            <a:prstDash val="solid"/>
          </a:ln>
        </p:spPr>
      </p:sp>
      <p:sp>
        <p:nvSpPr>
          <p:cNvPr id="8" name="exit-number-2">
            <a:extLst xmlns:a="http://schemas.openxmlformats.org/drawingml/2006/main">
              <a:ext uri="{FF2B5EF4-FFF2-40B4-BE49-F238E27FC236}">
                <a16:creationId xmlns:a16="http://schemas.microsoft.com/office/drawing/2014/main" id="{0FC5A47E-D255-4938-AF1B-12941E01FA88}"/>
              </a:ext>
            </a:extLst>
          </p:cNvPr>
          <p:cNvSpPr>
            <a:spLocks xmlns:a="http://schemas.openxmlformats.org/drawingml/2006/main" noGrp="1"/>
          </p:cNvSpPr>
          <p:nvPr/>
        </p:nvSpPr>
        <p:spPr>
          <a:xfrm xmlns:a="http://schemas.openxmlformats.org/drawingml/2006/main">
            <a:off x="895350" y="32385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B84932"/>
                </a:solidFill>
              </a:defRPr>
            </a:pPr>
            <a:r>
              <a:rPr sz="1725" b="1">
                <a:solidFill>
                  <a:srgbClr val="B84932"/>
                </a:solidFill>
              </a:rPr>
              <a:t>2</a:t>
            </a:r>
          </a:p>
        </p:txBody>
      </p:sp>
      <p:sp>
        <p:nvSpPr>
          <p:cNvPr id="9" name="exit-prompt-2">
            <a:extLst xmlns:a="http://schemas.openxmlformats.org/drawingml/2006/main">
              <a:ext uri="{FF2B5EF4-FFF2-40B4-BE49-F238E27FC236}">
                <a16:creationId xmlns:a16="http://schemas.microsoft.com/office/drawing/2014/main" id="{A8EAA4D5-2288-41F0-A46E-2D469726F39C}"/>
              </a:ext>
            </a:extLst>
          </p:cNvPr>
          <p:cNvSpPr>
            <a:spLocks xmlns:a="http://schemas.openxmlformats.org/drawingml/2006/main" noGrp="1"/>
          </p:cNvSpPr>
          <p:nvPr/>
        </p:nvSpPr>
        <p:spPr>
          <a:xfrm xmlns:a="http://schemas.openxmlformats.org/drawingml/2006/main">
            <a:off x="1466850" y="3228975"/>
            <a:ext cx="6991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13F30"/>
                </a:solidFill>
              </a:defRPr>
            </a:pPr>
            <a:r>
              <a:rPr sz="1725" b="1">
                <a:solidFill>
                  <a:srgbClr val="113F30"/>
                </a:solidFill>
              </a:rPr>
              <a:t>One design or production decision this changes is…</a:t>
            </a:r>
          </a:p>
        </p:txBody>
      </p:sp>
      <p:sp>
        <p:nvSpPr>
          <p:cNvPr id="10" name="exit-row-3">
            <a:extLst xmlns:a="http://schemas.openxmlformats.org/drawingml/2006/main">
              <a:ext uri="{FF2B5EF4-FFF2-40B4-BE49-F238E27FC236}">
                <a16:creationId xmlns:a16="http://schemas.microsoft.com/office/drawing/2014/main" id="{9AE8A9B6-7C93-4D2B-A2AC-BBC3F65779D4}"/>
              </a:ext>
            </a:extLst>
          </p:cNvPr>
          <p:cNvSpPr>
            <a:spLocks xmlns:a="http://schemas.openxmlformats.org/drawingml/2006/main" noGrp="1"/>
          </p:cNvSpPr>
          <p:nvPr/>
        </p:nvSpPr>
        <p:spPr>
          <a:xfrm xmlns:a="http://schemas.openxmlformats.org/drawingml/2006/main">
            <a:off x="685800" y="3981450"/>
            <a:ext cx="8096250" cy="666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0">
            <a:solidFill>
              <a:srgbClr val="FFFFFF"/>
            </a:solidFill>
            <a:prstDash val="solid"/>
          </a:ln>
        </p:spPr>
      </p:sp>
      <p:sp>
        <p:nvSpPr>
          <p:cNvPr id="11" name="exit-number-3">
            <a:extLst xmlns:a="http://schemas.openxmlformats.org/drawingml/2006/main">
              <a:ext uri="{FF2B5EF4-FFF2-40B4-BE49-F238E27FC236}">
                <a16:creationId xmlns:a16="http://schemas.microsoft.com/office/drawing/2014/main" id="{5C4777BA-BC77-4C1D-A393-67FFC06DBA9F}"/>
              </a:ext>
            </a:extLst>
          </p:cNvPr>
          <p:cNvSpPr>
            <a:spLocks xmlns:a="http://schemas.openxmlformats.org/drawingml/2006/main" noGrp="1"/>
          </p:cNvSpPr>
          <p:nvPr/>
        </p:nvSpPr>
        <p:spPr>
          <a:xfrm xmlns:a="http://schemas.openxmlformats.org/drawingml/2006/main">
            <a:off x="895350" y="41338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B84932"/>
                </a:solidFill>
              </a:defRPr>
            </a:pPr>
            <a:r>
              <a:rPr sz="1725" b="1">
                <a:solidFill>
                  <a:srgbClr val="B84932"/>
                </a:solidFill>
              </a:rPr>
              <a:t>3</a:t>
            </a:r>
          </a:p>
        </p:txBody>
      </p:sp>
      <p:sp>
        <p:nvSpPr>
          <p:cNvPr id="12" name="exit-prompt-3">
            <a:extLst xmlns:a="http://schemas.openxmlformats.org/drawingml/2006/main">
              <a:ext uri="{FF2B5EF4-FFF2-40B4-BE49-F238E27FC236}">
                <a16:creationId xmlns:a16="http://schemas.microsoft.com/office/drawing/2014/main" id="{3DC18164-9E1B-4F2D-8022-BA557261F8D7}"/>
              </a:ext>
            </a:extLst>
          </p:cNvPr>
          <p:cNvSpPr>
            <a:spLocks xmlns:a="http://schemas.openxmlformats.org/drawingml/2006/main" noGrp="1"/>
          </p:cNvSpPr>
          <p:nvPr/>
        </p:nvSpPr>
        <p:spPr>
          <a:xfrm xmlns:a="http://schemas.openxmlformats.org/drawingml/2006/main">
            <a:off x="1466850" y="4124325"/>
            <a:ext cx="6991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13F30"/>
                </a:solidFill>
              </a:defRPr>
            </a:pPr>
            <a:r>
              <a:rPr sz="1725" b="1">
                <a:solidFill>
                  <a:srgbClr val="113F30"/>
                </a:solidFill>
              </a:rPr>
              <a:t>One question I still need answered is…</a:t>
            </a:r>
          </a:p>
        </p:txBody>
      </p:sp>
      <p:sp>
        <p:nvSpPr>
          <p:cNvPr id="13" name="exit-evidence-circle">
            <a:extLst xmlns:a="http://schemas.openxmlformats.org/drawingml/2006/main">
              <a:ext uri="{FF2B5EF4-FFF2-40B4-BE49-F238E27FC236}">
                <a16:creationId xmlns:a16="http://schemas.microsoft.com/office/drawing/2014/main" id="{80E17E8F-2FFA-404E-A255-C22B71E38922}"/>
              </a:ext>
            </a:extLst>
          </p:cNvPr>
          <p:cNvSpPr>
            <a:spLocks xmlns:a="http://schemas.openxmlformats.org/drawingml/2006/main" noGrp="1"/>
          </p:cNvSpPr>
          <p:nvPr/>
        </p:nvSpPr>
        <p:spPr>
          <a:xfrm xmlns:a="http://schemas.openxmlformats.org/drawingml/2006/main">
            <a:off x="9525000" y="2476500"/>
            <a:ext cx="1600200" cy="1600200"/>
          </a:xfrm>
          <a:prstGeom xmlns:a="http://schemas.openxmlformats.org/drawingml/2006/main" prst="roundRect">
            <a:avLst>
              <a:gd name="adj" fmla="val 50000"/>
            </a:avLst>
          </a:prstGeom>
          <a:solidFill xmlns:a="http://schemas.openxmlformats.org/drawingml/2006/main">
            <a:srgbClr val="E7AD31"/>
          </a:solidFill>
          <a:ln xmlns:a="http://schemas.openxmlformats.org/drawingml/2006/main" w="0">
            <a:solidFill>
              <a:srgbClr val="E7AD31"/>
            </a:solidFill>
            <a:prstDash val="solid"/>
          </a:ln>
        </p:spPr>
      </p:sp>
      <p:sp>
        <p:nvSpPr>
          <p:cNvPr id="14" name="exit-evidence-label">
            <a:extLst xmlns:a="http://schemas.openxmlformats.org/drawingml/2006/main">
              <a:ext uri="{FF2B5EF4-FFF2-40B4-BE49-F238E27FC236}">
                <a16:creationId xmlns:a16="http://schemas.microsoft.com/office/drawing/2014/main" id="{29A65080-3EB7-43E0-8C6A-1BD8F9D7FC43}"/>
              </a:ext>
            </a:extLst>
          </p:cNvPr>
          <p:cNvSpPr>
            <a:spLocks xmlns:a="http://schemas.openxmlformats.org/drawingml/2006/main" noGrp="1"/>
          </p:cNvSpPr>
          <p:nvPr/>
        </p:nvSpPr>
        <p:spPr>
          <a:xfrm xmlns:a="http://schemas.openxmlformats.org/drawingml/2006/main">
            <a:off x="9744075" y="2819400"/>
            <a:ext cx="11620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13F30"/>
                </a:solidFill>
              </a:defRPr>
            </a:pPr>
            <a:r>
              <a:rPr sz="1725" b="1">
                <a:solidFill>
                  <a:srgbClr val="113F30"/>
                </a:solidFill>
              </a:rPr>
              <a:t>SAVE</a:t>
            </a:r>
          </a:p>
          <a:p xmlns:a="http://schemas.openxmlformats.org/drawingml/2006/main">
            <a:pPr algn="ctr">
              <a:defRPr sz="1725" b="1">
                <a:solidFill>
                  <a:srgbClr val="113F30"/>
                </a:solidFill>
              </a:defRPr>
            </a:pPr>
            <a:r>
              <a:rPr sz="1725" b="1">
                <a:solidFill>
                  <a:srgbClr val="113F30"/>
                </a:solidFill>
              </a:rPr>
              <a:t>YOUR</a:t>
            </a:r>
          </a:p>
          <a:p xmlns:a="http://schemas.openxmlformats.org/drawingml/2006/main">
            <a:pPr algn="ctr">
              <a:defRPr sz="1725" b="1">
                <a:solidFill>
                  <a:srgbClr val="113F30"/>
                </a:solidFill>
              </a:defRPr>
            </a:pPr>
            <a:r>
              <a:rPr sz="1725" b="1">
                <a:solidFill>
                  <a:srgbClr val="113F30"/>
                </a:solidFill>
              </a:rPr>
              <a:t>EVIDENCE</a:t>
            </a:r>
          </a:p>
        </p:txBody>
      </p:sp>
      <p:sp>
        <p:nvSpPr>
          <p:cNvPr id="15" name="exit-folio">
            <a:extLst xmlns:a="http://schemas.openxmlformats.org/drawingml/2006/main">
              <a:ext uri="{FF2B5EF4-FFF2-40B4-BE49-F238E27FC236}">
                <a16:creationId xmlns:a16="http://schemas.microsoft.com/office/drawing/2014/main" id="{FCCD7871-3B93-4301-ACC0-F5C175EED536}"/>
              </a:ext>
            </a:extLst>
          </p:cNvPr>
          <p:cNvSpPr>
            <a:spLocks xmlns:a="http://schemas.openxmlformats.org/drawingml/2006/main" noGrp="1"/>
          </p:cNvSpPr>
          <p:nvPr/>
        </p:nvSpPr>
        <p:spPr>
          <a:xfrm xmlns:a="http://schemas.openxmlformats.org/drawingml/2006/main">
            <a:off x="685800" y="5210175"/>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My folio cards 6–7: Material reasoning; Production plan and approval checkpoint.</a:t>
            </a:r>
          </a:p>
        </p:txBody>
      </p:sp>
      <p:sp>
        <p:nvSpPr>
          <p:cNvPr id="16" name="exit-next">
            <a:extLst xmlns:a="http://schemas.openxmlformats.org/drawingml/2006/main">
              <a:ext uri="{FF2B5EF4-FFF2-40B4-BE49-F238E27FC236}">
                <a16:creationId xmlns:a16="http://schemas.microsoft.com/office/drawing/2014/main" id="{0C5B5FD4-73CD-4644-800F-87A68F02FE4D}"/>
              </a:ext>
            </a:extLst>
          </p:cNvPr>
          <p:cNvSpPr>
            <a:spLocks xmlns:a="http://schemas.openxmlformats.org/drawingml/2006/main" noGrp="1"/>
          </p:cNvSpPr>
          <p:nvPr/>
        </p:nvSpPr>
        <p:spPr>
          <a:xfrm xmlns:a="http://schemas.openxmlformats.org/drawingml/2006/main">
            <a:off x="685800" y="5810250"/>
            <a:ext cx="1043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FFE6D9"/>
                </a:solidFill>
              </a:defRPr>
            </a:pPr>
            <a:r>
              <a:rPr sz="1425" b="0">
                <a:solidFill>
                  <a:srgbClr val="FFE6D9"/>
                </a:solidFill>
              </a:rPr>
              <a:t>Next: follow a teacher-authorised production sequence and record quality evidence.</a:t>
            </a:r>
          </a:p>
        </p:txBody>
      </p:sp>
      <p:sp>
        <p:nvSpPr>
          <p:cNvPr id="17" name="exit-page">
            <a:extLst xmlns:a="http://schemas.openxmlformats.org/drawingml/2006/main">
              <a:ext uri="{FF2B5EF4-FFF2-40B4-BE49-F238E27FC236}">
                <a16:creationId xmlns:a16="http://schemas.microsoft.com/office/drawing/2014/main" id="{BDF878BE-E0C5-4EEB-A939-67344DED38CF}"/>
              </a:ext>
            </a:extLst>
          </p:cNvPr>
          <p:cNvSpPr>
            <a:spLocks xmlns:a="http://schemas.openxmlformats.org/drawingml/2006/main" noGrp="1"/>
          </p:cNvSpPr>
          <p:nvPr/>
        </p:nvSpPr>
        <p:spPr>
          <a:xfrm xmlns:a="http://schemas.openxmlformats.org/drawingml/2006/main">
            <a:off x="10744200" y="641985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FE6D9"/>
                </a:solidFill>
              </a:defRPr>
            </a:pPr>
            <a:r>
              <a:rPr sz="900" b="1">
                <a:solidFill>
                  <a:srgbClr val="FFE6D9"/>
                </a:solidFill>
              </a:rPr>
              <a:t>8 / 8</a:t>
            </a:r>
          </a:p>
        </p:txBody>
      </p:sp>
    </p:spTree>
    <p:extLst>
      <p:ext uri="{BB962C8B-B14F-4D97-AF65-F5344CB8AC3E}">
        <p14:creationId xmlns:p14="http://schemas.microsoft.com/office/powerpoint/2010/main" val="10890651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2026-08-31T23:37:13.2340000Z</dcterms:created>
  <dcterms:modified xsi:type="dcterms:W3CDTF">2026-08-31T23:37:13.2340000Z</dcterms:modified>
</coreProperties>
</file>