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1c16e0ee9ed4e7b" /><Relationship Type="http://schemas.openxmlformats.org/officeDocument/2006/relationships/extended-properties" Target="/docProps/app.xml" Id="Rcfa8495d37974443" /><Relationship Type="http://schemas.openxmlformats.org/officeDocument/2006/relationships/officeDocument" Target="/ppt/presentation.xml" Id="R30ef72ee9d8a4bed" /></Relationships>
</file>

<file path=ppt/presentation.xml><?xml version="1.0" encoding="utf-8"?>
<p:presentation xmlns:p="http://schemas.openxmlformats.org/presentationml/2006/main">
  <p:sldMasterIdLst>
    <p:sldMasterId xmlns:r="http://schemas.openxmlformats.org/officeDocument/2006/relationships" id="2147483648" r:id="Rf50b70fbe0ce4710"/>
  </p:sldMasterIdLst>
  <p:notesMasterIdLst>
    <p:notesMasterId xmlns:r="http://schemas.openxmlformats.org/officeDocument/2006/relationships" r:id="Rbce3c4fc2a794e81"/>
  </p:notesMasterIdLst>
  <p:sldIdLst>
    <p:sldId xmlns:r="http://schemas.openxmlformats.org/officeDocument/2006/relationships" id="256" r:id="Rd564238e9dc04342"/>
    <p:sldId xmlns:r="http://schemas.openxmlformats.org/officeDocument/2006/relationships" id="257" r:id="R3961947b03b045dd"/>
    <p:sldId xmlns:r="http://schemas.openxmlformats.org/officeDocument/2006/relationships" id="258" r:id="R37e7453e8ca041fc"/>
    <p:sldId xmlns:r="http://schemas.openxmlformats.org/officeDocument/2006/relationships" id="259" r:id="R44ffe7b4267a48cb"/>
    <p:sldId xmlns:r="http://schemas.openxmlformats.org/officeDocument/2006/relationships" id="260" r:id="Rbbd2b0a5b4ab48e9"/>
    <p:sldId xmlns:r="http://schemas.openxmlformats.org/officeDocument/2006/relationships" id="261" r:id="Rb2833ff5e99c47b5"/>
    <p:sldId xmlns:r="http://schemas.openxmlformats.org/officeDocument/2006/relationships" id="262" r:id="Rd300d42c600b4f5e"/>
    <p:sldId xmlns:r="http://schemas.openxmlformats.org/officeDocument/2006/relationships" id="263" r:id="R97c688cc39ad47a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048a92912274ba1" /><Relationship Type="http://schemas.openxmlformats.org/officeDocument/2006/relationships/slideMaster" Target="/ppt/slideMasters/slideMaster1.xml" Id="Rf50b70fbe0ce4710" /><Relationship Type="http://schemas.openxmlformats.org/officeDocument/2006/relationships/notesMaster" Target="/ppt/notesMasters/notesMaster1.xml" Id="Rbce3c4fc2a794e81" /><Relationship Type="http://schemas.openxmlformats.org/officeDocument/2006/relationships/presProps" Target="/ppt/presProps.xml" Id="R0ca6dec250b747d2" /><Relationship Type="http://schemas.openxmlformats.org/officeDocument/2006/relationships/tableStyles" Target="/ppt/tableStyles.xml" Id="Rf48b115e1291479d" /><Relationship Type="http://schemas.openxmlformats.org/officeDocument/2006/relationships/slide" Target="/ppt/slides/slide1.xml" Id="Rd564238e9dc04342" /><Relationship Type="http://schemas.openxmlformats.org/officeDocument/2006/relationships/slide" Target="/ppt/slides/slide2.xml" Id="R3961947b03b045dd" /><Relationship Type="http://schemas.openxmlformats.org/officeDocument/2006/relationships/slide" Target="/ppt/slides/slide3.xml" Id="R37e7453e8ca041fc" /><Relationship Type="http://schemas.openxmlformats.org/officeDocument/2006/relationships/slide" Target="/ppt/slides/slide4.xml" Id="R44ffe7b4267a48cb" /><Relationship Type="http://schemas.openxmlformats.org/officeDocument/2006/relationships/slide" Target="/ppt/slides/slide5.xml" Id="Rbbd2b0a5b4ab48e9" /><Relationship Type="http://schemas.openxmlformats.org/officeDocument/2006/relationships/slide" Target="/ppt/slides/slide6.xml" Id="Rb2833ff5e99c47b5" /><Relationship Type="http://schemas.openxmlformats.org/officeDocument/2006/relationships/slide" Target="/ppt/slides/slide7.xml" Id="Rd300d42c600b4f5e" /><Relationship Type="http://schemas.openxmlformats.org/officeDocument/2006/relationships/slide" Target="/ppt/slides/slide8.xml" Id="R97c688cc39ad47a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e97d8f8b043430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793aad4ff5b468b" /><Relationship Type="http://schemas.openxmlformats.org/officeDocument/2006/relationships/notesMaster" Target="/ppt/notesMasters/notesMaster1.xml" Id="Rcf6e4c8a744e471b" /></Relationships>
</file>

<file path=ppt/notesSlides/_rels/notesSlide2.xml.rels>&#65279;<?xml version="1.0" encoding="utf-8"?><Relationships xmlns="http://schemas.openxmlformats.org/package/2006/relationships"><Relationship Type="http://schemas.openxmlformats.org/officeDocument/2006/relationships/slide" Target="/ppt/slides/slide2.xml" Id="R8578bcceb4024c9a" /><Relationship Type="http://schemas.openxmlformats.org/officeDocument/2006/relationships/notesMaster" Target="/ppt/notesMasters/notesMaster1.xml" Id="R95869341e80d47be" /></Relationships>
</file>

<file path=ppt/notesSlides/_rels/notesSlide3.xml.rels>&#65279;<?xml version="1.0" encoding="utf-8"?><Relationships xmlns="http://schemas.openxmlformats.org/package/2006/relationships"><Relationship Type="http://schemas.openxmlformats.org/officeDocument/2006/relationships/slide" Target="/ppt/slides/slide3.xml" Id="R5d3cd567cdf34b42" /><Relationship Type="http://schemas.openxmlformats.org/officeDocument/2006/relationships/notesMaster" Target="/ppt/notesMasters/notesMaster1.xml" Id="Rb3a5971f72e4478e" /></Relationships>
</file>

<file path=ppt/notesSlides/_rels/notesSlide4.xml.rels>&#65279;<?xml version="1.0" encoding="utf-8"?><Relationships xmlns="http://schemas.openxmlformats.org/package/2006/relationships"><Relationship Type="http://schemas.openxmlformats.org/officeDocument/2006/relationships/slide" Target="/ppt/slides/slide4.xml" Id="Rea428d6b18814e54" /><Relationship Type="http://schemas.openxmlformats.org/officeDocument/2006/relationships/notesMaster" Target="/ppt/notesMasters/notesMaster1.xml" Id="R95ec21a68152445f" /></Relationships>
</file>

<file path=ppt/notesSlides/_rels/notesSlide5.xml.rels>&#65279;<?xml version="1.0" encoding="utf-8"?><Relationships xmlns="http://schemas.openxmlformats.org/package/2006/relationships"><Relationship Type="http://schemas.openxmlformats.org/officeDocument/2006/relationships/slide" Target="/ppt/slides/slide5.xml" Id="R2d3c1da3a02d4386" /><Relationship Type="http://schemas.openxmlformats.org/officeDocument/2006/relationships/notesMaster" Target="/ppt/notesMasters/notesMaster1.xml" Id="R50a18024895e4e2a" /></Relationships>
</file>

<file path=ppt/notesSlides/_rels/notesSlide6.xml.rels>&#65279;<?xml version="1.0" encoding="utf-8"?><Relationships xmlns="http://schemas.openxmlformats.org/package/2006/relationships"><Relationship Type="http://schemas.openxmlformats.org/officeDocument/2006/relationships/slide" Target="/ppt/slides/slide6.xml" Id="Rd370f69d2d1547e0" /><Relationship Type="http://schemas.openxmlformats.org/officeDocument/2006/relationships/notesMaster" Target="/ppt/notesMasters/notesMaster1.xml" Id="R5a791e0b33ce452b" /></Relationships>
</file>

<file path=ppt/notesSlides/_rels/notesSlide7.xml.rels>&#65279;<?xml version="1.0" encoding="utf-8"?><Relationships xmlns="http://schemas.openxmlformats.org/package/2006/relationships"><Relationship Type="http://schemas.openxmlformats.org/officeDocument/2006/relationships/slide" Target="/ppt/slides/slide7.xml" Id="R913735e0e79c4a5a" /><Relationship Type="http://schemas.openxmlformats.org/officeDocument/2006/relationships/notesMaster" Target="/ppt/notesMasters/notesMaster1.xml" Id="Re26bf82bf1d84de1" /></Relationships>
</file>

<file path=ppt/notesSlides/_rels/notesSlide8.xml.rels>&#65279;<?xml version="1.0" encoding="utf-8"?><Relationships xmlns="http://schemas.openxmlformats.org/package/2006/relationships"><Relationship Type="http://schemas.openxmlformats.org/officeDocument/2006/relationships/slide" Target="/ppt/slides/slide8.xml" Id="R78aaca557e89440d" /><Relationship Type="http://schemas.openxmlformats.org/officeDocument/2006/relationships/notesMaster" Target="/ppt/notesMasters/notesMaster1.xml" Id="Raa98996e625e4a4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establish why Module 2 matters and connect it to the student's approved project pathway.</a:t>
            </a:r>
          </a:p>
          <a:p xmlns:a="http://schemas.openxmlformats.org/drawingml/2006/main">
            <a:r>
              <a:t>Say: Use vector ideas, annotations and peer evidence to make a design readable and reviewable.</a:t>
            </a:r>
          </a:p>
          <a:p xmlns:a="http://schemas.openxmlformats.org/drawingml/2006/main">
            <a:r>
              <a:t>Prompt: Which word in the outcome names the decision students will make or explain?</a:t>
            </a:r>
          </a:p>
          <a:p xmlns:a="http://schemas.openxmlformats.org/drawingml/2006/main">
            <a:r>
              <a:t>Transition: The next slide maps the three ideas that build that decision.</a:t>
            </a:r>
          </a:p>
          <a:p xmlns:a="http://schemas.openxmlformats.org/drawingml/2006/main">
            <a:r>
              <a:t/>
            </a:r>
          </a:p>
          <a:p xmlns:a="http://schemas.openxmlformats.org/drawingml/2006/main">
            <a:r>
              <a:t>Local procedure boundary: This deck teaches design and production thinking only. Before any practical action, follow the current teacher-approved plan, demonstration, risk controls, materials, tools, process and authorisation.</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a:p xmlns:a="http://schemas.openxmlformats.org/drawingml/2006/main">
            <a:r>
              <a:t>- Original generated course visual: outputs/swinging-sign-course-site/assets/teaching/module-02-overview.png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preview the three named sections as one connected learning progression.</a:t>
            </a:r>
          </a:p>
          <a:p xmlns:a="http://schemas.openxmlformats.org/drawingml/2006/main">
            <a:r>
              <a:t>Warm-up prompt: Retrieval: name one criterion that should influence how a sign communicates.</a:t>
            </a:r>
          </a:p>
          <a:p xmlns:a="http://schemas.openxmlformats.org/drawingml/2006/main">
            <a:r>
              <a:t>Invite a silent answer first, then take two contrasting responses. Do not resolve every detail yet.</a:t>
            </a:r>
          </a:p>
          <a:p xmlns:a="http://schemas.openxmlformats.org/drawingml/2006/main">
            <a:r>
              <a:t>Transition: Move from the route map into the first idea and ask students to listen for evidence they can reuse later.</a:t>
            </a:r>
          </a:p>
          <a:p xmlns:a="http://schemas.openxmlformats.org/drawingml/2006/main">
            <a:r>
              <a:t/>
            </a:r>
          </a:p>
          <a:p xmlns:a="http://schemas.openxmlformats.org/drawingml/2006/main">
            <a:r>
              <a:t>Local procedure boundary: This deck teaches design and production thinking only. Before any practical action, follow the current teacher-approved plan, demonstration, risk controls, materials, tools, process and authorisation.</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teach vector and bitmap as part of the module's connected decision-making sequence.</a:t>
            </a:r>
          </a:p>
          <a:p xmlns:a="http://schemas.openxmlformats.org/drawingml/2006/main">
            <a:r>
              <a:t>Key explanation: Vector graphics use editable points and paths, so clean shapes and lettering can scale without pixelation. Bitmap graphics use pixels and suit photographs or detailed textures, but enlargement can reveal the grid. Placing a photograph in a vector file does not convert it. Automatic tracing still needs purposeful review.</a:t>
            </a:r>
          </a:p>
          <a:p xmlns:a="http://schemas.openxmlformats.org/drawingml/2006/main">
            <a:r>
              <a:t>Prompt to the room: Choose a format for a product photograph and for clean editable lettering. Justify both choices.</a:t>
            </a:r>
          </a:p>
          <a:p xmlns:a="http://schemas.openxmlformats.org/drawingml/2006/main">
            <a:r>
              <a:t>Likely misconception: A vector file can still contain a bitmap object.</a:t>
            </a:r>
          </a:p>
          <a:p xmlns:a="http://schemas.openxmlformats.org/drawingml/2006/main">
            <a:r>
              <a:t>Transition: Ask students to keep one precise term or relationship for the retrieval slide.</a:t>
            </a:r>
          </a:p>
          <a:p xmlns:a="http://schemas.openxmlformats.org/drawingml/2006/main">
            <a:r>
              <a:t/>
            </a:r>
          </a:p>
          <a:p xmlns:a="http://schemas.openxmlformats.org/drawingml/2006/main">
            <a:r>
              <a:t>Local procedure boundary: File formats support design communication; they do not authorise a machine workflow or production setting.</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a:p xmlns:a="http://schemas.openxmlformats.org/drawingml/2006/main">
            <a:r>
              <a:t>- Original generated course visual: outputs/swinging-sign-course-site/assets/teaching/m02s01-vector-and-bitmap.png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teach inkscape tools and paths as part of the module's connected decision-making sequence.</a:t>
            </a:r>
          </a:p>
          <a:p xmlns:a="http://schemas.openxmlformats.org/drawingml/2006/main">
            <a:r>
              <a:t>Key explanation: Use Select for whole objects, Node for path points, and shape or pen tools for purposeful geometry. Fill describes the inside; stroke describes the outline. Grouping and order help another person inspect the design. More nodes do not mean more accuracy. Intentional curves and clear versions make revision safer and faster.</a:t>
            </a:r>
          </a:p>
          <a:p xmlns:a="http://schemas.openxmlformats.org/drawingml/2006/main">
            <a:r>
              <a:t>Prompt to the room: Identify one untidy path problem and name the tool family you would use to improve it.</a:t>
            </a:r>
          </a:p>
          <a:p xmlns:a="http://schemas.openxmlformats.org/drawingml/2006/main">
            <a:r>
              <a:t>Likely misconception: Extra nodes can create bumps and make a curve harder to control.</a:t>
            </a:r>
          </a:p>
          <a:p xmlns:a="http://schemas.openxmlformats.org/drawingml/2006/main">
            <a:r>
              <a:t>Transition: Ask students to keep one precise term or relationship for the retrieval slide.</a:t>
            </a:r>
          </a:p>
          <a:p xmlns:a="http://schemas.openxmlformats.org/drawingml/2006/main">
            <a:r>
              <a:t/>
            </a:r>
          </a:p>
          <a:p xmlns:a="http://schemas.openxmlformats.org/drawingml/2006/main">
            <a:r>
              <a:t>Local procedure boundary: Use only the file setup and production hand-off process demonstrated and approved by your teacher.</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a:p xmlns:a="http://schemas.openxmlformats.org/drawingml/2006/main">
            <a:r>
              <a:t>- Original generated course visual: outputs/swinging-sign-course-site/assets/teaching/m02s02-inkscape-tools-paths.png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teach legibility, annotation and peer review as part of the module's connected decision-making sequence.</a:t>
            </a:r>
          </a:p>
          <a:p xmlns:a="http://schemas.openxmlformats.org/drawingml/2006/main">
            <a:r>
              <a:t>Key explanation: Legibility depends on hierarchy, contrast, spacing, letterform, negative space and viewing context. A useful annotation links feature → reason → intended effect instead of merely naming a feature. Peer review tests the criteria. The designer weighs feedback and returns to the brief before revising.</a:t>
            </a:r>
          </a:p>
          <a:p xmlns:a="http://schemas.openxmlformats.org/drawingml/2006/main">
            <a:r>
              <a:t>Prompt to the room: Write one feature–reason–effect annotation for a change that improves a crowded sign.</a:t>
            </a:r>
          </a:p>
          <a:p xmlns:a="http://schemas.openxmlformats.org/drawingml/2006/main">
            <a:r>
              <a:t>Likely misconception: Peer review does not mean accepting every preference.</a:t>
            </a:r>
          </a:p>
          <a:p xmlns:a="http://schemas.openxmlformats.org/drawingml/2006/main">
            <a:r>
              <a:t>Transition: Ask students to keep one precise term or relationship for the retrieval slide.</a:t>
            </a:r>
          </a:p>
          <a:p xmlns:a="http://schemas.openxmlformats.org/drawingml/2006/main">
            <a:r>
              <a:t/>
            </a:r>
          </a:p>
          <a:p xmlns:a="http://schemas.openxmlformats.org/drawingml/2006/main">
            <a:r>
              <a:t>Local procedure boundary: A clear drawing still requires teacher review before any practical or digital production step.</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a:p xmlns:a="http://schemas.openxmlformats.org/drawingml/2006/main">
            <a:r>
              <a:t>- Original generated course visual: outputs/swinging-sign-course-site/assets/teaching/m02s03-legibility-peer-review.png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retrieve all three taught ideas before students construct a longer response.</a:t>
            </a:r>
          </a:p>
          <a:p xmlns:a="http://schemas.openxmlformats.org/drawingml/2006/main">
            <a:r>
              <a:t>Routine: 45 seconds silent thinking, one partner explanation, then sample reasoning from the room.</a:t>
            </a:r>
          </a:p>
          <a:p xmlns:a="http://schemas.openxmlformats.org/drawingml/2006/main">
            <a:r>
              <a:t>Question 1: What is a vector graphic mainly built from?</a:t>
            </a:r>
          </a:p>
          <a:p xmlns:a="http://schemas.openxmlformats.org/drawingml/2006/main">
            <a:r>
              <a:t>Question 2: Why can too many nodes weaken a simple curve?</a:t>
            </a:r>
          </a:p>
          <a:p xmlns:a="http://schemas.openxmlformats.org/drawingml/2006/main">
            <a:r>
              <a:t>Question 3: What makes an annotation explain rather than label?</a:t>
            </a:r>
          </a:p>
          <a:p xmlns:a="http://schemas.openxmlformats.org/drawingml/2006/main">
            <a:r>
              <a:t>Question 4: How should a designer use conflicting peer feedback?</a:t>
            </a:r>
          </a:p>
          <a:p xmlns:a="http://schemas.openxmlformats.org/drawingml/2006/main">
            <a:r>
              <a:t>Listen for unsupported practical claims. Redirect students to evidence and Teacher to confirm where needed.</a:t>
            </a:r>
          </a:p>
          <a:p xmlns:a="http://schemas.openxmlformats.org/drawingml/2006/main">
            <a:r>
              <a:t/>
            </a:r>
          </a:p>
          <a:p xmlns:a="http://schemas.openxmlformats.org/drawingml/2006/main">
            <a:r>
              <a:t>Local procedure boundary: This deck teaches design and production thinking only. Before any practical action, follow the current teacher-approved plan, demonstration, risk controls, materials, tools, process and authorisation.</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scaffold a higher-order response that joins evidence from all three module sections.</a:t>
            </a:r>
          </a:p>
          <a:p xmlns:a="http://schemas.openxmlformats.org/drawingml/2006/main">
            <a:r>
              <a:t>Read the question aloud: Evaluate a crowded sign concept. Recommend a file-format choice, one path-clean-up action and one legibility revision, then explain how peer evidence would test the change.</a:t>
            </a:r>
          </a:p>
          <a:p xmlns:a="http://schemas.openxmlformats.org/drawingml/2006/main">
            <a:r>
              <a:t>Scaffold: Read: identify the communication problem and intended audience. Select: choose relevant vector, path and legibility ideas. Explain: link each revision to a criterion and user effect. Check: show how feedback will confirm or challenge the revision.</a:t>
            </a:r>
          </a:p>
          <a:p xmlns:a="http://schemas.openxmlformats.org/drawingml/2006/main">
            <a:r>
              <a:t>Model only the first connection, then release students to complete their own explanation.</a:t>
            </a:r>
          </a:p>
          <a:p xmlns:a="http://schemas.openxmlformats.org/drawingml/2006/main">
            <a:r>
              <a:t>Success check: accurate concepts, explicit evidence, a justified decision and honest treatment of unconfirmed local facts.</a:t>
            </a:r>
          </a:p>
          <a:p xmlns:a="http://schemas.openxmlformats.org/drawingml/2006/main">
            <a:r>
              <a:t/>
            </a:r>
          </a:p>
          <a:p xmlns:a="http://schemas.openxmlformats.org/drawingml/2006/main">
            <a:r>
              <a:t>Local procedure boundary: This deck teaches design and production thinking only. Before any practical action, follow the current teacher-approved plan, demonstration, risk controls, materials, tools, process and authorisation.</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Teaching purpose: convert the lesson into immediate, retrievable evidence and make the next step explicit.</a:t>
            </a:r>
          </a:p>
          <a:p xmlns:a="http://schemas.openxmlformats.org/drawingml/2006/main">
            <a:r>
              <a:t>Give students quiet time to complete all three prompts before sharing.</a:t>
            </a:r>
          </a:p>
          <a:p xmlns:a="http://schemas.openxmlformats.org/drawingml/2006/main">
            <a:r>
              <a:t>Evidence destination: My folio cards 4–5: Concept options; Final proposal and annotations.</a:t>
            </a:r>
          </a:p>
          <a:p xmlns:a="http://schemas.openxmlformats.org/drawingml/2006/main">
            <a:r>
              <a:t>Next step: Next: turn the developed concept into a resource-aware proposal for teacher approval.</a:t>
            </a:r>
          </a:p>
          <a:p xmlns:a="http://schemas.openxmlformats.org/drawingml/2006/main">
            <a:r>
              <a:t>Saving to the browser or exporting a folio is not formal submission. Follow the teacher's current submission direction.</a:t>
            </a:r>
          </a:p>
          <a:p xmlns:a="http://schemas.openxmlformats.org/drawingml/2006/main">
            <a:r>
              <a:t/>
            </a:r>
          </a:p>
          <a:p xmlns:a="http://schemas.openxmlformats.org/drawingml/2006/main">
            <a:r>
              <a:t>Local procedure boundary: This deck teaches design and production thinking only. Before any practical action, follow the current teacher-approved plan, demonstration, risk controls, materials, tools, process and authorisation.</a:t>
            </a:r>
          </a:p>
          <a:p xmlns:a="http://schemas.openxmlformats.org/drawingml/2006/main">
            <a:r>
              <a:t/>
            </a:r>
          </a:p>
          <a:p xmlns:a="http://schemas.openxmlformats.org/drawingml/2006/main">
            <a:r>
              <a:t>[Sources]</a:t>
            </a:r>
          </a:p>
          <a:p xmlns:a="http://schemas.openxmlformats.org/drawingml/2006/main">
            <a:r>
              <a:t>- NSW Curriculum, Technology 7–8 (2023), overview: https://curriculum.nsw.edu.au/learning-areas/tas/technology-7-8-2023/overview/course</a:t>
            </a:r>
          </a:p>
          <a:p xmlns:a="http://schemas.openxmlformats.org/drawingml/2006/main">
            <a:r>
              <a:t>- NSW Curriculum, Technology 7–8 (2023), outcomes: https://curriculum.nsw.edu.au/learning-areas/tas/technology-7-8-2023/outcomes</a:t>
            </a:r>
          </a:p>
          <a:p xmlns:a="http://schemas.openxmlformats.org/drawingml/2006/main">
            <a:r>
              <a:t>- NSW Curriculum, Technology 7–8 (2023), Stage 4 content: https://curriculum.nsw.edu.au/learning-areas/tas/technology-7-8-2023/content/stage-4/fadc5a8620</a:t>
            </a:r>
          </a:p>
          <a:p xmlns:a="http://schemas.openxmlformats.org/drawingml/2006/main">
            <a:r>
              <a:t>- Teacher-authored five-week unit guide supplied privately for this build; no private link embedded.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43f5faa79224a2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07d227029a94f28" /><Relationship Type="http://schemas.openxmlformats.org/officeDocument/2006/relationships/slideLayout" Target="/ppt/slideLayouts/slideLayout1.xml" Id="R55619600a4c3482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5619600a4c3482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85cb250ca9f4425" /><Relationship Type="http://schemas.openxmlformats.org/officeDocument/2006/relationships/image" Target="/ppt/media/image.png" Id="R9c47eb945efe45f9" /><Relationship Type="http://schemas.openxmlformats.org/officeDocument/2006/relationships/notesSlide" Target="/ppt/notesSlides/notesSlide1.xml" Id="R2c89e63edd954a8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36484e3f61a4b7d" /><Relationship Type="http://schemas.openxmlformats.org/officeDocument/2006/relationships/notesSlide" Target="/ppt/notesSlides/notesSlide2.xml" Id="R1113a886499740b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581077595c840fc" /><Relationship Type="http://schemas.openxmlformats.org/officeDocument/2006/relationships/image" Target="/ppt/media/image2.png" Id="R0a3fbc4adfc147c9" /><Relationship Type="http://schemas.openxmlformats.org/officeDocument/2006/relationships/notesSlide" Target="/ppt/notesSlides/notesSlide3.xml" Id="R437e3c57588e415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61297dc9f9c44655" /><Relationship Type="http://schemas.openxmlformats.org/officeDocument/2006/relationships/image" Target="/ppt/media/image3.png" Id="Rdce78e98fc8f4ab0" /><Relationship Type="http://schemas.openxmlformats.org/officeDocument/2006/relationships/notesSlide" Target="/ppt/notesSlides/notesSlide4.xml" Id="R89a67c748d87480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6cb8acf3fd34f41" /><Relationship Type="http://schemas.openxmlformats.org/officeDocument/2006/relationships/image" Target="/ppt/media/image4.png" Id="R093d520a7fde4ab6" /><Relationship Type="http://schemas.openxmlformats.org/officeDocument/2006/relationships/notesSlide" Target="/ppt/notesSlides/notesSlide5.xml" Id="R4f94f79f4fa74a1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3b72e8df4334f9f" /><Relationship Type="http://schemas.openxmlformats.org/officeDocument/2006/relationships/notesSlide" Target="/ppt/notesSlides/notesSlide6.xml" Id="R673fe9e64ccf4b9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a5635752e6a445e" /><Relationship Type="http://schemas.openxmlformats.org/officeDocument/2006/relationships/notesSlide" Target="/ppt/notesSlides/notesSlide7.xml" Id="R7648f6c0eed147f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e24469df2634d20" /><Relationship Type="http://schemas.openxmlformats.org/officeDocument/2006/relationships/notesSlide" Target="/ppt/notesSlides/notesSlide8.xml" Id="Rdc83c115021a44b2" /></Relationships>
</file>

<file path=ppt/slides/slide1.xml><?xml version="1.0" encoding="utf-8"?>
<p:sld xmlns:p="http://schemas.openxmlformats.org/presentationml/2006/main">
  <p:cSld>
    <p:bg>
      <p:bgPr>
        <a:solidFill xmlns:a="http://schemas.openxmlformats.org/drawingml/2006/main">
          <a:srgbClr val="113F30"/>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9c47eb945efe45f9"/>
          <a:srcRect xmlns:a="http://schemas.openxmlformats.org/drawingml/2006/main" l="23345" t="0" r="23345" b="0"/>
          <a:stretch xmlns:a="http://schemas.openxmlformats.org/drawingml/2006/main">
            <a:fillRect l="0" t="0" r="0" b="0"/>
          </a:stretch>
        </p:blipFill>
        <p:spPr>
          <a:xfrm xmlns:a="http://schemas.openxmlformats.org/drawingml/2006/main">
            <a:off x="5695950" y="0"/>
            <a:ext cx="6496050" cy="6858000"/>
          </a:xfrm>
          <a:prstGeom xmlns:a="http://schemas.openxmlformats.org/drawingml/2006/main" prst="roundRect">
            <a:avLst>
              <a:gd name="adj" fmla="val 2639"/>
            </a:avLst>
          </a:prstGeom>
        </p:spPr>
      </p:pic>
      <p:sp>
        <p:nvSpPr>
          <p:cNvPr id="2" name="title-accent">
            <a:extLst xmlns:a="http://schemas.openxmlformats.org/drawingml/2006/main">
              <a:ext uri="{FF2B5EF4-FFF2-40B4-BE49-F238E27FC236}">
                <a16:creationId xmlns:a16="http://schemas.microsoft.com/office/drawing/2014/main" id="{162513CE-1229-40AE-9EEF-38516EA17A4B}"/>
              </a:ext>
            </a:extLst>
          </p:cNvPr>
          <p:cNvSpPr>
            <a:spLocks xmlns:a="http://schemas.openxmlformats.org/drawingml/2006/main" noGrp="1"/>
          </p:cNvSpPr>
          <p:nvPr/>
        </p:nvSpPr>
        <p:spPr>
          <a:xfrm xmlns:a="http://schemas.openxmlformats.org/drawingml/2006/main">
            <a:off x="685800" y="723900"/>
            <a:ext cx="800100" cy="76200"/>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3" name="title-kicker">
            <a:extLst xmlns:a="http://schemas.openxmlformats.org/drawingml/2006/main">
              <a:ext uri="{FF2B5EF4-FFF2-40B4-BE49-F238E27FC236}">
                <a16:creationId xmlns:a16="http://schemas.microsoft.com/office/drawing/2014/main" id="{9AF3A481-1D83-4B75-8A04-3880BE33B5EA}"/>
              </a:ext>
            </a:extLst>
          </p:cNvPr>
          <p:cNvSpPr>
            <a:spLocks xmlns:a="http://schemas.openxmlformats.org/drawingml/2006/main" noGrp="1"/>
          </p:cNvSpPr>
          <p:nvPr/>
        </p:nvSpPr>
        <p:spPr>
          <a:xfrm xmlns:a="http://schemas.openxmlformats.org/drawingml/2006/main">
            <a:off x="685800" y="1028700"/>
            <a:ext cx="4476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00" b="1">
                <a:solidFill>
                  <a:srgbClr val="D5E7DE"/>
                </a:solidFill>
              </a:defRPr>
            </a:pPr>
            <a:r>
              <a:rPr sz="1200" b="1">
                <a:solidFill>
                  <a:srgbClr val="D5E7DE"/>
                </a:solidFill>
              </a:rPr>
              <a:t>MODULE 2  •  STAGE 4 TECHNOLOGY</a:t>
            </a:r>
          </a:p>
        </p:txBody>
      </p:sp>
      <p:sp>
        <p:nvSpPr>
          <p:cNvPr id="4" name="deck-title">
            <a:extLst xmlns:a="http://schemas.openxmlformats.org/drawingml/2006/main">
              <a:ext uri="{FF2B5EF4-FFF2-40B4-BE49-F238E27FC236}">
                <a16:creationId xmlns:a16="http://schemas.microsoft.com/office/drawing/2014/main" id="{FA18D2E1-8C2C-45EB-B604-60DDAD045207}"/>
              </a:ext>
            </a:extLst>
          </p:cNvPr>
          <p:cNvSpPr>
            <a:spLocks xmlns:a="http://schemas.openxmlformats.org/drawingml/2006/main" noGrp="1"/>
          </p:cNvSpPr>
          <p:nvPr/>
        </p:nvSpPr>
        <p:spPr>
          <a:xfrm xmlns:a="http://schemas.openxmlformats.org/drawingml/2006/main">
            <a:off x="685800" y="2000250"/>
            <a:ext cx="4476750" cy="1638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a:solidFill>
                  <a:srgbClr val="FFFFFF"/>
                </a:solidFill>
              </a:defRPr>
            </a:pPr>
            <a:r>
              <a:rPr sz="3900" b="1">
                <a:solidFill>
                  <a:srgbClr val="FFFFFF"/>
                </a:solidFill>
              </a:rPr>
              <a:t>Communicate the design</a:t>
            </a:r>
          </a:p>
        </p:txBody>
      </p:sp>
      <p:sp>
        <p:nvSpPr>
          <p:cNvPr id="5" name="deck-outcome">
            <a:extLst xmlns:a="http://schemas.openxmlformats.org/drawingml/2006/main">
              <a:ext uri="{FF2B5EF4-FFF2-40B4-BE49-F238E27FC236}">
                <a16:creationId xmlns:a16="http://schemas.microsoft.com/office/drawing/2014/main" id="{3E6B53D5-94C6-4C35-9181-26B35D665547}"/>
              </a:ext>
            </a:extLst>
          </p:cNvPr>
          <p:cNvSpPr>
            <a:spLocks xmlns:a="http://schemas.openxmlformats.org/drawingml/2006/main" noGrp="1"/>
          </p:cNvSpPr>
          <p:nvPr/>
        </p:nvSpPr>
        <p:spPr>
          <a:xfrm xmlns:a="http://schemas.openxmlformats.org/drawingml/2006/main">
            <a:off x="685800" y="3943350"/>
            <a:ext cx="41719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0">
                <a:solidFill>
                  <a:srgbClr val="E8F3ED"/>
                </a:solidFill>
              </a:defRPr>
            </a:pPr>
            <a:r>
              <a:rPr sz="1725" b="0">
                <a:solidFill>
                  <a:srgbClr val="E8F3ED"/>
                </a:solidFill>
              </a:rPr>
              <a:t>Use vector ideas, annotations and peer evidence to make a design readable and reviewable.</a:t>
            </a:r>
          </a:p>
        </p:txBody>
      </p:sp>
      <p:sp>
        <p:nvSpPr>
          <p:cNvPr id="6" name="title-course">
            <a:extLst xmlns:a="http://schemas.openxmlformats.org/drawingml/2006/main">
              <a:ext uri="{FF2B5EF4-FFF2-40B4-BE49-F238E27FC236}">
                <a16:creationId xmlns:a16="http://schemas.microsoft.com/office/drawing/2014/main" id="{D2E41FEE-A409-4141-833C-F1BFFF414B20}"/>
              </a:ext>
            </a:extLst>
          </p:cNvPr>
          <p:cNvSpPr>
            <a:spLocks xmlns:a="http://schemas.openxmlformats.org/drawingml/2006/main" noGrp="1"/>
          </p:cNvSpPr>
          <p:nvPr/>
        </p:nvSpPr>
        <p:spPr>
          <a:xfrm xmlns:a="http://schemas.openxmlformats.org/drawingml/2006/main">
            <a:off x="685800" y="6096000"/>
            <a:ext cx="447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FD6CA"/>
                </a:solidFill>
              </a:defRPr>
            </a:pPr>
            <a:r>
              <a:rPr sz="1050" b="1">
                <a:solidFill>
                  <a:srgbClr val="BFD6CA"/>
                </a:solidFill>
              </a:rPr>
              <a:t>Swinging Sign  •  Materials and production processes</a:t>
            </a:r>
          </a:p>
        </p:txBody>
      </p:sp>
    </p:spTree>
    <p:extLst>
      <p:ext uri="{BB962C8B-B14F-4D97-AF65-F5344CB8AC3E}">
        <p14:creationId xmlns:p14="http://schemas.microsoft.com/office/powerpoint/2010/main" val="321621447"/>
      </p:ext>
    </p:extLst>
  </p:cSld>
</p:sld>
</file>

<file path=ppt/slides/slide2.xml><?xml version="1.0" encoding="utf-8"?>
<p:sld xmlns:p="http://schemas.openxmlformats.org/presentationml/2006/main">
  <p:cSld>
    <p:bg>
      <p:bgPr>
        <a:solidFill xmlns:a="http://schemas.openxmlformats.org/drawingml/2006/main">
          <a:srgbClr val="FBF7EE"/>
        </a:solidFill>
      </p:bgPr>
    </p:bg>
    <p:spTree>
      <p:nvGrpSpPr>
        <p:cNvPr id="1" name=""/>
        <p:cNvGrpSpPr/>
        <p:nvPr/>
      </p:nvGrpSpPr>
      <p:grpSpPr>
        <a:xfrm xmlns:a="http://schemas.openxmlformats.org/drawingml/2006/main"/>
      </p:grpSpPr>
      <p:sp>
        <p:nvSpPr>
          <p:cNvPr id="19" name="accent-2">
            <a:extLst xmlns:a="http://schemas.openxmlformats.org/drawingml/2006/main">
              <a:ext uri="{FF2B5EF4-FFF2-40B4-BE49-F238E27FC236}">
                <a16:creationId xmlns:a16="http://schemas.microsoft.com/office/drawing/2014/main" id="{C3C2F8B0-5C2B-4CB9-94B9-D7DC4C21AF6C}"/>
              </a:ext>
            </a:extLst>
          </p:cNvPr>
          <p:cNvSpPr>
            <a:spLocks xmlns:a="http://schemas.openxmlformats.org/drawingml/2006/main" noGrp="1"/>
          </p:cNvSpPr>
          <p:nvPr/>
        </p:nvSpPr>
        <p:spPr>
          <a:xfrm xmlns:a="http://schemas.openxmlformats.org/drawingml/2006/main">
            <a:off x="0" y="0"/>
            <a:ext cx="12192000" cy="85725"/>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2" name="module-kicker-2">
            <a:extLst xmlns:a="http://schemas.openxmlformats.org/drawingml/2006/main">
              <a:ext uri="{FF2B5EF4-FFF2-40B4-BE49-F238E27FC236}">
                <a16:creationId xmlns:a16="http://schemas.microsoft.com/office/drawing/2014/main" id="{65C56B79-36BC-4FDD-AE5E-3AB9CB94DEDD}"/>
              </a:ext>
            </a:extLst>
          </p:cNvPr>
          <p:cNvSpPr>
            <a:spLocks xmlns:a="http://schemas.openxmlformats.org/drawingml/2006/main" noGrp="1"/>
          </p:cNvSpPr>
          <p:nvPr/>
        </p:nvSpPr>
        <p:spPr>
          <a:xfrm xmlns:a="http://schemas.openxmlformats.org/drawingml/2006/main">
            <a:off x="685800" y="2667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MODULE 2  •  COMMUNICATE THE DESIGN</a:t>
            </a:r>
          </a:p>
        </p:txBody>
      </p:sp>
      <p:sp>
        <p:nvSpPr>
          <p:cNvPr id="3" name="slide-title-2">
            <a:extLst xmlns:a="http://schemas.openxmlformats.org/drawingml/2006/main">
              <a:ext uri="{FF2B5EF4-FFF2-40B4-BE49-F238E27FC236}">
                <a16:creationId xmlns:a16="http://schemas.microsoft.com/office/drawing/2014/main" id="{A2267A33-F2FC-4A9F-9B59-2F960515AE80}"/>
              </a:ext>
            </a:extLst>
          </p:cNvPr>
          <p:cNvSpPr>
            <a:spLocks xmlns:a="http://schemas.openxmlformats.org/drawingml/2006/main" noGrp="1"/>
          </p:cNvSpPr>
          <p:nvPr/>
        </p:nvSpPr>
        <p:spPr>
          <a:xfrm xmlns:a="http://schemas.openxmlformats.org/drawingml/2006/main">
            <a:off x="685800" y="590550"/>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13F30"/>
                </a:solidFill>
              </a:defRPr>
            </a:pPr>
            <a:r>
              <a:rPr sz="2850" b="1">
                <a:solidFill>
                  <a:srgbClr val="113F30"/>
                </a:solidFill>
              </a:rPr>
              <a:t>Three ideas make a concept clear enough to test and improve</a:t>
            </a:r>
          </a:p>
        </p:txBody>
      </p:sp>
      <p:sp>
        <p:nvSpPr>
          <p:cNvPr id="4" name="map-number-1">
            <a:extLst xmlns:a="http://schemas.openxmlformats.org/drawingml/2006/main">
              <a:ext uri="{FF2B5EF4-FFF2-40B4-BE49-F238E27FC236}">
                <a16:creationId xmlns:a16="http://schemas.microsoft.com/office/drawing/2014/main" id="{F5D59EDE-EEB8-480F-98E9-883B341E11D3}"/>
              </a:ext>
            </a:extLst>
          </p:cNvPr>
          <p:cNvSpPr>
            <a:spLocks xmlns:a="http://schemas.openxmlformats.org/drawingml/2006/main" noGrp="1"/>
          </p:cNvSpPr>
          <p:nvPr/>
        </p:nvSpPr>
        <p:spPr>
          <a:xfrm xmlns:a="http://schemas.openxmlformats.org/drawingml/2006/main">
            <a:off x="819150" y="1676400"/>
            <a:ext cx="6858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a:solidFill>
                  <a:srgbClr val="E7AD31"/>
                </a:solidFill>
              </a:defRPr>
            </a:pPr>
            <a:r>
              <a:rPr sz="3900" b="1">
                <a:solidFill>
                  <a:srgbClr val="E7AD31"/>
                </a:solidFill>
              </a:rPr>
              <a:t>1</a:t>
            </a:r>
          </a:p>
        </p:txBody>
      </p:sp>
      <p:sp>
        <p:nvSpPr>
          <p:cNvPr id="5" name="map-title-1">
            <a:extLst xmlns:a="http://schemas.openxmlformats.org/drawingml/2006/main">
              <a:ext uri="{FF2B5EF4-FFF2-40B4-BE49-F238E27FC236}">
                <a16:creationId xmlns:a16="http://schemas.microsoft.com/office/drawing/2014/main" id="{35FCC7B2-DE1E-4178-BB1B-277F18E41889}"/>
              </a:ext>
            </a:extLst>
          </p:cNvPr>
          <p:cNvSpPr>
            <a:spLocks xmlns:a="http://schemas.openxmlformats.org/drawingml/2006/main" noGrp="1"/>
          </p:cNvSpPr>
          <p:nvPr/>
        </p:nvSpPr>
        <p:spPr>
          <a:xfrm xmlns:a="http://schemas.openxmlformats.org/drawingml/2006/main">
            <a:off x="1543050" y="1695450"/>
            <a:ext cx="252412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113F30"/>
                </a:solidFill>
              </a:defRPr>
            </a:pPr>
            <a:r>
              <a:rPr sz="1875" b="1">
                <a:solidFill>
                  <a:srgbClr val="113F30"/>
                </a:solidFill>
              </a:rPr>
              <a:t>Vector and bitmap</a:t>
            </a:r>
          </a:p>
        </p:txBody>
      </p:sp>
      <p:sp>
        <p:nvSpPr>
          <p:cNvPr id="6" name="map-action-1">
            <a:extLst xmlns:a="http://schemas.openxmlformats.org/drawingml/2006/main">
              <a:ext uri="{FF2B5EF4-FFF2-40B4-BE49-F238E27FC236}">
                <a16:creationId xmlns:a16="http://schemas.microsoft.com/office/drawing/2014/main" id="{06480A6C-DA72-454D-B531-F07EEC00D7C9}"/>
              </a:ext>
            </a:extLst>
          </p:cNvPr>
          <p:cNvSpPr>
            <a:spLocks xmlns:a="http://schemas.openxmlformats.org/drawingml/2006/main" noGrp="1"/>
          </p:cNvSpPr>
          <p:nvPr/>
        </p:nvSpPr>
        <p:spPr>
          <a:xfrm xmlns:a="http://schemas.openxmlformats.org/drawingml/2006/main">
            <a:off x="819150" y="2647950"/>
            <a:ext cx="29146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1F2A25"/>
                </a:solidFill>
              </a:defRPr>
            </a:pPr>
            <a:r>
              <a:rPr sz="1425" b="0">
                <a:solidFill>
                  <a:srgbClr val="1F2A25"/>
                </a:solidFill>
              </a:rPr>
              <a:t>Choose a format for a product photograph and for clean editable lettering. Justify both choices.</a:t>
            </a:r>
          </a:p>
        </p:txBody>
      </p:sp>
      <p:sp>
        <p:nvSpPr>
          <p:cNvPr id="7" name="map-number-2">
            <a:extLst xmlns:a="http://schemas.openxmlformats.org/drawingml/2006/main">
              <a:ext uri="{FF2B5EF4-FFF2-40B4-BE49-F238E27FC236}">
                <a16:creationId xmlns:a16="http://schemas.microsoft.com/office/drawing/2014/main" id="{EE9F9476-1CD8-492D-910B-4E754D16D8D2}"/>
              </a:ext>
            </a:extLst>
          </p:cNvPr>
          <p:cNvSpPr>
            <a:spLocks xmlns:a="http://schemas.openxmlformats.org/drawingml/2006/main" noGrp="1"/>
          </p:cNvSpPr>
          <p:nvPr/>
        </p:nvSpPr>
        <p:spPr>
          <a:xfrm xmlns:a="http://schemas.openxmlformats.org/drawingml/2006/main">
            <a:off x="4248150" y="1676400"/>
            <a:ext cx="6858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a:solidFill>
                  <a:srgbClr val="E7AD31"/>
                </a:solidFill>
              </a:defRPr>
            </a:pPr>
            <a:r>
              <a:rPr sz="3900" b="1">
                <a:solidFill>
                  <a:srgbClr val="E7AD31"/>
                </a:solidFill>
              </a:rPr>
              <a:t>2</a:t>
            </a:r>
          </a:p>
        </p:txBody>
      </p:sp>
      <p:sp>
        <p:nvSpPr>
          <p:cNvPr id="8" name="map-title-2">
            <a:extLst xmlns:a="http://schemas.openxmlformats.org/drawingml/2006/main">
              <a:ext uri="{FF2B5EF4-FFF2-40B4-BE49-F238E27FC236}">
                <a16:creationId xmlns:a16="http://schemas.microsoft.com/office/drawing/2014/main" id="{F0A6A351-A464-47D2-B9EF-F2B499230B3A}"/>
              </a:ext>
            </a:extLst>
          </p:cNvPr>
          <p:cNvSpPr>
            <a:spLocks xmlns:a="http://schemas.openxmlformats.org/drawingml/2006/main" noGrp="1"/>
          </p:cNvSpPr>
          <p:nvPr/>
        </p:nvSpPr>
        <p:spPr>
          <a:xfrm xmlns:a="http://schemas.openxmlformats.org/drawingml/2006/main">
            <a:off x="4972050" y="1695450"/>
            <a:ext cx="252412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113F30"/>
                </a:solidFill>
              </a:defRPr>
            </a:pPr>
            <a:r>
              <a:rPr sz="1875" b="1">
                <a:solidFill>
                  <a:srgbClr val="113F30"/>
                </a:solidFill>
              </a:rPr>
              <a:t>Inkscape tools and paths</a:t>
            </a:r>
          </a:p>
        </p:txBody>
      </p:sp>
      <p:sp>
        <p:nvSpPr>
          <p:cNvPr id="9" name="map-action-2">
            <a:extLst xmlns:a="http://schemas.openxmlformats.org/drawingml/2006/main">
              <a:ext uri="{FF2B5EF4-FFF2-40B4-BE49-F238E27FC236}">
                <a16:creationId xmlns:a16="http://schemas.microsoft.com/office/drawing/2014/main" id="{49C19729-7CAB-4CFD-A5BA-6AC5A2388157}"/>
              </a:ext>
            </a:extLst>
          </p:cNvPr>
          <p:cNvSpPr>
            <a:spLocks xmlns:a="http://schemas.openxmlformats.org/drawingml/2006/main" noGrp="1"/>
          </p:cNvSpPr>
          <p:nvPr/>
        </p:nvSpPr>
        <p:spPr>
          <a:xfrm xmlns:a="http://schemas.openxmlformats.org/drawingml/2006/main">
            <a:off x="4248150" y="2647950"/>
            <a:ext cx="29146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1F2A25"/>
                </a:solidFill>
              </a:defRPr>
            </a:pPr>
            <a:r>
              <a:rPr sz="1425" b="0">
                <a:solidFill>
                  <a:srgbClr val="1F2A25"/>
                </a:solidFill>
              </a:rPr>
              <a:t>Identify one untidy path problem and name the tool family you would use to improve it.</a:t>
            </a:r>
          </a:p>
        </p:txBody>
      </p:sp>
      <p:sp>
        <p:nvSpPr>
          <p:cNvPr id="10" name="map-number-3">
            <a:extLst xmlns:a="http://schemas.openxmlformats.org/drawingml/2006/main">
              <a:ext uri="{FF2B5EF4-FFF2-40B4-BE49-F238E27FC236}">
                <a16:creationId xmlns:a16="http://schemas.microsoft.com/office/drawing/2014/main" id="{D0D85521-AC16-4741-ADF5-5C2E2EF1A76C}"/>
              </a:ext>
            </a:extLst>
          </p:cNvPr>
          <p:cNvSpPr>
            <a:spLocks xmlns:a="http://schemas.openxmlformats.org/drawingml/2006/main" noGrp="1"/>
          </p:cNvSpPr>
          <p:nvPr/>
        </p:nvSpPr>
        <p:spPr>
          <a:xfrm xmlns:a="http://schemas.openxmlformats.org/drawingml/2006/main">
            <a:off x="7677150" y="1676400"/>
            <a:ext cx="6858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900" b="1">
                <a:solidFill>
                  <a:srgbClr val="E7AD31"/>
                </a:solidFill>
              </a:defRPr>
            </a:pPr>
            <a:r>
              <a:rPr sz="3900" b="1">
                <a:solidFill>
                  <a:srgbClr val="E7AD31"/>
                </a:solidFill>
              </a:rPr>
              <a:t>3</a:t>
            </a:r>
          </a:p>
        </p:txBody>
      </p:sp>
      <p:sp>
        <p:nvSpPr>
          <p:cNvPr id="11" name="map-title-3">
            <a:extLst xmlns:a="http://schemas.openxmlformats.org/drawingml/2006/main">
              <a:ext uri="{FF2B5EF4-FFF2-40B4-BE49-F238E27FC236}">
                <a16:creationId xmlns:a16="http://schemas.microsoft.com/office/drawing/2014/main" id="{B22ABA28-44BF-4268-800C-D9F7BD69BC21}"/>
              </a:ext>
            </a:extLst>
          </p:cNvPr>
          <p:cNvSpPr>
            <a:spLocks xmlns:a="http://schemas.openxmlformats.org/drawingml/2006/main" noGrp="1"/>
          </p:cNvSpPr>
          <p:nvPr/>
        </p:nvSpPr>
        <p:spPr>
          <a:xfrm xmlns:a="http://schemas.openxmlformats.org/drawingml/2006/main">
            <a:off x="8401050" y="1695450"/>
            <a:ext cx="2524125"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875" b="1">
                <a:solidFill>
                  <a:srgbClr val="113F30"/>
                </a:solidFill>
              </a:defRPr>
            </a:pPr>
            <a:r>
              <a:rPr sz="1875" b="1">
                <a:solidFill>
                  <a:srgbClr val="113F30"/>
                </a:solidFill>
              </a:rPr>
              <a:t>Legibility, annotation and peer review</a:t>
            </a:r>
          </a:p>
        </p:txBody>
      </p:sp>
      <p:sp>
        <p:nvSpPr>
          <p:cNvPr id="12" name="map-action-3">
            <a:extLst xmlns:a="http://schemas.openxmlformats.org/drawingml/2006/main">
              <a:ext uri="{FF2B5EF4-FFF2-40B4-BE49-F238E27FC236}">
                <a16:creationId xmlns:a16="http://schemas.microsoft.com/office/drawing/2014/main" id="{D3DFD5D7-90D7-4EF2-85FD-7E793349BA2D}"/>
              </a:ext>
            </a:extLst>
          </p:cNvPr>
          <p:cNvSpPr>
            <a:spLocks xmlns:a="http://schemas.openxmlformats.org/drawingml/2006/main" noGrp="1"/>
          </p:cNvSpPr>
          <p:nvPr/>
        </p:nvSpPr>
        <p:spPr>
          <a:xfrm xmlns:a="http://schemas.openxmlformats.org/drawingml/2006/main">
            <a:off x="7677150" y="2647950"/>
            <a:ext cx="29146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1F2A25"/>
                </a:solidFill>
              </a:defRPr>
            </a:pPr>
            <a:r>
              <a:rPr sz="1425" b="0">
                <a:solidFill>
                  <a:srgbClr val="1F2A25"/>
                </a:solidFill>
              </a:rPr>
              <a:t>Write one feature–reason–effect annotation for a change that improves a crowded sign.</a:t>
            </a:r>
          </a:p>
        </p:txBody>
      </p:sp>
      <p:sp>
        <p:nvSpPr>
          <p:cNvPr id="13" name="warm-up-band">
            <a:extLst xmlns:a="http://schemas.openxmlformats.org/drawingml/2006/main">
              <a:ext uri="{FF2B5EF4-FFF2-40B4-BE49-F238E27FC236}">
                <a16:creationId xmlns:a16="http://schemas.microsoft.com/office/drawing/2014/main" id="{4C32E8DE-AC4D-4F26-9D3F-F29360D2331F}"/>
              </a:ext>
            </a:extLst>
          </p:cNvPr>
          <p:cNvSpPr>
            <a:spLocks xmlns:a="http://schemas.openxmlformats.org/drawingml/2006/main" noGrp="1"/>
          </p:cNvSpPr>
          <p:nvPr/>
        </p:nvSpPr>
        <p:spPr>
          <a:xfrm xmlns:a="http://schemas.openxmlformats.org/drawingml/2006/main">
            <a:off x="685800" y="4629150"/>
            <a:ext cx="10820400" cy="1257300"/>
          </a:xfrm>
          <a:prstGeom xmlns:a="http://schemas.openxmlformats.org/drawingml/2006/main" prst="roundRect">
            <a:avLst>
              <a:gd name="adj" fmla="val 15152"/>
            </a:avLst>
          </a:prstGeom>
          <a:solidFill xmlns:a="http://schemas.openxmlformats.org/drawingml/2006/main">
            <a:srgbClr val="E8F3ED"/>
          </a:solidFill>
          <a:ln xmlns:a="http://schemas.openxmlformats.org/drawingml/2006/main" w="9525">
            <a:solidFill>
              <a:srgbClr val="C8D8CF"/>
            </a:solidFill>
            <a:prstDash val="solid"/>
          </a:ln>
        </p:spPr>
      </p:sp>
      <p:sp>
        <p:nvSpPr>
          <p:cNvPr id="14" name="warm-up-label">
            <a:extLst xmlns:a="http://schemas.openxmlformats.org/drawingml/2006/main">
              <a:ext uri="{FF2B5EF4-FFF2-40B4-BE49-F238E27FC236}">
                <a16:creationId xmlns:a16="http://schemas.microsoft.com/office/drawing/2014/main" id="{881A2387-CC1A-4BD0-83BC-D457B4ED8495}"/>
              </a:ext>
            </a:extLst>
          </p:cNvPr>
          <p:cNvSpPr>
            <a:spLocks xmlns:a="http://schemas.openxmlformats.org/drawingml/2006/main" noGrp="1"/>
          </p:cNvSpPr>
          <p:nvPr/>
        </p:nvSpPr>
        <p:spPr>
          <a:xfrm xmlns:a="http://schemas.openxmlformats.org/drawingml/2006/main">
            <a:off x="990600" y="4876800"/>
            <a:ext cx="2590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B84932"/>
                </a:solidFill>
              </a:defRPr>
            </a:pPr>
            <a:r>
              <a:rPr sz="1125" b="1">
                <a:solidFill>
                  <a:srgbClr val="B84932"/>
                </a:solidFill>
              </a:rPr>
              <a:t>RETRIEVAL WARM-UP</a:t>
            </a:r>
          </a:p>
        </p:txBody>
      </p:sp>
      <p:sp>
        <p:nvSpPr>
          <p:cNvPr id="15" name="warm-up-question">
            <a:extLst xmlns:a="http://schemas.openxmlformats.org/drawingml/2006/main">
              <a:ext uri="{FF2B5EF4-FFF2-40B4-BE49-F238E27FC236}">
                <a16:creationId xmlns:a16="http://schemas.microsoft.com/office/drawing/2014/main" id="{7EB22A62-F035-429C-AAB7-93532A0C442D}"/>
              </a:ext>
            </a:extLst>
          </p:cNvPr>
          <p:cNvSpPr>
            <a:spLocks xmlns:a="http://schemas.openxmlformats.org/drawingml/2006/main" noGrp="1"/>
          </p:cNvSpPr>
          <p:nvPr/>
        </p:nvSpPr>
        <p:spPr>
          <a:xfrm xmlns:a="http://schemas.openxmlformats.org/drawingml/2006/main">
            <a:off x="990600" y="5219700"/>
            <a:ext cx="9791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950" b="1">
                <a:solidFill>
                  <a:srgbClr val="113F30"/>
                </a:solidFill>
              </a:defRPr>
            </a:pPr>
            <a:r>
              <a:rPr sz="1950" b="1">
                <a:solidFill>
                  <a:srgbClr val="113F30"/>
                </a:solidFill>
              </a:rPr>
              <a:t>Retrieval: name one criterion that should influence how a sign communicates.</a:t>
            </a:r>
          </a:p>
        </p:txBody>
      </p:sp>
      <p:sp>
        <p:nvSpPr>
          <p:cNvPr id="16" name="footer-rule-2">
            <a:extLst xmlns:a="http://schemas.openxmlformats.org/drawingml/2006/main">
              <a:ext uri="{FF2B5EF4-FFF2-40B4-BE49-F238E27FC236}">
                <a16:creationId xmlns:a16="http://schemas.microsoft.com/office/drawing/2014/main" id="{F769FCF1-758B-4F27-A13A-74CBE18AFFD9}"/>
              </a:ext>
            </a:extLst>
          </p:cNvPr>
          <p:cNvSpPr>
            <a:spLocks xmlns:a="http://schemas.openxmlformats.org/drawingml/2006/main" noGrp="1"/>
          </p:cNvSpPr>
          <p:nvPr/>
        </p:nvSpPr>
        <p:spPr>
          <a:xfrm xmlns:a="http://schemas.openxmlformats.org/drawingml/2006/main">
            <a:off x="685800" y="6486525"/>
            <a:ext cx="10820400" cy="19050"/>
          </a:xfrm>
          <a:prstGeom xmlns:a="http://schemas.openxmlformats.org/drawingml/2006/main" prst="rect">
            <a:avLst/>
          </a:prstGeom>
          <a:solidFill xmlns:a="http://schemas.openxmlformats.org/drawingml/2006/main">
            <a:srgbClr val="C8D8CF"/>
          </a:solidFill>
          <a:ln xmlns:a="http://schemas.openxmlformats.org/drawingml/2006/main" w="0">
            <a:solidFill>
              <a:srgbClr val="C8D8CF"/>
            </a:solidFill>
            <a:prstDash val="solid"/>
          </a:ln>
        </p:spPr>
      </p:sp>
      <p:sp>
        <p:nvSpPr>
          <p:cNvPr id="17" name="footer-label-2">
            <a:extLst xmlns:a="http://schemas.openxmlformats.org/drawingml/2006/main">
              <a:ext uri="{FF2B5EF4-FFF2-40B4-BE49-F238E27FC236}">
                <a16:creationId xmlns:a16="http://schemas.microsoft.com/office/drawing/2014/main" id="{D792FF1D-117B-44E1-9715-2F7AAA0CA1C9}"/>
              </a:ext>
            </a:extLst>
          </p:cNvPr>
          <p:cNvSpPr>
            <a:spLocks xmlns:a="http://schemas.openxmlformats.org/drawingml/2006/main" noGrp="1"/>
          </p:cNvSpPr>
          <p:nvPr/>
        </p:nvSpPr>
        <p:spPr>
          <a:xfrm xmlns:a="http://schemas.openxmlformats.org/drawingml/2006/main">
            <a:off x="685800" y="6562725"/>
            <a:ext cx="4095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54645D"/>
                </a:solidFill>
              </a:defRPr>
            </a:pPr>
            <a:r>
              <a:rPr sz="900" b="1">
                <a:solidFill>
                  <a:srgbClr val="54645D"/>
                </a:solidFill>
              </a:rPr>
              <a:t>SWINGING SIGN  •  MODULE 2</a:t>
            </a:r>
          </a:p>
        </p:txBody>
      </p:sp>
      <p:sp>
        <p:nvSpPr>
          <p:cNvPr id="18" name="footer-page-2">
            <a:extLst xmlns:a="http://schemas.openxmlformats.org/drawingml/2006/main">
              <a:ext uri="{FF2B5EF4-FFF2-40B4-BE49-F238E27FC236}">
                <a16:creationId xmlns:a16="http://schemas.microsoft.com/office/drawing/2014/main" id="{FCCF33EE-5F7E-4F69-B381-7E22A530AB53}"/>
              </a:ext>
            </a:extLst>
          </p:cNvPr>
          <p:cNvSpPr>
            <a:spLocks xmlns:a="http://schemas.openxmlformats.org/drawingml/2006/main" noGrp="1"/>
          </p:cNvSpPr>
          <p:nvPr/>
        </p:nvSpPr>
        <p:spPr>
          <a:xfrm xmlns:a="http://schemas.openxmlformats.org/drawingml/2006/main">
            <a:off x="10763250" y="6562725"/>
            <a:ext cx="742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54645D"/>
                </a:solidFill>
              </a:defRPr>
            </a:pPr>
            <a:r>
              <a:rPr sz="900" b="1">
                <a:solidFill>
                  <a:srgbClr val="54645D"/>
                </a:solidFill>
              </a:rPr>
              <a:t>2 / 8</a:t>
            </a:r>
          </a:p>
        </p:txBody>
      </p:sp>
    </p:spTree>
    <p:extLst>
      <p:ext uri="{BB962C8B-B14F-4D97-AF65-F5344CB8AC3E}">
        <p14:creationId xmlns:p14="http://schemas.microsoft.com/office/powerpoint/2010/main" val="86138404"/>
      </p:ext>
    </p:extLst>
  </p:cSld>
</p:sld>
</file>

<file path=ppt/slides/slide3.xml><?xml version="1.0" encoding="utf-8"?>
<p:sld xmlns:p="http://schemas.openxmlformats.org/presentationml/2006/main">
  <p:cSld>
    <p:bg>
      <p:bgPr>
        <a:solidFill xmlns:a="http://schemas.openxmlformats.org/drawingml/2006/main">
          <a:srgbClr val="FBF7EE"/>
        </a:solidFill>
      </p:bgPr>
    </p:bg>
    <p:spTree>
      <p:nvGrpSpPr>
        <p:cNvPr id="1" name=""/>
        <p:cNvGrpSpPr/>
        <p:nvPr/>
      </p:nvGrpSpPr>
      <p:grpSpPr>
        <a:xfrm xmlns:a="http://schemas.openxmlformats.org/drawingml/2006/main"/>
      </p:grpSpPr>
      <p:sp>
        <p:nvSpPr>
          <p:cNvPr id="19" name="accent-3">
            <a:extLst xmlns:a="http://schemas.openxmlformats.org/drawingml/2006/main">
              <a:ext uri="{FF2B5EF4-FFF2-40B4-BE49-F238E27FC236}">
                <a16:creationId xmlns:a16="http://schemas.microsoft.com/office/drawing/2014/main" id="{80C77087-29B2-48B7-8502-0F5A1615669D}"/>
              </a:ext>
            </a:extLst>
          </p:cNvPr>
          <p:cNvSpPr>
            <a:spLocks xmlns:a="http://schemas.openxmlformats.org/drawingml/2006/main" noGrp="1"/>
          </p:cNvSpPr>
          <p:nvPr/>
        </p:nvSpPr>
        <p:spPr>
          <a:xfrm xmlns:a="http://schemas.openxmlformats.org/drawingml/2006/main">
            <a:off x="0" y="0"/>
            <a:ext cx="12192000" cy="85725"/>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2" name="module-kicker-3">
            <a:extLst xmlns:a="http://schemas.openxmlformats.org/drawingml/2006/main">
              <a:ext uri="{FF2B5EF4-FFF2-40B4-BE49-F238E27FC236}">
                <a16:creationId xmlns:a16="http://schemas.microsoft.com/office/drawing/2014/main" id="{C7BCBC42-F695-42F3-900E-9CA87A9FD16A}"/>
              </a:ext>
            </a:extLst>
          </p:cNvPr>
          <p:cNvSpPr>
            <a:spLocks xmlns:a="http://schemas.openxmlformats.org/drawingml/2006/main" noGrp="1"/>
          </p:cNvSpPr>
          <p:nvPr/>
        </p:nvSpPr>
        <p:spPr>
          <a:xfrm xmlns:a="http://schemas.openxmlformats.org/drawingml/2006/main">
            <a:off x="685800" y="2667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MODULE 2  •  COMMUNICATE THE DESIGN</a:t>
            </a:r>
          </a:p>
        </p:txBody>
      </p:sp>
      <p:sp>
        <p:nvSpPr>
          <p:cNvPr id="3" name="slide-title-3">
            <a:extLst xmlns:a="http://schemas.openxmlformats.org/drawingml/2006/main">
              <a:ext uri="{FF2B5EF4-FFF2-40B4-BE49-F238E27FC236}">
                <a16:creationId xmlns:a16="http://schemas.microsoft.com/office/drawing/2014/main" id="{A60DBB43-F13F-4DB9-9965-FFA5461F1F34}"/>
              </a:ext>
            </a:extLst>
          </p:cNvPr>
          <p:cNvSpPr>
            <a:spLocks xmlns:a="http://schemas.openxmlformats.org/drawingml/2006/main" noGrp="1"/>
          </p:cNvSpPr>
          <p:nvPr/>
        </p:nvSpPr>
        <p:spPr>
          <a:xfrm xmlns:a="http://schemas.openxmlformats.org/drawingml/2006/main">
            <a:off x="685800" y="590550"/>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13F30"/>
                </a:solidFill>
              </a:defRPr>
            </a:pPr>
            <a:r>
              <a:rPr sz="2850" b="1">
                <a:solidFill>
                  <a:srgbClr val="113F30"/>
                </a:solidFill>
              </a:rPr>
              <a:t>Choose image type by what the design must do</a:t>
            </a:r>
          </a:p>
        </p:txBody>
      </p:sp>
      <p:sp>
        <p:nvSpPr>
          <p:cNvPr id="4" name="section-name-3">
            <a:extLst xmlns:a="http://schemas.openxmlformats.org/drawingml/2006/main">
              <a:ext uri="{FF2B5EF4-FFF2-40B4-BE49-F238E27FC236}">
                <a16:creationId xmlns:a16="http://schemas.microsoft.com/office/drawing/2014/main" id="{CC6ABE4D-7005-44C1-9EDE-654A4DB45A1D}"/>
              </a:ext>
            </a:extLst>
          </p:cNvPr>
          <p:cNvSpPr>
            <a:spLocks xmlns:a="http://schemas.openxmlformats.org/drawingml/2006/main" noGrp="1"/>
          </p:cNvSpPr>
          <p:nvPr/>
        </p:nvSpPr>
        <p:spPr>
          <a:xfrm xmlns:a="http://schemas.openxmlformats.org/drawingml/2006/main">
            <a:off x="685800" y="1285875"/>
            <a:ext cx="4095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VECTOR AND BITMAP</a:t>
            </a:r>
          </a:p>
        </p:txBody>
      </p:sp>
      <p:sp>
        <p:nvSpPr>
          <p:cNvPr id="5" name="s3-mark-1">
            <a:extLst xmlns:a="http://schemas.openxmlformats.org/drawingml/2006/main">
              <a:ext uri="{FF2B5EF4-FFF2-40B4-BE49-F238E27FC236}">
                <a16:creationId xmlns:a16="http://schemas.microsoft.com/office/drawing/2014/main" id="{33852379-A95E-43C0-840D-E85793DCCD06}"/>
              </a:ext>
            </a:extLst>
          </p:cNvPr>
          <p:cNvSpPr>
            <a:spLocks xmlns:a="http://schemas.openxmlformats.org/drawingml/2006/main" noGrp="1"/>
          </p:cNvSpPr>
          <p:nvPr/>
        </p:nvSpPr>
        <p:spPr>
          <a:xfrm xmlns:a="http://schemas.openxmlformats.org/drawingml/2006/main">
            <a:off x="685800" y="1790700"/>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6" name="s3-text-1">
            <a:extLst xmlns:a="http://schemas.openxmlformats.org/drawingml/2006/main">
              <a:ext uri="{FF2B5EF4-FFF2-40B4-BE49-F238E27FC236}">
                <a16:creationId xmlns:a16="http://schemas.microsoft.com/office/drawing/2014/main" id="{A3B1C71F-9B66-4062-9C8E-4DA96425288F}"/>
              </a:ext>
            </a:extLst>
          </p:cNvPr>
          <p:cNvSpPr>
            <a:spLocks xmlns:a="http://schemas.openxmlformats.org/drawingml/2006/main" noGrp="1"/>
          </p:cNvSpPr>
          <p:nvPr/>
        </p:nvSpPr>
        <p:spPr>
          <a:xfrm xmlns:a="http://schemas.openxmlformats.org/drawingml/2006/main">
            <a:off x="952500" y="17145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F2A25"/>
                </a:solidFill>
              </a:defRPr>
            </a:pPr>
            <a:r>
              <a:rPr sz="1575" b="0">
                <a:solidFill>
                  <a:srgbClr val="1F2A25"/>
                </a:solidFill>
              </a:rPr>
              <a:t>Vector graphics use editable points and paths, so clean shapes and lettering can scale without pixelation.</a:t>
            </a:r>
          </a:p>
        </p:txBody>
      </p:sp>
      <p:sp>
        <p:nvSpPr>
          <p:cNvPr id="7" name="s3-mark-2">
            <a:extLst xmlns:a="http://schemas.openxmlformats.org/drawingml/2006/main">
              <a:ext uri="{FF2B5EF4-FFF2-40B4-BE49-F238E27FC236}">
                <a16:creationId xmlns:a16="http://schemas.microsoft.com/office/drawing/2014/main" id="{65BACED3-6630-4E1A-86D6-EEB283094452}"/>
              </a:ext>
            </a:extLst>
          </p:cNvPr>
          <p:cNvSpPr>
            <a:spLocks xmlns:a="http://schemas.openxmlformats.org/drawingml/2006/main" noGrp="1"/>
          </p:cNvSpPr>
          <p:nvPr/>
        </p:nvSpPr>
        <p:spPr>
          <a:xfrm xmlns:a="http://schemas.openxmlformats.org/drawingml/2006/main">
            <a:off x="685800" y="2781300"/>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8" name="s3-text-2">
            <a:extLst xmlns:a="http://schemas.openxmlformats.org/drawingml/2006/main">
              <a:ext uri="{FF2B5EF4-FFF2-40B4-BE49-F238E27FC236}">
                <a16:creationId xmlns:a16="http://schemas.microsoft.com/office/drawing/2014/main" id="{2B4D2D43-8B37-4742-86BA-9AD77546B851}"/>
              </a:ext>
            </a:extLst>
          </p:cNvPr>
          <p:cNvSpPr>
            <a:spLocks xmlns:a="http://schemas.openxmlformats.org/drawingml/2006/main" noGrp="1"/>
          </p:cNvSpPr>
          <p:nvPr/>
        </p:nvSpPr>
        <p:spPr>
          <a:xfrm xmlns:a="http://schemas.openxmlformats.org/drawingml/2006/main">
            <a:off x="952500" y="27051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F2A25"/>
                </a:solidFill>
              </a:defRPr>
            </a:pPr>
            <a:r>
              <a:rPr sz="1575" b="0">
                <a:solidFill>
                  <a:srgbClr val="1F2A25"/>
                </a:solidFill>
              </a:rPr>
              <a:t>Bitmap graphics use pixels and suit photographs or detailed textures, but enlargement can reveal the grid.</a:t>
            </a:r>
          </a:p>
        </p:txBody>
      </p:sp>
      <p:sp>
        <p:nvSpPr>
          <p:cNvPr id="9" name="s3-mark-3">
            <a:extLst xmlns:a="http://schemas.openxmlformats.org/drawingml/2006/main">
              <a:ext uri="{FF2B5EF4-FFF2-40B4-BE49-F238E27FC236}">
                <a16:creationId xmlns:a16="http://schemas.microsoft.com/office/drawing/2014/main" id="{1FD2D0C3-DA9B-47E9-A9A9-D5D9674BBD1A}"/>
              </a:ext>
            </a:extLst>
          </p:cNvPr>
          <p:cNvSpPr>
            <a:spLocks xmlns:a="http://schemas.openxmlformats.org/drawingml/2006/main" noGrp="1"/>
          </p:cNvSpPr>
          <p:nvPr/>
        </p:nvSpPr>
        <p:spPr>
          <a:xfrm xmlns:a="http://schemas.openxmlformats.org/drawingml/2006/main">
            <a:off x="685800" y="3771900"/>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10" name="s3-text-3">
            <a:extLst xmlns:a="http://schemas.openxmlformats.org/drawingml/2006/main">
              <a:ext uri="{FF2B5EF4-FFF2-40B4-BE49-F238E27FC236}">
                <a16:creationId xmlns:a16="http://schemas.microsoft.com/office/drawing/2014/main" id="{C035B603-7933-48EC-B43F-38BBEFF26300}"/>
              </a:ext>
            </a:extLst>
          </p:cNvPr>
          <p:cNvSpPr>
            <a:spLocks xmlns:a="http://schemas.openxmlformats.org/drawingml/2006/main" noGrp="1"/>
          </p:cNvSpPr>
          <p:nvPr/>
        </p:nvSpPr>
        <p:spPr>
          <a:xfrm xmlns:a="http://schemas.openxmlformats.org/drawingml/2006/main">
            <a:off x="952500" y="3695700"/>
            <a:ext cx="3905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F2A25"/>
                </a:solidFill>
              </a:defRPr>
            </a:pPr>
            <a:r>
              <a:rPr sz="1575" b="0">
                <a:solidFill>
                  <a:srgbClr val="1F2A25"/>
                </a:solidFill>
              </a:rPr>
              <a:t>Placing a photograph in a vector file does not convert it. Automatic tracing still needs purposeful review.</a:t>
            </a:r>
          </a:p>
        </p:txBody>
      </p:sp>
      <p:sp>
        <p:nvSpPr>
          <p:cNvPr id="11" name="prompt-band-3">
            <a:extLst xmlns:a="http://schemas.openxmlformats.org/drawingml/2006/main">
              <a:ext uri="{FF2B5EF4-FFF2-40B4-BE49-F238E27FC236}">
                <a16:creationId xmlns:a16="http://schemas.microsoft.com/office/drawing/2014/main" id="{2C26CBB5-C213-43C3-A2C7-88A0CDE0C89A}"/>
              </a:ext>
            </a:extLst>
          </p:cNvPr>
          <p:cNvSpPr>
            <a:spLocks xmlns:a="http://schemas.openxmlformats.org/drawingml/2006/main" noGrp="1"/>
          </p:cNvSpPr>
          <p:nvPr/>
        </p:nvSpPr>
        <p:spPr>
          <a:xfrm xmlns:a="http://schemas.openxmlformats.org/drawingml/2006/main">
            <a:off x="685800" y="4724400"/>
            <a:ext cx="4171950" cy="1257300"/>
          </a:xfrm>
          <a:prstGeom xmlns:a="http://schemas.openxmlformats.org/drawingml/2006/main" prst="roundRect">
            <a:avLst>
              <a:gd name="adj" fmla="val 12121"/>
            </a:avLst>
          </a:prstGeom>
          <a:solidFill xmlns:a="http://schemas.openxmlformats.org/drawingml/2006/main">
            <a:srgbClr val="E8F3ED"/>
          </a:solidFill>
          <a:ln xmlns:a="http://schemas.openxmlformats.org/drawingml/2006/main" w="9525">
            <a:solidFill>
              <a:srgbClr val="C8D8CF"/>
            </a:solidFill>
            <a:prstDash val="solid"/>
          </a:ln>
        </p:spPr>
      </p:sp>
      <p:sp>
        <p:nvSpPr>
          <p:cNvPr id="12" name="prompt-label-3">
            <a:extLst xmlns:a="http://schemas.openxmlformats.org/drawingml/2006/main">
              <a:ext uri="{FF2B5EF4-FFF2-40B4-BE49-F238E27FC236}">
                <a16:creationId xmlns:a16="http://schemas.microsoft.com/office/drawing/2014/main" id="{A12EA9C8-8BA1-481D-AF46-3F3899EE3EB7}"/>
              </a:ext>
            </a:extLst>
          </p:cNvPr>
          <p:cNvSpPr>
            <a:spLocks xmlns:a="http://schemas.openxmlformats.org/drawingml/2006/main" noGrp="1"/>
          </p:cNvSpPr>
          <p:nvPr/>
        </p:nvSpPr>
        <p:spPr>
          <a:xfrm xmlns:a="http://schemas.openxmlformats.org/drawingml/2006/main">
            <a:off x="895350" y="4857750"/>
            <a:ext cx="1238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APPLY IT</a:t>
            </a:r>
          </a:p>
        </p:txBody>
      </p:sp>
      <p:sp>
        <p:nvSpPr>
          <p:cNvPr id="13" name="prompt-3">
            <a:extLst xmlns:a="http://schemas.openxmlformats.org/drawingml/2006/main">
              <a:ext uri="{FF2B5EF4-FFF2-40B4-BE49-F238E27FC236}">
                <a16:creationId xmlns:a16="http://schemas.microsoft.com/office/drawing/2014/main" id="{EC441649-29F7-4704-AD45-DFD780C4D77A}"/>
              </a:ext>
            </a:extLst>
          </p:cNvPr>
          <p:cNvSpPr>
            <a:spLocks xmlns:a="http://schemas.openxmlformats.org/drawingml/2006/main" noGrp="1"/>
          </p:cNvSpPr>
          <p:nvPr/>
        </p:nvSpPr>
        <p:spPr>
          <a:xfrm xmlns:a="http://schemas.openxmlformats.org/drawingml/2006/main">
            <a:off x="895350" y="5143500"/>
            <a:ext cx="3714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13F30"/>
                </a:solidFill>
              </a:defRPr>
            </a:pPr>
            <a:r>
              <a:rPr sz="1350" b="1">
                <a:solidFill>
                  <a:srgbClr val="113F30"/>
                </a:solidFill>
              </a:rPr>
              <a:t>Choose a format for a product photograph and for clean editable lettering. Justify both choices.</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0a3fbc4adfc147c9"/>
          <a:srcRect xmlns:a="http://schemas.openxmlformats.org/drawingml/2006/main" l="226" t="0" r="226" b="0"/>
          <a:stretch xmlns:a="http://schemas.openxmlformats.org/drawingml/2006/main">
            <a:fillRect l="0" t="0" r="0" b="0"/>
          </a:stretch>
        </p:blipFill>
        <p:spPr>
          <a:xfrm xmlns:a="http://schemas.openxmlformats.org/drawingml/2006/main">
            <a:off x="5219700" y="1447800"/>
            <a:ext cx="6286500" cy="4210050"/>
          </a:xfrm>
          <a:prstGeom xmlns:a="http://schemas.openxmlformats.org/drawingml/2006/main" prst="roundRect">
            <a:avLst>
              <a:gd name="adj" fmla="val 4072"/>
            </a:avLst>
          </a:prstGeom>
        </p:spPr>
      </p:pic>
      <p:sp>
        <p:nvSpPr>
          <p:cNvPr id="15" name="caption-3">
            <a:extLst xmlns:a="http://schemas.openxmlformats.org/drawingml/2006/main">
              <a:ext uri="{FF2B5EF4-FFF2-40B4-BE49-F238E27FC236}">
                <a16:creationId xmlns:a16="http://schemas.microsoft.com/office/drawing/2014/main" id="{7508A983-97EB-4A82-8FD9-9C9492F86E51}"/>
              </a:ext>
            </a:extLst>
          </p:cNvPr>
          <p:cNvSpPr>
            <a:spLocks xmlns:a="http://schemas.openxmlformats.org/drawingml/2006/main" noGrp="1"/>
          </p:cNvSpPr>
          <p:nvPr/>
        </p:nvSpPr>
        <p:spPr>
          <a:xfrm xmlns:a="http://schemas.openxmlformats.org/drawingml/2006/main">
            <a:off x="5334000" y="5772150"/>
            <a:ext cx="6057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4645D"/>
                </a:solidFill>
              </a:defRPr>
            </a:pPr>
            <a:r>
              <a:rPr sz="1275" b="0">
                <a:solidFill>
                  <a:srgbClr val="54645D"/>
                </a:solidFill>
              </a:rPr>
              <a:t>Paths describe clean forms; pixels describe sampled detail.</a:t>
            </a:r>
          </a:p>
        </p:txBody>
      </p:sp>
      <p:sp>
        <p:nvSpPr>
          <p:cNvPr id="16" name="footer-rule-3">
            <a:extLst xmlns:a="http://schemas.openxmlformats.org/drawingml/2006/main">
              <a:ext uri="{FF2B5EF4-FFF2-40B4-BE49-F238E27FC236}">
                <a16:creationId xmlns:a16="http://schemas.microsoft.com/office/drawing/2014/main" id="{68CF7E46-9FDC-47A4-B51D-62565B66C587}"/>
              </a:ext>
            </a:extLst>
          </p:cNvPr>
          <p:cNvSpPr>
            <a:spLocks xmlns:a="http://schemas.openxmlformats.org/drawingml/2006/main" noGrp="1"/>
          </p:cNvSpPr>
          <p:nvPr/>
        </p:nvSpPr>
        <p:spPr>
          <a:xfrm xmlns:a="http://schemas.openxmlformats.org/drawingml/2006/main">
            <a:off x="685800" y="6486525"/>
            <a:ext cx="10820400" cy="19050"/>
          </a:xfrm>
          <a:prstGeom xmlns:a="http://schemas.openxmlformats.org/drawingml/2006/main" prst="rect">
            <a:avLst/>
          </a:prstGeom>
          <a:solidFill xmlns:a="http://schemas.openxmlformats.org/drawingml/2006/main">
            <a:srgbClr val="C8D8CF"/>
          </a:solidFill>
          <a:ln xmlns:a="http://schemas.openxmlformats.org/drawingml/2006/main" w="0">
            <a:solidFill>
              <a:srgbClr val="C8D8CF"/>
            </a:solidFill>
            <a:prstDash val="solid"/>
          </a:ln>
        </p:spPr>
      </p:sp>
      <p:sp>
        <p:nvSpPr>
          <p:cNvPr id="17" name="footer-label-3">
            <a:extLst xmlns:a="http://schemas.openxmlformats.org/drawingml/2006/main">
              <a:ext uri="{FF2B5EF4-FFF2-40B4-BE49-F238E27FC236}">
                <a16:creationId xmlns:a16="http://schemas.microsoft.com/office/drawing/2014/main" id="{2B3EF6AA-57B9-46D4-B3D7-8FAEB81FA1FF}"/>
              </a:ext>
            </a:extLst>
          </p:cNvPr>
          <p:cNvSpPr>
            <a:spLocks xmlns:a="http://schemas.openxmlformats.org/drawingml/2006/main" noGrp="1"/>
          </p:cNvSpPr>
          <p:nvPr/>
        </p:nvSpPr>
        <p:spPr>
          <a:xfrm xmlns:a="http://schemas.openxmlformats.org/drawingml/2006/main">
            <a:off x="685800" y="6562725"/>
            <a:ext cx="4095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54645D"/>
                </a:solidFill>
              </a:defRPr>
            </a:pPr>
            <a:r>
              <a:rPr sz="900" b="1">
                <a:solidFill>
                  <a:srgbClr val="54645D"/>
                </a:solidFill>
              </a:rPr>
              <a:t>SWINGING SIGN  •  MODULE 2</a:t>
            </a:r>
          </a:p>
        </p:txBody>
      </p:sp>
      <p:sp>
        <p:nvSpPr>
          <p:cNvPr id="18" name="footer-page-3">
            <a:extLst xmlns:a="http://schemas.openxmlformats.org/drawingml/2006/main">
              <a:ext uri="{FF2B5EF4-FFF2-40B4-BE49-F238E27FC236}">
                <a16:creationId xmlns:a16="http://schemas.microsoft.com/office/drawing/2014/main" id="{B7CD8CF7-72EB-4763-8159-4C47A97EA93B}"/>
              </a:ext>
            </a:extLst>
          </p:cNvPr>
          <p:cNvSpPr>
            <a:spLocks xmlns:a="http://schemas.openxmlformats.org/drawingml/2006/main" noGrp="1"/>
          </p:cNvSpPr>
          <p:nvPr/>
        </p:nvSpPr>
        <p:spPr>
          <a:xfrm xmlns:a="http://schemas.openxmlformats.org/drawingml/2006/main">
            <a:off x="10763250" y="6562725"/>
            <a:ext cx="742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54645D"/>
                </a:solidFill>
              </a:defRPr>
            </a:pPr>
            <a:r>
              <a:rPr sz="900" b="1">
                <a:solidFill>
                  <a:srgbClr val="54645D"/>
                </a:solidFill>
              </a:rPr>
              <a:t>3 / 8</a:t>
            </a:r>
          </a:p>
        </p:txBody>
      </p:sp>
    </p:spTree>
    <p:extLst>
      <p:ext uri="{BB962C8B-B14F-4D97-AF65-F5344CB8AC3E}">
        <p14:creationId xmlns:p14="http://schemas.microsoft.com/office/powerpoint/2010/main" val="1082092972"/>
      </p:ext>
    </p:extLst>
  </p:cSld>
</p:sld>
</file>

<file path=ppt/slides/slide4.xml><?xml version="1.0" encoding="utf-8"?>
<p:sld xmlns:p="http://schemas.openxmlformats.org/presentationml/2006/main">
  <p:cSld>
    <p:bg>
      <p:bgPr>
        <a:solidFill xmlns:a="http://schemas.openxmlformats.org/drawingml/2006/main">
          <a:srgbClr val="FBF7EE"/>
        </a:solidFill>
      </p:bgPr>
    </p:bg>
    <p:spTree>
      <p:nvGrpSpPr>
        <p:cNvPr id="1" name=""/>
        <p:cNvGrpSpPr/>
        <p:nvPr/>
      </p:nvGrpSpPr>
      <p:grpSpPr>
        <a:xfrm xmlns:a="http://schemas.openxmlformats.org/drawingml/2006/main"/>
      </p:grpSpPr>
      <p:sp>
        <p:nvSpPr>
          <p:cNvPr id="19" name="accent-4">
            <a:extLst xmlns:a="http://schemas.openxmlformats.org/drawingml/2006/main">
              <a:ext uri="{FF2B5EF4-FFF2-40B4-BE49-F238E27FC236}">
                <a16:creationId xmlns:a16="http://schemas.microsoft.com/office/drawing/2014/main" id="{72E619E6-D351-4AE0-8008-419E17D15E02}"/>
              </a:ext>
            </a:extLst>
          </p:cNvPr>
          <p:cNvSpPr>
            <a:spLocks xmlns:a="http://schemas.openxmlformats.org/drawingml/2006/main" noGrp="1"/>
          </p:cNvSpPr>
          <p:nvPr/>
        </p:nvSpPr>
        <p:spPr>
          <a:xfrm xmlns:a="http://schemas.openxmlformats.org/drawingml/2006/main">
            <a:off x="0" y="0"/>
            <a:ext cx="12192000" cy="85725"/>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2" name="module-kicker-4">
            <a:extLst xmlns:a="http://schemas.openxmlformats.org/drawingml/2006/main">
              <a:ext uri="{FF2B5EF4-FFF2-40B4-BE49-F238E27FC236}">
                <a16:creationId xmlns:a16="http://schemas.microsoft.com/office/drawing/2014/main" id="{9658361B-F0E2-4BE0-B58F-9B7960CF65A4}"/>
              </a:ext>
            </a:extLst>
          </p:cNvPr>
          <p:cNvSpPr>
            <a:spLocks xmlns:a="http://schemas.openxmlformats.org/drawingml/2006/main" noGrp="1"/>
          </p:cNvSpPr>
          <p:nvPr/>
        </p:nvSpPr>
        <p:spPr>
          <a:xfrm xmlns:a="http://schemas.openxmlformats.org/drawingml/2006/main">
            <a:off x="685800" y="2667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MODULE 2  •  COMMUNICATE THE DESIGN</a:t>
            </a:r>
          </a:p>
        </p:txBody>
      </p:sp>
      <p:sp>
        <p:nvSpPr>
          <p:cNvPr id="3" name="slide-title-4">
            <a:extLst xmlns:a="http://schemas.openxmlformats.org/drawingml/2006/main">
              <a:ext uri="{FF2B5EF4-FFF2-40B4-BE49-F238E27FC236}">
                <a16:creationId xmlns:a16="http://schemas.microsoft.com/office/drawing/2014/main" id="{4A3A9F75-7B0D-4D13-AB95-73570FC4B429}"/>
              </a:ext>
            </a:extLst>
          </p:cNvPr>
          <p:cNvSpPr>
            <a:spLocks xmlns:a="http://schemas.openxmlformats.org/drawingml/2006/main" noGrp="1"/>
          </p:cNvSpPr>
          <p:nvPr/>
        </p:nvSpPr>
        <p:spPr>
          <a:xfrm xmlns:a="http://schemas.openxmlformats.org/drawingml/2006/main">
            <a:off x="685800" y="590550"/>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13F30"/>
                </a:solidFill>
              </a:defRPr>
            </a:pPr>
            <a:r>
              <a:rPr sz="2850" b="1">
                <a:solidFill>
                  <a:srgbClr val="113F30"/>
                </a:solidFill>
              </a:rPr>
              <a:t>Clean paths make ideas easier to review and revise</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dce78e98fc8f4ab0"/>
          <a:srcRect xmlns:a="http://schemas.openxmlformats.org/drawingml/2006/main" l="2338" t="0" r="2338" b="0"/>
          <a:stretch xmlns:a="http://schemas.openxmlformats.org/drawingml/2006/main">
            <a:fillRect l="0" t="0" r="0" b="0"/>
          </a:stretch>
        </p:blipFill>
        <p:spPr>
          <a:xfrm xmlns:a="http://schemas.openxmlformats.org/drawingml/2006/main">
            <a:off x="685800" y="1447800"/>
            <a:ext cx="6019800" cy="4210050"/>
          </a:xfrm>
          <a:prstGeom xmlns:a="http://schemas.openxmlformats.org/drawingml/2006/main" prst="roundRect">
            <a:avLst>
              <a:gd name="adj" fmla="val 4072"/>
            </a:avLst>
          </a:prstGeom>
        </p:spPr>
      </p:pic>
      <p:sp>
        <p:nvSpPr>
          <p:cNvPr id="5" name="caption-4">
            <a:extLst xmlns:a="http://schemas.openxmlformats.org/drawingml/2006/main">
              <a:ext uri="{FF2B5EF4-FFF2-40B4-BE49-F238E27FC236}">
                <a16:creationId xmlns:a16="http://schemas.microsoft.com/office/drawing/2014/main" id="{1BF3C97F-1D37-4CFC-9729-E47D2AFF1641}"/>
              </a:ext>
            </a:extLst>
          </p:cNvPr>
          <p:cNvSpPr>
            <a:spLocks xmlns:a="http://schemas.openxmlformats.org/drawingml/2006/main" noGrp="1"/>
          </p:cNvSpPr>
          <p:nvPr/>
        </p:nvSpPr>
        <p:spPr>
          <a:xfrm xmlns:a="http://schemas.openxmlformats.org/drawingml/2006/main">
            <a:off x="800100" y="5772150"/>
            <a:ext cx="57912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54645D"/>
                </a:solidFill>
              </a:defRPr>
            </a:pPr>
            <a:r>
              <a:rPr sz="1275" b="0">
                <a:solidFill>
                  <a:srgbClr val="54645D"/>
                </a:solidFill>
              </a:rPr>
              <a:t>Use only enough nodes to describe the intended contour.</a:t>
            </a:r>
          </a:p>
        </p:txBody>
      </p:sp>
      <p:sp>
        <p:nvSpPr>
          <p:cNvPr id="6" name="section-name-4">
            <a:extLst xmlns:a="http://schemas.openxmlformats.org/drawingml/2006/main">
              <a:ext uri="{FF2B5EF4-FFF2-40B4-BE49-F238E27FC236}">
                <a16:creationId xmlns:a16="http://schemas.microsoft.com/office/drawing/2014/main" id="{DF60D199-F05F-419A-A117-F6905035EDBB}"/>
              </a:ext>
            </a:extLst>
          </p:cNvPr>
          <p:cNvSpPr>
            <a:spLocks xmlns:a="http://schemas.openxmlformats.org/drawingml/2006/main" noGrp="1"/>
          </p:cNvSpPr>
          <p:nvPr/>
        </p:nvSpPr>
        <p:spPr>
          <a:xfrm xmlns:a="http://schemas.openxmlformats.org/drawingml/2006/main">
            <a:off x="7105650" y="1438275"/>
            <a:ext cx="44005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INKSCAPE TOOLS AND PATHS</a:t>
            </a:r>
          </a:p>
        </p:txBody>
      </p:sp>
      <p:sp>
        <p:nvSpPr>
          <p:cNvPr id="7" name="s4-mark-1">
            <a:extLst xmlns:a="http://schemas.openxmlformats.org/drawingml/2006/main">
              <a:ext uri="{FF2B5EF4-FFF2-40B4-BE49-F238E27FC236}">
                <a16:creationId xmlns:a16="http://schemas.microsoft.com/office/drawing/2014/main" id="{DF79F36B-7405-4EE4-916D-3EF38D2F3175}"/>
              </a:ext>
            </a:extLst>
          </p:cNvPr>
          <p:cNvSpPr>
            <a:spLocks xmlns:a="http://schemas.openxmlformats.org/drawingml/2006/main" noGrp="1"/>
          </p:cNvSpPr>
          <p:nvPr/>
        </p:nvSpPr>
        <p:spPr>
          <a:xfrm xmlns:a="http://schemas.openxmlformats.org/drawingml/2006/main">
            <a:off x="7105650" y="1885950"/>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8" name="s4-text-1">
            <a:extLst xmlns:a="http://schemas.openxmlformats.org/drawingml/2006/main">
              <a:ext uri="{FF2B5EF4-FFF2-40B4-BE49-F238E27FC236}">
                <a16:creationId xmlns:a16="http://schemas.microsoft.com/office/drawing/2014/main" id="{8B9DD9DF-7458-477C-B86C-5371DAE25390}"/>
              </a:ext>
            </a:extLst>
          </p:cNvPr>
          <p:cNvSpPr>
            <a:spLocks xmlns:a="http://schemas.openxmlformats.org/drawingml/2006/main" noGrp="1"/>
          </p:cNvSpPr>
          <p:nvPr/>
        </p:nvSpPr>
        <p:spPr>
          <a:xfrm xmlns:a="http://schemas.openxmlformats.org/drawingml/2006/main">
            <a:off x="7372350" y="1809750"/>
            <a:ext cx="41338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F2A25"/>
                </a:solidFill>
              </a:defRPr>
            </a:pPr>
            <a:r>
              <a:rPr sz="1575" b="0">
                <a:solidFill>
                  <a:srgbClr val="1F2A25"/>
                </a:solidFill>
              </a:rPr>
              <a:t>Use Select for whole objects, Node for path points, and shape or pen tools for purposeful geometry.</a:t>
            </a:r>
          </a:p>
        </p:txBody>
      </p:sp>
      <p:sp>
        <p:nvSpPr>
          <p:cNvPr id="9" name="s4-mark-2">
            <a:extLst xmlns:a="http://schemas.openxmlformats.org/drawingml/2006/main">
              <a:ext uri="{FF2B5EF4-FFF2-40B4-BE49-F238E27FC236}">
                <a16:creationId xmlns:a16="http://schemas.microsoft.com/office/drawing/2014/main" id="{9C9BC486-9826-4463-815E-E2F78FD5B816}"/>
              </a:ext>
            </a:extLst>
          </p:cNvPr>
          <p:cNvSpPr>
            <a:spLocks xmlns:a="http://schemas.openxmlformats.org/drawingml/2006/main" noGrp="1"/>
          </p:cNvSpPr>
          <p:nvPr/>
        </p:nvSpPr>
        <p:spPr>
          <a:xfrm xmlns:a="http://schemas.openxmlformats.org/drawingml/2006/main">
            <a:off x="7105650" y="2867025"/>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10" name="s4-text-2">
            <a:extLst xmlns:a="http://schemas.openxmlformats.org/drawingml/2006/main">
              <a:ext uri="{FF2B5EF4-FFF2-40B4-BE49-F238E27FC236}">
                <a16:creationId xmlns:a16="http://schemas.microsoft.com/office/drawing/2014/main" id="{7B04895D-F66E-48C1-8AE5-05B9DA70040A}"/>
              </a:ext>
            </a:extLst>
          </p:cNvPr>
          <p:cNvSpPr>
            <a:spLocks xmlns:a="http://schemas.openxmlformats.org/drawingml/2006/main" noGrp="1"/>
          </p:cNvSpPr>
          <p:nvPr/>
        </p:nvSpPr>
        <p:spPr>
          <a:xfrm xmlns:a="http://schemas.openxmlformats.org/drawingml/2006/main">
            <a:off x="7372350" y="2790825"/>
            <a:ext cx="41338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F2A25"/>
                </a:solidFill>
              </a:defRPr>
            </a:pPr>
            <a:r>
              <a:rPr sz="1575" b="0">
                <a:solidFill>
                  <a:srgbClr val="1F2A25"/>
                </a:solidFill>
              </a:rPr>
              <a:t>Fill describes the inside; stroke describes the outline. Grouping and order help another person inspect the design.</a:t>
            </a:r>
          </a:p>
        </p:txBody>
      </p:sp>
      <p:sp>
        <p:nvSpPr>
          <p:cNvPr id="11" name="s4-mark-3">
            <a:extLst xmlns:a="http://schemas.openxmlformats.org/drawingml/2006/main">
              <a:ext uri="{FF2B5EF4-FFF2-40B4-BE49-F238E27FC236}">
                <a16:creationId xmlns:a16="http://schemas.microsoft.com/office/drawing/2014/main" id="{1848564E-69DF-4E3D-9B71-199507B339E9}"/>
              </a:ext>
            </a:extLst>
          </p:cNvPr>
          <p:cNvSpPr>
            <a:spLocks xmlns:a="http://schemas.openxmlformats.org/drawingml/2006/main" noGrp="1"/>
          </p:cNvSpPr>
          <p:nvPr/>
        </p:nvSpPr>
        <p:spPr>
          <a:xfrm xmlns:a="http://schemas.openxmlformats.org/drawingml/2006/main">
            <a:off x="7105650" y="3848100"/>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12" name="s4-text-3">
            <a:extLst xmlns:a="http://schemas.openxmlformats.org/drawingml/2006/main">
              <a:ext uri="{FF2B5EF4-FFF2-40B4-BE49-F238E27FC236}">
                <a16:creationId xmlns:a16="http://schemas.microsoft.com/office/drawing/2014/main" id="{4F568141-3384-4163-8E35-5AF63A51185D}"/>
              </a:ext>
            </a:extLst>
          </p:cNvPr>
          <p:cNvSpPr>
            <a:spLocks xmlns:a="http://schemas.openxmlformats.org/drawingml/2006/main" noGrp="1"/>
          </p:cNvSpPr>
          <p:nvPr/>
        </p:nvSpPr>
        <p:spPr>
          <a:xfrm xmlns:a="http://schemas.openxmlformats.org/drawingml/2006/main">
            <a:off x="7372350" y="3771900"/>
            <a:ext cx="4133850" cy="9429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1F2A25"/>
                </a:solidFill>
              </a:defRPr>
            </a:pPr>
            <a:r>
              <a:rPr sz="1575" b="0">
                <a:solidFill>
                  <a:srgbClr val="1F2A25"/>
                </a:solidFill>
              </a:rPr>
              <a:t>More nodes do not mean more accuracy. Intentional curves and clear versions make revision safer and faster.</a:t>
            </a:r>
          </a:p>
        </p:txBody>
      </p:sp>
      <p:sp>
        <p:nvSpPr>
          <p:cNvPr id="13" name="prompt-band-4">
            <a:extLst xmlns:a="http://schemas.openxmlformats.org/drawingml/2006/main">
              <a:ext uri="{FF2B5EF4-FFF2-40B4-BE49-F238E27FC236}">
                <a16:creationId xmlns:a16="http://schemas.microsoft.com/office/drawing/2014/main" id="{78FB2C8D-259D-4B54-AC88-72C5672A9135}"/>
              </a:ext>
            </a:extLst>
          </p:cNvPr>
          <p:cNvSpPr>
            <a:spLocks xmlns:a="http://schemas.openxmlformats.org/drawingml/2006/main" noGrp="1"/>
          </p:cNvSpPr>
          <p:nvPr/>
        </p:nvSpPr>
        <p:spPr>
          <a:xfrm xmlns:a="http://schemas.openxmlformats.org/drawingml/2006/main">
            <a:off x="7105650" y="4762500"/>
            <a:ext cx="4400550" cy="1219200"/>
          </a:xfrm>
          <a:prstGeom xmlns:a="http://schemas.openxmlformats.org/drawingml/2006/main" prst="roundRect">
            <a:avLst>
              <a:gd name="adj" fmla="val 12500"/>
            </a:avLst>
          </a:prstGeom>
          <a:solidFill xmlns:a="http://schemas.openxmlformats.org/drawingml/2006/main">
            <a:srgbClr val="E8F3ED"/>
          </a:solidFill>
          <a:ln xmlns:a="http://schemas.openxmlformats.org/drawingml/2006/main" w="9525">
            <a:solidFill>
              <a:srgbClr val="C8D8CF"/>
            </a:solidFill>
            <a:prstDash val="solid"/>
          </a:ln>
        </p:spPr>
      </p:sp>
      <p:sp>
        <p:nvSpPr>
          <p:cNvPr id="14" name="prompt-label-4">
            <a:extLst xmlns:a="http://schemas.openxmlformats.org/drawingml/2006/main">
              <a:ext uri="{FF2B5EF4-FFF2-40B4-BE49-F238E27FC236}">
                <a16:creationId xmlns:a16="http://schemas.microsoft.com/office/drawing/2014/main" id="{C3E837B8-169D-489E-8E61-9CFDF04DC5F7}"/>
              </a:ext>
            </a:extLst>
          </p:cNvPr>
          <p:cNvSpPr>
            <a:spLocks xmlns:a="http://schemas.openxmlformats.org/drawingml/2006/main" noGrp="1"/>
          </p:cNvSpPr>
          <p:nvPr/>
        </p:nvSpPr>
        <p:spPr>
          <a:xfrm xmlns:a="http://schemas.openxmlformats.org/drawingml/2006/main">
            <a:off x="7315200" y="4905375"/>
            <a:ext cx="1238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APPLY IT</a:t>
            </a:r>
          </a:p>
        </p:txBody>
      </p:sp>
      <p:sp>
        <p:nvSpPr>
          <p:cNvPr id="15" name="prompt-4">
            <a:extLst xmlns:a="http://schemas.openxmlformats.org/drawingml/2006/main">
              <a:ext uri="{FF2B5EF4-FFF2-40B4-BE49-F238E27FC236}">
                <a16:creationId xmlns:a16="http://schemas.microsoft.com/office/drawing/2014/main" id="{406E73D5-D62B-4F8B-9C2E-8418FE9756B1}"/>
              </a:ext>
            </a:extLst>
          </p:cNvPr>
          <p:cNvSpPr>
            <a:spLocks xmlns:a="http://schemas.openxmlformats.org/drawingml/2006/main" noGrp="1"/>
          </p:cNvSpPr>
          <p:nvPr/>
        </p:nvSpPr>
        <p:spPr>
          <a:xfrm xmlns:a="http://schemas.openxmlformats.org/drawingml/2006/main">
            <a:off x="7315200" y="5191125"/>
            <a:ext cx="39433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113F30"/>
                </a:solidFill>
              </a:defRPr>
            </a:pPr>
            <a:r>
              <a:rPr sz="1350" b="1">
                <a:solidFill>
                  <a:srgbClr val="113F30"/>
                </a:solidFill>
              </a:rPr>
              <a:t>Identify one untidy path problem and name the tool family you would use to improve it.</a:t>
            </a:r>
          </a:p>
        </p:txBody>
      </p:sp>
      <p:sp>
        <p:nvSpPr>
          <p:cNvPr id="16" name="footer-rule-4">
            <a:extLst xmlns:a="http://schemas.openxmlformats.org/drawingml/2006/main">
              <a:ext uri="{FF2B5EF4-FFF2-40B4-BE49-F238E27FC236}">
                <a16:creationId xmlns:a16="http://schemas.microsoft.com/office/drawing/2014/main" id="{9A143929-2673-44C8-8A0E-FFC7546B6A8A}"/>
              </a:ext>
            </a:extLst>
          </p:cNvPr>
          <p:cNvSpPr>
            <a:spLocks xmlns:a="http://schemas.openxmlformats.org/drawingml/2006/main" noGrp="1"/>
          </p:cNvSpPr>
          <p:nvPr/>
        </p:nvSpPr>
        <p:spPr>
          <a:xfrm xmlns:a="http://schemas.openxmlformats.org/drawingml/2006/main">
            <a:off x="685800" y="6486525"/>
            <a:ext cx="10820400" cy="19050"/>
          </a:xfrm>
          <a:prstGeom xmlns:a="http://schemas.openxmlformats.org/drawingml/2006/main" prst="rect">
            <a:avLst/>
          </a:prstGeom>
          <a:solidFill xmlns:a="http://schemas.openxmlformats.org/drawingml/2006/main">
            <a:srgbClr val="C8D8CF"/>
          </a:solidFill>
          <a:ln xmlns:a="http://schemas.openxmlformats.org/drawingml/2006/main" w="0">
            <a:solidFill>
              <a:srgbClr val="C8D8CF"/>
            </a:solidFill>
            <a:prstDash val="solid"/>
          </a:ln>
        </p:spPr>
      </p:sp>
      <p:sp>
        <p:nvSpPr>
          <p:cNvPr id="17" name="footer-label-4">
            <a:extLst xmlns:a="http://schemas.openxmlformats.org/drawingml/2006/main">
              <a:ext uri="{FF2B5EF4-FFF2-40B4-BE49-F238E27FC236}">
                <a16:creationId xmlns:a16="http://schemas.microsoft.com/office/drawing/2014/main" id="{B3D6AD61-D4CF-46F5-8962-3517A30D0EE1}"/>
              </a:ext>
            </a:extLst>
          </p:cNvPr>
          <p:cNvSpPr>
            <a:spLocks xmlns:a="http://schemas.openxmlformats.org/drawingml/2006/main" noGrp="1"/>
          </p:cNvSpPr>
          <p:nvPr/>
        </p:nvSpPr>
        <p:spPr>
          <a:xfrm xmlns:a="http://schemas.openxmlformats.org/drawingml/2006/main">
            <a:off x="685800" y="6562725"/>
            <a:ext cx="4095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54645D"/>
                </a:solidFill>
              </a:defRPr>
            </a:pPr>
            <a:r>
              <a:rPr sz="900" b="1">
                <a:solidFill>
                  <a:srgbClr val="54645D"/>
                </a:solidFill>
              </a:rPr>
              <a:t>SWINGING SIGN  •  MODULE 2</a:t>
            </a:r>
          </a:p>
        </p:txBody>
      </p:sp>
      <p:sp>
        <p:nvSpPr>
          <p:cNvPr id="18" name="footer-page-4">
            <a:extLst xmlns:a="http://schemas.openxmlformats.org/drawingml/2006/main">
              <a:ext uri="{FF2B5EF4-FFF2-40B4-BE49-F238E27FC236}">
                <a16:creationId xmlns:a16="http://schemas.microsoft.com/office/drawing/2014/main" id="{63FD0085-5CCA-4620-B0B3-9B09BAA64C6D}"/>
              </a:ext>
            </a:extLst>
          </p:cNvPr>
          <p:cNvSpPr>
            <a:spLocks xmlns:a="http://schemas.openxmlformats.org/drawingml/2006/main" noGrp="1"/>
          </p:cNvSpPr>
          <p:nvPr/>
        </p:nvSpPr>
        <p:spPr>
          <a:xfrm xmlns:a="http://schemas.openxmlformats.org/drawingml/2006/main">
            <a:off x="10763250" y="6562725"/>
            <a:ext cx="742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54645D"/>
                </a:solidFill>
              </a:defRPr>
            </a:pPr>
            <a:r>
              <a:rPr sz="900" b="1">
                <a:solidFill>
                  <a:srgbClr val="54645D"/>
                </a:solidFill>
              </a:rPr>
              <a:t>4 / 8</a:t>
            </a:r>
          </a:p>
        </p:txBody>
      </p:sp>
    </p:spTree>
    <p:extLst>
      <p:ext uri="{BB962C8B-B14F-4D97-AF65-F5344CB8AC3E}">
        <p14:creationId xmlns:p14="http://schemas.microsoft.com/office/powerpoint/2010/main" val="1831551056"/>
      </p:ext>
    </p:extLst>
  </p:cSld>
</p:sld>
</file>

<file path=ppt/slides/slide5.xml><?xml version="1.0" encoding="utf-8"?>
<p:sld xmlns:p="http://schemas.openxmlformats.org/presentationml/2006/main">
  <p:cSld>
    <p:bg>
      <p:bgPr>
        <a:solidFill xmlns:a="http://schemas.openxmlformats.org/drawingml/2006/main">
          <a:srgbClr val="113F30"/>
        </a:solidFill>
      </p:bgPr>
    </p:bg>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093d520a7fde4ab6"/>
          <a:srcRect xmlns:a="http://schemas.openxmlformats.org/drawingml/2006/main" l="12870" t="0" r="12870" b="0"/>
          <a:stretch xmlns:a="http://schemas.openxmlformats.org/drawingml/2006/main">
            <a:fillRect l="0" t="0" r="0" b="0"/>
          </a:stretch>
        </p:blipFill>
        <p:spPr>
          <a:xfrm xmlns:a="http://schemas.openxmlformats.org/drawingml/2006/main">
            <a:off x="4552950" y="0"/>
            <a:ext cx="7639050" cy="6858000"/>
          </a:xfrm>
          <a:prstGeom xmlns:a="http://schemas.openxmlformats.org/drawingml/2006/main" prst="roundRect">
            <a:avLst>
              <a:gd name="adj" fmla="val 2500"/>
            </a:avLst>
          </a:prstGeom>
        </p:spPr>
      </p:pic>
      <p:sp>
        <p:nvSpPr>
          <p:cNvPr id="2" name="image-layout-panel-5">
            <a:extLst xmlns:a="http://schemas.openxmlformats.org/drawingml/2006/main">
              <a:ext uri="{FF2B5EF4-FFF2-40B4-BE49-F238E27FC236}">
                <a16:creationId xmlns:a16="http://schemas.microsoft.com/office/drawing/2014/main" id="{BB0C6798-D4B4-4101-A946-67E511B64E2F}"/>
              </a:ext>
            </a:extLst>
          </p:cNvPr>
          <p:cNvSpPr>
            <a:spLocks xmlns:a="http://schemas.openxmlformats.org/drawingml/2006/main" noGrp="1"/>
          </p:cNvSpPr>
          <p:nvPr/>
        </p:nvSpPr>
        <p:spPr>
          <a:xfrm xmlns:a="http://schemas.openxmlformats.org/drawingml/2006/main">
            <a:off x="0" y="0"/>
            <a:ext cx="5010150" cy="6858000"/>
          </a:xfrm>
          <a:prstGeom xmlns:a="http://schemas.openxmlformats.org/drawingml/2006/main" prst="rect">
            <a:avLst/>
          </a:prstGeom>
          <a:solidFill xmlns:a="http://schemas.openxmlformats.org/drawingml/2006/main">
            <a:srgbClr val="113F30"/>
          </a:solidFill>
          <a:ln xmlns:a="http://schemas.openxmlformats.org/drawingml/2006/main" w="0">
            <a:solidFill>
              <a:srgbClr val="113F30"/>
            </a:solidFill>
            <a:prstDash val="solid"/>
          </a:ln>
        </p:spPr>
      </p:sp>
      <p:sp>
        <p:nvSpPr>
          <p:cNvPr id="3" name="image-layout-accent-5">
            <a:extLst xmlns:a="http://schemas.openxmlformats.org/drawingml/2006/main">
              <a:ext uri="{FF2B5EF4-FFF2-40B4-BE49-F238E27FC236}">
                <a16:creationId xmlns:a16="http://schemas.microsoft.com/office/drawing/2014/main" id="{2A33FA8A-2F61-4EE3-8633-2880E707865C}"/>
              </a:ext>
            </a:extLst>
          </p:cNvPr>
          <p:cNvSpPr>
            <a:spLocks xmlns:a="http://schemas.openxmlformats.org/drawingml/2006/main" noGrp="1"/>
          </p:cNvSpPr>
          <p:nvPr/>
        </p:nvSpPr>
        <p:spPr>
          <a:xfrm xmlns:a="http://schemas.openxmlformats.org/drawingml/2006/main">
            <a:off x="685800" y="514350"/>
            <a:ext cx="800100" cy="76200"/>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4" name="module-kicker-5">
            <a:extLst xmlns:a="http://schemas.openxmlformats.org/drawingml/2006/main">
              <a:ext uri="{FF2B5EF4-FFF2-40B4-BE49-F238E27FC236}">
                <a16:creationId xmlns:a16="http://schemas.microsoft.com/office/drawing/2014/main" id="{9944366F-9746-4C6D-BB5F-D85022DA78E0}"/>
              </a:ext>
            </a:extLst>
          </p:cNvPr>
          <p:cNvSpPr>
            <a:spLocks xmlns:a="http://schemas.openxmlformats.org/drawingml/2006/main" noGrp="1"/>
          </p:cNvSpPr>
          <p:nvPr/>
        </p:nvSpPr>
        <p:spPr>
          <a:xfrm xmlns:a="http://schemas.openxmlformats.org/drawingml/2006/main">
            <a:off x="685800" y="790575"/>
            <a:ext cx="3905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CFE1D8"/>
                </a:solidFill>
              </a:defRPr>
            </a:pPr>
            <a:r>
              <a:rPr sz="1050" b="1">
                <a:solidFill>
                  <a:srgbClr val="CFE1D8"/>
                </a:solidFill>
              </a:rPr>
              <a:t>MODULE 2  •  LEGIBILITY, ANNOTATION AND PEER REVIEW</a:t>
            </a:r>
          </a:p>
        </p:txBody>
      </p:sp>
      <p:sp>
        <p:nvSpPr>
          <p:cNvPr id="5" name="stacked-slide-title-5">
            <a:extLst xmlns:a="http://schemas.openxmlformats.org/drawingml/2006/main">
              <a:ext uri="{FF2B5EF4-FFF2-40B4-BE49-F238E27FC236}">
                <a16:creationId xmlns:a16="http://schemas.microsoft.com/office/drawing/2014/main" id="{4A557816-7DB2-49EB-A417-256AFA98BD4C}"/>
              </a:ext>
            </a:extLst>
          </p:cNvPr>
          <p:cNvSpPr>
            <a:spLocks xmlns:a="http://schemas.openxmlformats.org/drawingml/2006/main" noGrp="1"/>
          </p:cNvSpPr>
          <p:nvPr/>
        </p:nvSpPr>
        <p:spPr>
          <a:xfrm xmlns:a="http://schemas.openxmlformats.org/drawingml/2006/main">
            <a:off x="685800" y="1219200"/>
            <a:ext cx="38290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FFFFFF"/>
                </a:solidFill>
              </a:defRPr>
            </a:pPr>
            <a:r>
              <a:rPr sz="2850" b="1">
                <a:solidFill>
                  <a:srgbClr val="FFFFFF"/>
                </a:solidFill>
              </a:rPr>
              <a:t>If others cannot read it, it is not communicated</a:t>
            </a:r>
          </a:p>
        </p:txBody>
      </p:sp>
      <p:sp>
        <p:nvSpPr>
          <p:cNvPr id="6" name="s5-mark-1">
            <a:extLst xmlns:a="http://schemas.openxmlformats.org/drawingml/2006/main">
              <a:ext uri="{FF2B5EF4-FFF2-40B4-BE49-F238E27FC236}">
                <a16:creationId xmlns:a16="http://schemas.microsoft.com/office/drawing/2014/main" id="{1969D708-15F3-41D9-8891-5DEB38F3BBD4}"/>
              </a:ext>
            </a:extLst>
          </p:cNvPr>
          <p:cNvSpPr>
            <a:spLocks xmlns:a="http://schemas.openxmlformats.org/drawingml/2006/main" noGrp="1"/>
          </p:cNvSpPr>
          <p:nvPr/>
        </p:nvSpPr>
        <p:spPr>
          <a:xfrm xmlns:a="http://schemas.openxmlformats.org/drawingml/2006/main">
            <a:off x="685800" y="2714625"/>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7" name="s5-text-1">
            <a:extLst xmlns:a="http://schemas.openxmlformats.org/drawingml/2006/main">
              <a:ext uri="{FF2B5EF4-FFF2-40B4-BE49-F238E27FC236}">
                <a16:creationId xmlns:a16="http://schemas.microsoft.com/office/drawing/2014/main" id="{3E09CAC3-F289-4DD6-8D3E-DC5E9B0BDDE9}"/>
              </a:ext>
            </a:extLst>
          </p:cNvPr>
          <p:cNvSpPr>
            <a:spLocks xmlns:a="http://schemas.openxmlformats.org/drawingml/2006/main" noGrp="1"/>
          </p:cNvSpPr>
          <p:nvPr/>
        </p:nvSpPr>
        <p:spPr>
          <a:xfrm xmlns:a="http://schemas.openxmlformats.org/drawingml/2006/main">
            <a:off x="952500" y="2638425"/>
            <a:ext cx="35623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FFFFFF"/>
                </a:solidFill>
              </a:defRPr>
            </a:pPr>
            <a:r>
              <a:rPr sz="1575" b="0">
                <a:solidFill>
                  <a:srgbClr val="FFFFFF"/>
                </a:solidFill>
              </a:rPr>
              <a:t>Legibility depends on hierarchy, contrast, spacing, letterform, negative space and viewing context.</a:t>
            </a:r>
          </a:p>
        </p:txBody>
      </p:sp>
      <p:sp>
        <p:nvSpPr>
          <p:cNvPr id="8" name="s5-mark-2">
            <a:extLst xmlns:a="http://schemas.openxmlformats.org/drawingml/2006/main">
              <a:ext uri="{FF2B5EF4-FFF2-40B4-BE49-F238E27FC236}">
                <a16:creationId xmlns:a16="http://schemas.microsoft.com/office/drawing/2014/main" id="{9FC8FDA2-D73F-440E-9ECE-FAEE5C9A1AAB}"/>
              </a:ext>
            </a:extLst>
          </p:cNvPr>
          <p:cNvSpPr>
            <a:spLocks xmlns:a="http://schemas.openxmlformats.org/drawingml/2006/main" noGrp="1"/>
          </p:cNvSpPr>
          <p:nvPr/>
        </p:nvSpPr>
        <p:spPr>
          <a:xfrm xmlns:a="http://schemas.openxmlformats.org/drawingml/2006/main">
            <a:off x="685800" y="3629025"/>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9" name="s5-text-2">
            <a:extLst xmlns:a="http://schemas.openxmlformats.org/drawingml/2006/main">
              <a:ext uri="{FF2B5EF4-FFF2-40B4-BE49-F238E27FC236}">
                <a16:creationId xmlns:a16="http://schemas.microsoft.com/office/drawing/2014/main" id="{F3F1512A-F633-4C75-B252-93928E4D650B}"/>
              </a:ext>
            </a:extLst>
          </p:cNvPr>
          <p:cNvSpPr>
            <a:spLocks xmlns:a="http://schemas.openxmlformats.org/drawingml/2006/main" noGrp="1"/>
          </p:cNvSpPr>
          <p:nvPr/>
        </p:nvSpPr>
        <p:spPr>
          <a:xfrm xmlns:a="http://schemas.openxmlformats.org/drawingml/2006/main">
            <a:off x="952500" y="3552825"/>
            <a:ext cx="35623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FFFFFF"/>
                </a:solidFill>
              </a:defRPr>
            </a:pPr>
            <a:r>
              <a:rPr sz="1575" b="0">
                <a:solidFill>
                  <a:srgbClr val="FFFFFF"/>
                </a:solidFill>
              </a:rPr>
              <a:t>A useful annotation links feature → reason → intended effect instead of merely naming a feature.</a:t>
            </a:r>
          </a:p>
        </p:txBody>
      </p:sp>
      <p:sp>
        <p:nvSpPr>
          <p:cNvPr id="10" name="s5-mark-3">
            <a:extLst xmlns:a="http://schemas.openxmlformats.org/drawingml/2006/main">
              <a:ext uri="{FF2B5EF4-FFF2-40B4-BE49-F238E27FC236}">
                <a16:creationId xmlns:a16="http://schemas.microsoft.com/office/drawing/2014/main" id="{986EB393-9878-4384-B789-43A847963896}"/>
              </a:ext>
            </a:extLst>
          </p:cNvPr>
          <p:cNvSpPr>
            <a:spLocks xmlns:a="http://schemas.openxmlformats.org/drawingml/2006/main" noGrp="1"/>
          </p:cNvSpPr>
          <p:nvPr/>
        </p:nvSpPr>
        <p:spPr>
          <a:xfrm xmlns:a="http://schemas.openxmlformats.org/drawingml/2006/main">
            <a:off x="685800" y="4543425"/>
            <a:ext cx="114300" cy="1143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11" name="s5-text-3">
            <a:extLst xmlns:a="http://schemas.openxmlformats.org/drawingml/2006/main">
              <a:ext uri="{FF2B5EF4-FFF2-40B4-BE49-F238E27FC236}">
                <a16:creationId xmlns:a16="http://schemas.microsoft.com/office/drawing/2014/main" id="{AC9A0310-E5B1-4A5C-A0A0-4CC448FECAC6}"/>
              </a:ext>
            </a:extLst>
          </p:cNvPr>
          <p:cNvSpPr>
            <a:spLocks xmlns:a="http://schemas.openxmlformats.org/drawingml/2006/main" noGrp="1"/>
          </p:cNvSpPr>
          <p:nvPr/>
        </p:nvSpPr>
        <p:spPr>
          <a:xfrm xmlns:a="http://schemas.openxmlformats.org/drawingml/2006/main">
            <a:off x="952500" y="4467225"/>
            <a:ext cx="35623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0">
                <a:solidFill>
                  <a:srgbClr val="FFFFFF"/>
                </a:solidFill>
              </a:defRPr>
            </a:pPr>
            <a:r>
              <a:rPr sz="1575" b="0">
                <a:solidFill>
                  <a:srgbClr val="FFFFFF"/>
                </a:solidFill>
              </a:rPr>
              <a:t>Peer review tests the criteria. The designer weighs feedback and returns to the brief before revising.</a:t>
            </a:r>
          </a:p>
        </p:txBody>
      </p:sp>
      <p:sp>
        <p:nvSpPr>
          <p:cNvPr id="12" name="prompt-label-5">
            <a:extLst xmlns:a="http://schemas.openxmlformats.org/drawingml/2006/main">
              <a:ext uri="{FF2B5EF4-FFF2-40B4-BE49-F238E27FC236}">
                <a16:creationId xmlns:a16="http://schemas.microsoft.com/office/drawing/2014/main" id="{9264BD4F-9AFD-47A9-9C68-4A8AEDBA1A5E}"/>
              </a:ext>
            </a:extLst>
          </p:cNvPr>
          <p:cNvSpPr>
            <a:spLocks xmlns:a="http://schemas.openxmlformats.org/drawingml/2006/main" noGrp="1"/>
          </p:cNvSpPr>
          <p:nvPr/>
        </p:nvSpPr>
        <p:spPr>
          <a:xfrm xmlns:a="http://schemas.openxmlformats.org/drawingml/2006/main">
            <a:off x="685800" y="5467350"/>
            <a:ext cx="1104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E7AD31"/>
                </a:solidFill>
              </a:defRPr>
            </a:pPr>
            <a:r>
              <a:rPr sz="1050" b="1">
                <a:solidFill>
                  <a:srgbClr val="E7AD31"/>
                </a:solidFill>
              </a:rPr>
              <a:t>APPLY IT</a:t>
            </a:r>
          </a:p>
        </p:txBody>
      </p:sp>
      <p:sp>
        <p:nvSpPr>
          <p:cNvPr id="13" name="prompt-5">
            <a:extLst xmlns:a="http://schemas.openxmlformats.org/drawingml/2006/main">
              <a:ext uri="{FF2B5EF4-FFF2-40B4-BE49-F238E27FC236}">
                <a16:creationId xmlns:a16="http://schemas.microsoft.com/office/drawing/2014/main" id="{CB6F7548-EAA5-4430-B20E-125C0C164AF2}"/>
              </a:ext>
            </a:extLst>
          </p:cNvPr>
          <p:cNvSpPr>
            <a:spLocks xmlns:a="http://schemas.openxmlformats.org/drawingml/2006/main" noGrp="1"/>
          </p:cNvSpPr>
          <p:nvPr/>
        </p:nvSpPr>
        <p:spPr>
          <a:xfrm xmlns:a="http://schemas.openxmlformats.org/drawingml/2006/main">
            <a:off x="685800" y="5772150"/>
            <a:ext cx="38290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350" b="1">
                <a:solidFill>
                  <a:srgbClr val="FFFFFF"/>
                </a:solidFill>
              </a:defRPr>
            </a:pPr>
            <a:r>
              <a:rPr sz="1350" b="1">
                <a:solidFill>
                  <a:srgbClr val="FFFFFF"/>
                </a:solidFill>
              </a:rPr>
              <a:t>Write one feature–reason–effect annotation for a change that improves a crowded sign.</a:t>
            </a:r>
          </a:p>
        </p:txBody>
      </p:sp>
      <p:sp>
        <p:nvSpPr>
          <p:cNvPr id="14" name="caption-5">
            <a:extLst xmlns:a="http://schemas.openxmlformats.org/drawingml/2006/main">
              <a:ext uri="{FF2B5EF4-FFF2-40B4-BE49-F238E27FC236}">
                <a16:creationId xmlns:a16="http://schemas.microsoft.com/office/drawing/2014/main" id="{16065EAD-9C48-40BC-963D-7DE4CECF4F8A}"/>
              </a:ext>
            </a:extLst>
          </p:cNvPr>
          <p:cNvSpPr>
            <a:spLocks xmlns:a="http://schemas.openxmlformats.org/drawingml/2006/main" noGrp="1"/>
          </p:cNvSpPr>
          <p:nvPr/>
        </p:nvSpPr>
        <p:spPr>
          <a:xfrm xmlns:a="http://schemas.openxmlformats.org/drawingml/2006/main">
            <a:off x="5334000" y="6096000"/>
            <a:ext cx="5905500" cy="400050"/>
          </a:xfrm>
          <a:prstGeom xmlns:a="http://schemas.openxmlformats.org/drawingml/2006/main" prst="roundRect">
            <a:avLst>
              <a:gd name="adj" fmla="val 23810"/>
            </a:avLst>
          </a:prstGeom>
          <a:solidFill xmlns:a="http://schemas.openxmlformats.org/drawingml/2006/main">
            <a:srgbClr val="113F3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275" b="0">
                <a:solidFill>
                  <a:srgbClr val="FFFFFF"/>
                </a:solidFill>
              </a:defRPr>
            </a:pPr>
            <a:r>
              <a:rPr sz="1275" b="0">
                <a:solidFill>
                  <a:srgbClr val="FFFFFF"/>
                </a:solidFill>
              </a:rPr>
              <a:t>Feedback is evidence to test against the brief — not a popularity vote.</a:t>
            </a:r>
          </a:p>
        </p:txBody>
      </p:sp>
      <p:sp>
        <p:nvSpPr>
          <p:cNvPr id="15" name="footer-rule-5">
            <a:extLst xmlns:a="http://schemas.openxmlformats.org/drawingml/2006/main">
              <a:ext uri="{FF2B5EF4-FFF2-40B4-BE49-F238E27FC236}">
                <a16:creationId xmlns:a16="http://schemas.microsoft.com/office/drawing/2014/main" id="{3F30590D-5D44-4846-B247-44BAD82EE0F2}"/>
              </a:ext>
            </a:extLst>
          </p:cNvPr>
          <p:cNvSpPr>
            <a:spLocks xmlns:a="http://schemas.openxmlformats.org/drawingml/2006/main" noGrp="1"/>
          </p:cNvSpPr>
          <p:nvPr/>
        </p:nvSpPr>
        <p:spPr>
          <a:xfrm xmlns:a="http://schemas.openxmlformats.org/drawingml/2006/main">
            <a:off x="685800" y="6477000"/>
            <a:ext cx="3829050" cy="19050"/>
          </a:xfrm>
          <a:prstGeom xmlns:a="http://schemas.openxmlformats.org/drawingml/2006/main" prst="rect">
            <a:avLst/>
          </a:prstGeom>
          <a:solidFill xmlns:a="http://schemas.openxmlformats.org/drawingml/2006/main">
            <a:srgbClr val="5C8774"/>
          </a:solidFill>
          <a:ln xmlns:a="http://schemas.openxmlformats.org/drawingml/2006/main" w="0">
            <a:solidFill>
              <a:srgbClr val="5C8774"/>
            </a:solidFill>
            <a:prstDash val="solid"/>
          </a:ln>
        </p:spPr>
      </p:sp>
      <p:sp>
        <p:nvSpPr>
          <p:cNvPr id="16" name="footer-label-5">
            <a:extLst xmlns:a="http://schemas.openxmlformats.org/drawingml/2006/main">
              <a:ext uri="{FF2B5EF4-FFF2-40B4-BE49-F238E27FC236}">
                <a16:creationId xmlns:a16="http://schemas.microsoft.com/office/drawing/2014/main" id="{212C8E3C-08C4-4322-A86A-F53C4FD9A862}"/>
              </a:ext>
            </a:extLst>
          </p:cNvPr>
          <p:cNvSpPr>
            <a:spLocks xmlns:a="http://schemas.openxmlformats.org/drawingml/2006/main" noGrp="1"/>
          </p:cNvSpPr>
          <p:nvPr/>
        </p:nvSpPr>
        <p:spPr>
          <a:xfrm xmlns:a="http://schemas.openxmlformats.org/drawingml/2006/main">
            <a:off x="685800" y="6543675"/>
            <a:ext cx="3143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D8E7DF"/>
                </a:solidFill>
              </a:defRPr>
            </a:pPr>
            <a:r>
              <a:rPr sz="900" b="1">
                <a:solidFill>
                  <a:srgbClr val="D8E7DF"/>
                </a:solidFill>
              </a:rPr>
              <a:t>SWINGING SIGN  •  MODULE 2</a:t>
            </a:r>
          </a:p>
        </p:txBody>
      </p:sp>
      <p:sp>
        <p:nvSpPr>
          <p:cNvPr id="17" name="footer-page-5">
            <a:extLst xmlns:a="http://schemas.openxmlformats.org/drawingml/2006/main">
              <a:ext uri="{FF2B5EF4-FFF2-40B4-BE49-F238E27FC236}">
                <a16:creationId xmlns:a16="http://schemas.microsoft.com/office/drawing/2014/main" id="{E904C43C-185B-4362-B053-72225BFD8B88}"/>
              </a:ext>
            </a:extLst>
          </p:cNvPr>
          <p:cNvSpPr>
            <a:spLocks xmlns:a="http://schemas.openxmlformats.org/drawingml/2006/main" noGrp="1"/>
          </p:cNvSpPr>
          <p:nvPr/>
        </p:nvSpPr>
        <p:spPr>
          <a:xfrm xmlns:a="http://schemas.openxmlformats.org/drawingml/2006/main">
            <a:off x="10763250" y="6543675"/>
            <a:ext cx="742950" cy="228600"/>
          </a:xfrm>
          <a:prstGeom xmlns:a="http://schemas.openxmlformats.org/drawingml/2006/main" prst="roundRect">
            <a:avLst>
              <a:gd name="adj" fmla="val 25000"/>
            </a:avLst>
          </a:prstGeom>
          <a:solidFill xmlns:a="http://schemas.openxmlformats.org/drawingml/2006/main">
            <a:srgbClr val="113F30"/>
          </a:solidFill>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FFFFFF"/>
                </a:solidFill>
              </a:defRPr>
            </a:pPr>
            <a:r>
              <a:rPr sz="900" b="1">
                <a:solidFill>
                  <a:srgbClr val="FFFFFF"/>
                </a:solidFill>
              </a:rPr>
              <a:t>5 / 8</a:t>
            </a:r>
          </a:p>
        </p:txBody>
      </p:sp>
    </p:spTree>
    <p:extLst>
      <p:ext uri="{BB962C8B-B14F-4D97-AF65-F5344CB8AC3E}">
        <p14:creationId xmlns:p14="http://schemas.microsoft.com/office/powerpoint/2010/main" val="842269758"/>
      </p:ext>
    </p:extLst>
  </p:cSld>
</p:sld>
</file>

<file path=ppt/slides/slide6.xml><?xml version="1.0" encoding="utf-8"?>
<p:sld xmlns:p="http://schemas.openxmlformats.org/presentationml/2006/main">
  <p:cSld>
    <p:bg>
      <p:bgPr>
        <a:solidFill xmlns:a="http://schemas.openxmlformats.org/drawingml/2006/main">
          <a:srgbClr val="113F30"/>
        </a:solidFill>
      </p:bgPr>
    </p:bg>
    <p:spTree>
      <p:nvGrpSpPr>
        <p:cNvPr id="1" name=""/>
        <p:cNvGrpSpPr/>
        <p:nvPr/>
      </p:nvGrpSpPr>
      <p:grpSpPr>
        <a:xfrm xmlns:a="http://schemas.openxmlformats.org/drawingml/2006/main"/>
      </p:grpSpPr>
      <p:sp>
        <p:nvSpPr>
          <p:cNvPr id="20" name="accent-6">
            <a:extLst xmlns:a="http://schemas.openxmlformats.org/drawingml/2006/main">
              <a:ext uri="{FF2B5EF4-FFF2-40B4-BE49-F238E27FC236}">
                <a16:creationId xmlns:a16="http://schemas.microsoft.com/office/drawing/2014/main" id="{DB1C7451-483A-4D84-8B42-50E23CFC1858}"/>
              </a:ext>
            </a:extLst>
          </p:cNvPr>
          <p:cNvSpPr>
            <a:spLocks xmlns:a="http://schemas.openxmlformats.org/drawingml/2006/main" noGrp="1"/>
          </p:cNvSpPr>
          <p:nvPr/>
        </p:nvSpPr>
        <p:spPr>
          <a:xfrm xmlns:a="http://schemas.openxmlformats.org/drawingml/2006/main">
            <a:off x="0" y="0"/>
            <a:ext cx="12192000" cy="85725"/>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2" name="module-kicker-6">
            <a:extLst xmlns:a="http://schemas.openxmlformats.org/drawingml/2006/main">
              <a:ext uri="{FF2B5EF4-FFF2-40B4-BE49-F238E27FC236}">
                <a16:creationId xmlns:a16="http://schemas.microsoft.com/office/drawing/2014/main" id="{38BB63E1-3D65-42B1-91CC-F7FEFC13B167}"/>
              </a:ext>
            </a:extLst>
          </p:cNvPr>
          <p:cNvSpPr>
            <a:spLocks xmlns:a="http://schemas.openxmlformats.org/drawingml/2006/main" noGrp="1"/>
          </p:cNvSpPr>
          <p:nvPr/>
        </p:nvSpPr>
        <p:spPr>
          <a:xfrm xmlns:a="http://schemas.openxmlformats.org/drawingml/2006/main">
            <a:off x="685800" y="2667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CFE1D8"/>
                </a:solidFill>
              </a:defRPr>
            </a:pPr>
            <a:r>
              <a:rPr sz="1050" b="1">
                <a:solidFill>
                  <a:srgbClr val="CFE1D8"/>
                </a:solidFill>
              </a:rPr>
              <a:t>MODULE 2  •  COMMUNICATE THE DESIGN</a:t>
            </a:r>
          </a:p>
        </p:txBody>
      </p:sp>
      <p:sp>
        <p:nvSpPr>
          <p:cNvPr id="3" name="slide-title-6">
            <a:extLst xmlns:a="http://schemas.openxmlformats.org/drawingml/2006/main">
              <a:ext uri="{FF2B5EF4-FFF2-40B4-BE49-F238E27FC236}">
                <a16:creationId xmlns:a16="http://schemas.microsoft.com/office/drawing/2014/main" id="{743C2C19-66E4-4F41-9C54-78D10DD1A428}"/>
              </a:ext>
            </a:extLst>
          </p:cNvPr>
          <p:cNvSpPr>
            <a:spLocks xmlns:a="http://schemas.openxmlformats.org/drawingml/2006/main" noGrp="1"/>
          </p:cNvSpPr>
          <p:nvPr/>
        </p:nvSpPr>
        <p:spPr>
          <a:xfrm xmlns:a="http://schemas.openxmlformats.org/drawingml/2006/main">
            <a:off x="685800" y="590550"/>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FFFFFF"/>
                </a:solidFill>
              </a:defRPr>
            </a:pPr>
            <a:r>
              <a:rPr sz="2850" b="1">
                <a:solidFill>
                  <a:srgbClr val="FFFFFF"/>
                </a:solidFill>
              </a:rPr>
              <a:t>Stop. Think. Explain.</a:t>
            </a:r>
          </a:p>
        </p:txBody>
      </p:sp>
      <p:sp>
        <p:nvSpPr>
          <p:cNvPr id="4" name="retrieval-instruction">
            <a:extLst xmlns:a="http://schemas.openxmlformats.org/drawingml/2006/main">
              <a:ext uri="{FF2B5EF4-FFF2-40B4-BE49-F238E27FC236}">
                <a16:creationId xmlns:a16="http://schemas.microsoft.com/office/drawing/2014/main" id="{F9BB7D3E-CD46-43EB-B1D2-C30EAE302D82}"/>
              </a:ext>
            </a:extLst>
          </p:cNvPr>
          <p:cNvSpPr>
            <a:spLocks xmlns:a="http://schemas.openxmlformats.org/drawingml/2006/main" noGrp="1"/>
          </p:cNvSpPr>
          <p:nvPr/>
        </p:nvSpPr>
        <p:spPr>
          <a:xfrm xmlns:a="http://schemas.openxmlformats.org/drawingml/2006/main">
            <a:off x="685800" y="1266825"/>
            <a:ext cx="723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0">
                <a:solidFill>
                  <a:srgbClr val="D8E7DF"/>
                </a:solidFill>
              </a:defRPr>
            </a:pPr>
            <a:r>
              <a:rPr sz="1650" b="0">
                <a:solidFill>
                  <a:srgbClr val="D8E7DF"/>
                </a:solidFill>
              </a:rPr>
              <a:t>Answer silently first. Then justify one answer with a partner.</a:t>
            </a:r>
          </a:p>
        </p:txBody>
      </p:sp>
      <p:sp>
        <p:nvSpPr>
          <p:cNvPr id="5" name="retrieval-line-1">
            <a:extLst xmlns:a="http://schemas.openxmlformats.org/drawingml/2006/main">
              <a:ext uri="{FF2B5EF4-FFF2-40B4-BE49-F238E27FC236}">
                <a16:creationId xmlns:a16="http://schemas.microsoft.com/office/drawing/2014/main" id="{C6446A0B-BCC3-4594-B26A-3753A14920D6}"/>
              </a:ext>
            </a:extLst>
          </p:cNvPr>
          <p:cNvSpPr>
            <a:spLocks xmlns:a="http://schemas.openxmlformats.org/drawingml/2006/main" noGrp="1"/>
          </p:cNvSpPr>
          <p:nvPr/>
        </p:nvSpPr>
        <p:spPr>
          <a:xfrm xmlns:a="http://schemas.openxmlformats.org/drawingml/2006/main">
            <a:off x="685800" y="1809750"/>
            <a:ext cx="10820400" cy="781050"/>
          </a:xfrm>
          <a:prstGeom xmlns:a="http://schemas.openxmlformats.org/drawingml/2006/main" prst="roundRect">
            <a:avLst>
              <a:gd name="adj" fmla="val 19512"/>
            </a:avLst>
          </a:prstGeom>
          <a:solidFill xmlns:a="http://schemas.openxmlformats.org/drawingml/2006/main">
            <a:srgbClr val="1D503D"/>
          </a:solidFill>
          <a:ln xmlns:a="http://schemas.openxmlformats.org/drawingml/2006/main" w="9525">
            <a:solidFill>
              <a:srgbClr val="4F7D69"/>
            </a:solidFill>
            <a:prstDash val="solid"/>
          </a:ln>
        </p:spPr>
      </p:sp>
      <p:sp>
        <p:nvSpPr>
          <p:cNvPr id="6" name="retrieval-number-1">
            <a:extLst xmlns:a="http://schemas.openxmlformats.org/drawingml/2006/main">
              <a:ext uri="{FF2B5EF4-FFF2-40B4-BE49-F238E27FC236}">
                <a16:creationId xmlns:a16="http://schemas.microsoft.com/office/drawing/2014/main" id="{98A4C0A1-5940-40BC-8C3A-1DAA6F494D61}"/>
              </a:ext>
            </a:extLst>
          </p:cNvPr>
          <p:cNvSpPr>
            <a:spLocks xmlns:a="http://schemas.openxmlformats.org/drawingml/2006/main" noGrp="1"/>
          </p:cNvSpPr>
          <p:nvPr/>
        </p:nvSpPr>
        <p:spPr>
          <a:xfrm xmlns:a="http://schemas.openxmlformats.org/drawingml/2006/main">
            <a:off x="895350" y="1990725"/>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E7AD31"/>
                </a:solidFill>
              </a:defRPr>
            </a:pPr>
            <a:r>
              <a:rPr sz="1875" b="1">
                <a:solidFill>
                  <a:srgbClr val="E7AD31"/>
                </a:solidFill>
              </a:rPr>
              <a:t>1</a:t>
            </a:r>
          </a:p>
        </p:txBody>
      </p:sp>
      <p:sp>
        <p:nvSpPr>
          <p:cNvPr id="7" name="retrieval-question-1">
            <a:extLst xmlns:a="http://schemas.openxmlformats.org/drawingml/2006/main">
              <a:ext uri="{FF2B5EF4-FFF2-40B4-BE49-F238E27FC236}">
                <a16:creationId xmlns:a16="http://schemas.microsoft.com/office/drawing/2014/main" id="{1F488B54-D9AB-4FF6-9248-D23DE28D15D6}"/>
              </a:ext>
            </a:extLst>
          </p:cNvPr>
          <p:cNvSpPr>
            <a:spLocks xmlns:a="http://schemas.openxmlformats.org/drawingml/2006/main" noGrp="1"/>
          </p:cNvSpPr>
          <p:nvPr/>
        </p:nvSpPr>
        <p:spPr>
          <a:xfrm xmlns:a="http://schemas.openxmlformats.org/drawingml/2006/main">
            <a:off x="1524000" y="1962150"/>
            <a:ext cx="96583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What is a vector graphic mainly built from?</a:t>
            </a:r>
          </a:p>
        </p:txBody>
      </p:sp>
      <p:sp>
        <p:nvSpPr>
          <p:cNvPr id="8" name="retrieval-line-2">
            <a:extLst xmlns:a="http://schemas.openxmlformats.org/drawingml/2006/main">
              <a:ext uri="{FF2B5EF4-FFF2-40B4-BE49-F238E27FC236}">
                <a16:creationId xmlns:a16="http://schemas.microsoft.com/office/drawing/2014/main" id="{FD7C6D35-2B32-4767-8DA7-F54DA089FFDA}"/>
              </a:ext>
            </a:extLst>
          </p:cNvPr>
          <p:cNvSpPr>
            <a:spLocks xmlns:a="http://schemas.openxmlformats.org/drawingml/2006/main" noGrp="1"/>
          </p:cNvSpPr>
          <p:nvPr/>
        </p:nvSpPr>
        <p:spPr>
          <a:xfrm xmlns:a="http://schemas.openxmlformats.org/drawingml/2006/main">
            <a:off x="685800" y="2800350"/>
            <a:ext cx="10820400" cy="781050"/>
          </a:xfrm>
          <a:prstGeom xmlns:a="http://schemas.openxmlformats.org/drawingml/2006/main" prst="roundRect">
            <a:avLst>
              <a:gd name="adj" fmla="val 19512"/>
            </a:avLst>
          </a:prstGeom>
          <a:solidFill xmlns:a="http://schemas.openxmlformats.org/drawingml/2006/main">
            <a:srgbClr val="245E48"/>
          </a:solidFill>
          <a:ln xmlns:a="http://schemas.openxmlformats.org/drawingml/2006/main" w="9525">
            <a:solidFill>
              <a:srgbClr val="4F7D69"/>
            </a:solidFill>
            <a:prstDash val="solid"/>
          </a:ln>
        </p:spPr>
      </p:sp>
      <p:sp>
        <p:nvSpPr>
          <p:cNvPr id="9" name="retrieval-number-2">
            <a:extLst xmlns:a="http://schemas.openxmlformats.org/drawingml/2006/main">
              <a:ext uri="{FF2B5EF4-FFF2-40B4-BE49-F238E27FC236}">
                <a16:creationId xmlns:a16="http://schemas.microsoft.com/office/drawing/2014/main" id="{C94A4FF8-410D-4320-B41D-059982BD9328}"/>
              </a:ext>
            </a:extLst>
          </p:cNvPr>
          <p:cNvSpPr>
            <a:spLocks xmlns:a="http://schemas.openxmlformats.org/drawingml/2006/main" noGrp="1"/>
          </p:cNvSpPr>
          <p:nvPr/>
        </p:nvSpPr>
        <p:spPr>
          <a:xfrm xmlns:a="http://schemas.openxmlformats.org/drawingml/2006/main">
            <a:off x="895350" y="2981325"/>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E7AD31"/>
                </a:solidFill>
              </a:defRPr>
            </a:pPr>
            <a:r>
              <a:rPr sz="1875" b="1">
                <a:solidFill>
                  <a:srgbClr val="E7AD31"/>
                </a:solidFill>
              </a:rPr>
              <a:t>2</a:t>
            </a:r>
          </a:p>
        </p:txBody>
      </p:sp>
      <p:sp>
        <p:nvSpPr>
          <p:cNvPr id="10" name="retrieval-question-2">
            <a:extLst xmlns:a="http://schemas.openxmlformats.org/drawingml/2006/main">
              <a:ext uri="{FF2B5EF4-FFF2-40B4-BE49-F238E27FC236}">
                <a16:creationId xmlns:a16="http://schemas.microsoft.com/office/drawing/2014/main" id="{4FE636E5-73DD-4BE8-B9C0-1A700199DD1E}"/>
              </a:ext>
            </a:extLst>
          </p:cNvPr>
          <p:cNvSpPr>
            <a:spLocks xmlns:a="http://schemas.openxmlformats.org/drawingml/2006/main" noGrp="1"/>
          </p:cNvSpPr>
          <p:nvPr/>
        </p:nvSpPr>
        <p:spPr>
          <a:xfrm xmlns:a="http://schemas.openxmlformats.org/drawingml/2006/main">
            <a:off x="1524000" y="2952750"/>
            <a:ext cx="96583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Why can too many nodes weaken a simple curve?</a:t>
            </a:r>
          </a:p>
        </p:txBody>
      </p:sp>
      <p:sp>
        <p:nvSpPr>
          <p:cNvPr id="11" name="retrieval-line-3">
            <a:extLst xmlns:a="http://schemas.openxmlformats.org/drawingml/2006/main">
              <a:ext uri="{FF2B5EF4-FFF2-40B4-BE49-F238E27FC236}">
                <a16:creationId xmlns:a16="http://schemas.microsoft.com/office/drawing/2014/main" id="{226A6738-CBBD-4970-A968-7214370D97A7}"/>
              </a:ext>
            </a:extLst>
          </p:cNvPr>
          <p:cNvSpPr>
            <a:spLocks xmlns:a="http://schemas.openxmlformats.org/drawingml/2006/main" noGrp="1"/>
          </p:cNvSpPr>
          <p:nvPr/>
        </p:nvSpPr>
        <p:spPr>
          <a:xfrm xmlns:a="http://schemas.openxmlformats.org/drawingml/2006/main">
            <a:off x="685800" y="3790950"/>
            <a:ext cx="10820400" cy="781050"/>
          </a:xfrm>
          <a:prstGeom xmlns:a="http://schemas.openxmlformats.org/drawingml/2006/main" prst="roundRect">
            <a:avLst>
              <a:gd name="adj" fmla="val 19512"/>
            </a:avLst>
          </a:prstGeom>
          <a:solidFill xmlns:a="http://schemas.openxmlformats.org/drawingml/2006/main">
            <a:srgbClr val="1D503D"/>
          </a:solidFill>
          <a:ln xmlns:a="http://schemas.openxmlformats.org/drawingml/2006/main" w="9525">
            <a:solidFill>
              <a:srgbClr val="4F7D69"/>
            </a:solidFill>
            <a:prstDash val="solid"/>
          </a:ln>
        </p:spPr>
      </p:sp>
      <p:sp>
        <p:nvSpPr>
          <p:cNvPr id="12" name="retrieval-number-3">
            <a:extLst xmlns:a="http://schemas.openxmlformats.org/drawingml/2006/main">
              <a:ext uri="{FF2B5EF4-FFF2-40B4-BE49-F238E27FC236}">
                <a16:creationId xmlns:a16="http://schemas.microsoft.com/office/drawing/2014/main" id="{08D17A29-3EF0-4877-9C0D-34CCE2F87AC1}"/>
              </a:ext>
            </a:extLst>
          </p:cNvPr>
          <p:cNvSpPr>
            <a:spLocks xmlns:a="http://schemas.openxmlformats.org/drawingml/2006/main" noGrp="1"/>
          </p:cNvSpPr>
          <p:nvPr/>
        </p:nvSpPr>
        <p:spPr>
          <a:xfrm xmlns:a="http://schemas.openxmlformats.org/drawingml/2006/main">
            <a:off x="895350" y="3971925"/>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E7AD31"/>
                </a:solidFill>
              </a:defRPr>
            </a:pPr>
            <a:r>
              <a:rPr sz="1875" b="1">
                <a:solidFill>
                  <a:srgbClr val="E7AD31"/>
                </a:solidFill>
              </a:rPr>
              <a:t>3</a:t>
            </a:r>
          </a:p>
        </p:txBody>
      </p:sp>
      <p:sp>
        <p:nvSpPr>
          <p:cNvPr id="13" name="retrieval-question-3">
            <a:extLst xmlns:a="http://schemas.openxmlformats.org/drawingml/2006/main">
              <a:ext uri="{FF2B5EF4-FFF2-40B4-BE49-F238E27FC236}">
                <a16:creationId xmlns:a16="http://schemas.microsoft.com/office/drawing/2014/main" id="{294A91D5-EF84-4AB2-B3A3-B349564D512B}"/>
              </a:ext>
            </a:extLst>
          </p:cNvPr>
          <p:cNvSpPr>
            <a:spLocks xmlns:a="http://schemas.openxmlformats.org/drawingml/2006/main" noGrp="1"/>
          </p:cNvSpPr>
          <p:nvPr/>
        </p:nvSpPr>
        <p:spPr>
          <a:xfrm xmlns:a="http://schemas.openxmlformats.org/drawingml/2006/main">
            <a:off x="1524000" y="3943350"/>
            <a:ext cx="96583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What makes an annotation explain rather than label?</a:t>
            </a:r>
          </a:p>
        </p:txBody>
      </p:sp>
      <p:sp>
        <p:nvSpPr>
          <p:cNvPr id="14" name="retrieval-line-4">
            <a:extLst xmlns:a="http://schemas.openxmlformats.org/drawingml/2006/main">
              <a:ext uri="{FF2B5EF4-FFF2-40B4-BE49-F238E27FC236}">
                <a16:creationId xmlns:a16="http://schemas.microsoft.com/office/drawing/2014/main" id="{DCC9363F-5156-4DF3-A3F6-4BD30B06130F}"/>
              </a:ext>
            </a:extLst>
          </p:cNvPr>
          <p:cNvSpPr>
            <a:spLocks xmlns:a="http://schemas.openxmlformats.org/drawingml/2006/main" noGrp="1"/>
          </p:cNvSpPr>
          <p:nvPr/>
        </p:nvSpPr>
        <p:spPr>
          <a:xfrm xmlns:a="http://schemas.openxmlformats.org/drawingml/2006/main">
            <a:off x="685800" y="4781550"/>
            <a:ext cx="10820400" cy="781050"/>
          </a:xfrm>
          <a:prstGeom xmlns:a="http://schemas.openxmlformats.org/drawingml/2006/main" prst="roundRect">
            <a:avLst>
              <a:gd name="adj" fmla="val 19512"/>
            </a:avLst>
          </a:prstGeom>
          <a:solidFill xmlns:a="http://schemas.openxmlformats.org/drawingml/2006/main">
            <a:srgbClr val="245E48"/>
          </a:solidFill>
          <a:ln xmlns:a="http://schemas.openxmlformats.org/drawingml/2006/main" w="9525">
            <a:solidFill>
              <a:srgbClr val="4F7D69"/>
            </a:solidFill>
            <a:prstDash val="solid"/>
          </a:ln>
        </p:spPr>
      </p:sp>
      <p:sp>
        <p:nvSpPr>
          <p:cNvPr id="15" name="retrieval-number-4">
            <a:extLst xmlns:a="http://schemas.openxmlformats.org/drawingml/2006/main">
              <a:ext uri="{FF2B5EF4-FFF2-40B4-BE49-F238E27FC236}">
                <a16:creationId xmlns:a16="http://schemas.microsoft.com/office/drawing/2014/main" id="{00779709-8F93-4083-99C4-3EE656833E73}"/>
              </a:ext>
            </a:extLst>
          </p:cNvPr>
          <p:cNvSpPr>
            <a:spLocks xmlns:a="http://schemas.openxmlformats.org/drawingml/2006/main" noGrp="1"/>
          </p:cNvSpPr>
          <p:nvPr/>
        </p:nvSpPr>
        <p:spPr>
          <a:xfrm xmlns:a="http://schemas.openxmlformats.org/drawingml/2006/main">
            <a:off x="895350" y="4962525"/>
            <a:ext cx="4191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875" b="1">
                <a:solidFill>
                  <a:srgbClr val="E7AD31"/>
                </a:solidFill>
              </a:defRPr>
            </a:pPr>
            <a:r>
              <a:rPr sz="1875" b="1">
                <a:solidFill>
                  <a:srgbClr val="E7AD31"/>
                </a:solidFill>
              </a:rPr>
              <a:t>4</a:t>
            </a:r>
          </a:p>
        </p:txBody>
      </p:sp>
      <p:sp>
        <p:nvSpPr>
          <p:cNvPr id="16" name="retrieval-question-4">
            <a:extLst xmlns:a="http://schemas.openxmlformats.org/drawingml/2006/main">
              <a:ext uri="{FF2B5EF4-FFF2-40B4-BE49-F238E27FC236}">
                <a16:creationId xmlns:a16="http://schemas.microsoft.com/office/drawing/2014/main" id="{8C53BD64-2E8A-4CB9-BC50-97664390C0D7}"/>
              </a:ext>
            </a:extLst>
          </p:cNvPr>
          <p:cNvSpPr>
            <a:spLocks xmlns:a="http://schemas.openxmlformats.org/drawingml/2006/main" noGrp="1"/>
          </p:cNvSpPr>
          <p:nvPr/>
        </p:nvSpPr>
        <p:spPr>
          <a:xfrm xmlns:a="http://schemas.openxmlformats.org/drawingml/2006/main">
            <a:off x="1524000" y="4933950"/>
            <a:ext cx="96583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FFFFFF"/>
                </a:solidFill>
              </a:defRPr>
            </a:pPr>
            <a:r>
              <a:rPr sz="1725" b="1">
                <a:solidFill>
                  <a:srgbClr val="FFFFFF"/>
                </a:solidFill>
              </a:rPr>
              <a:t>How should a designer use conflicting peer feedback?</a:t>
            </a:r>
          </a:p>
        </p:txBody>
      </p:sp>
      <p:sp>
        <p:nvSpPr>
          <p:cNvPr id="17" name="footer-rule-6">
            <a:extLst xmlns:a="http://schemas.openxmlformats.org/drawingml/2006/main">
              <a:ext uri="{FF2B5EF4-FFF2-40B4-BE49-F238E27FC236}">
                <a16:creationId xmlns:a16="http://schemas.microsoft.com/office/drawing/2014/main" id="{D59DDBF8-6F4F-43C3-82F7-5FBBE4E23B0F}"/>
              </a:ext>
            </a:extLst>
          </p:cNvPr>
          <p:cNvSpPr>
            <a:spLocks xmlns:a="http://schemas.openxmlformats.org/drawingml/2006/main" noGrp="1"/>
          </p:cNvSpPr>
          <p:nvPr/>
        </p:nvSpPr>
        <p:spPr>
          <a:xfrm xmlns:a="http://schemas.openxmlformats.org/drawingml/2006/main">
            <a:off x="685800" y="6486525"/>
            <a:ext cx="10820400" cy="19050"/>
          </a:xfrm>
          <a:prstGeom xmlns:a="http://schemas.openxmlformats.org/drawingml/2006/main" prst="rect">
            <a:avLst/>
          </a:prstGeom>
          <a:solidFill xmlns:a="http://schemas.openxmlformats.org/drawingml/2006/main">
            <a:srgbClr val="5C8774"/>
          </a:solidFill>
          <a:ln xmlns:a="http://schemas.openxmlformats.org/drawingml/2006/main" w="0">
            <a:solidFill>
              <a:srgbClr val="5C8774"/>
            </a:solidFill>
            <a:prstDash val="solid"/>
          </a:ln>
        </p:spPr>
      </p:sp>
      <p:sp>
        <p:nvSpPr>
          <p:cNvPr id="18" name="footer-label-6">
            <a:extLst xmlns:a="http://schemas.openxmlformats.org/drawingml/2006/main">
              <a:ext uri="{FF2B5EF4-FFF2-40B4-BE49-F238E27FC236}">
                <a16:creationId xmlns:a16="http://schemas.microsoft.com/office/drawing/2014/main" id="{8420F394-2545-4E93-B3CC-296F28B9253D}"/>
              </a:ext>
            </a:extLst>
          </p:cNvPr>
          <p:cNvSpPr>
            <a:spLocks xmlns:a="http://schemas.openxmlformats.org/drawingml/2006/main" noGrp="1"/>
          </p:cNvSpPr>
          <p:nvPr/>
        </p:nvSpPr>
        <p:spPr>
          <a:xfrm xmlns:a="http://schemas.openxmlformats.org/drawingml/2006/main">
            <a:off x="685800" y="6562725"/>
            <a:ext cx="4095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D8E7DF"/>
                </a:solidFill>
              </a:defRPr>
            </a:pPr>
            <a:r>
              <a:rPr sz="900" b="1">
                <a:solidFill>
                  <a:srgbClr val="D8E7DF"/>
                </a:solidFill>
              </a:rPr>
              <a:t>SWINGING SIGN  •  MODULE 2</a:t>
            </a:r>
          </a:p>
        </p:txBody>
      </p:sp>
      <p:sp>
        <p:nvSpPr>
          <p:cNvPr id="19" name="footer-page-6">
            <a:extLst xmlns:a="http://schemas.openxmlformats.org/drawingml/2006/main">
              <a:ext uri="{FF2B5EF4-FFF2-40B4-BE49-F238E27FC236}">
                <a16:creationId xmlns:a16="http://schemas.microsoft.com/office/drawing/2014/main" id="{BE24D02E-9A0F-43AD-A440-BC12874EBFEE}"/>
              </a:ext>
            </a:extLst>
          </p:cNvPr>
          <p:cNvSpPr>
            <a:spLocks xmlns:a="http://schemas.openxmlformats.org/drawingml/2006/main" noGrp="1"/>
          </p:cNvSpPr>
          <p:nvPr/>
        </p:nvSpPr>
        <p:spPr>
          <a:xfrm xmlns:a="http://schemas.openxmlformats.org/drawingml/2006/main">
            <a:off x="10763250" y="6562725"/>
            <a:ext cx="742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D8E7DF"/>
                </a:solidFill>
              </a:defRPr>
            </a:pPr>
            <a:r>
              <a:rPr sz="900" b="1">
                <a:solidFill>
                  <a:srgbClr val="D8E7DF"/>
                </a:solidFill>
              </a:rPr>
              <a:t>6 / 8</a:t>
            </a:r>
          </a:p>
        </p:txBody>
      </p:sp>
    </p:spTree>
    <p:extLst>
      <p:ext uri="{BB962C8B-B14F-4D97-AF65-F5344CB8AC3E}">
        <p14:creationId xmlns:p14="http://schemas.microsoft.com/office/powerpoint/2010/main" val="1113169466"/>
      </p:ext>
    </p:extLst>
  </p:cSld>
</p:sld>
</file>

<file path=ppt/slides/slide7.xml><?xml version="1.0" encoding="utf-8"?>
<p:sld xmlns:p="http://schemas.openxmlformats.org/presentationml/2006/main">
  <p:cSld>
    <p:bg>
      <p:bgPr>
        <a:solidFill xmlns:a="http://schemas.openxmlformats.org/drawingml/2006/main">
          <a:srgbClr val="FBF7EE"/>
        </a:solidFill>
      </p:bgPr>
    </p:bg>
    <p:spTree>
      <p:nvGrpSpPr>
        <p:cNvPr id="1" name=""/>
        <p:cNvGrpSpPr/>
        <p:nvPr/>
      </p:nvGrpSpPr>
      <p:grpSpPr>
        <a:xfrm xmlns:a="http://schemas.openxmlformats.org/drawingml/2006/main"/>
      </p:grpSpPr>
      <p:sp>
        <p:nvSpPr>
          <p:cNvPr id="23" name="accent-7">
            <a:extLst xmlns:a="http://schemas.openxmlformats.org/drawingml/2006/main">
              <a:ext uri="{FF2B5EF4-FFF2-40B4-BE49-F238E27FC236}">
                <a16:creationId xmlns:a16="http://schemas.microsoft.com/office/drawing/2014/main" id="{7FC98FDB-C106-4989-B0D2-1BB84401BAA2}"/>
              </a:ext>
            </a:extLst>
          </p:cNvPr>
          <p:cNvSpPr>
            <a:spLocks xmlns:a="http://schemas.openxmlformats.org/drawingml/2006/main" noGrp="1"/>
          </p:cNvSpPr>
          <p:nvPr/>
        </p:nvSpPr>
        <p:spPr>
          <a:xfrm xmlns:a="http://schemas.openxmlformats.org/drawingml/2006/main">
            <a:off x="0" y="0"/>
            <a:ext cx="12192000" cy="85725"/>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2" name="module-kicker-7">
            <a:extLst xmlns:a="http://schemas.openxmlformats.org/drawingml/2006/main">
              <a:ext uri="{FF2B5EF4-FFF2-40B4-BE49-F238E27FC236}">
                <a16:creationId xmlns:a16="http://schemas.microsoft.com/office/drawing/2014/main" id="{B194BE96-200C-4170-9829-80C35903C87A}"/>
              </a:ext>
            </a:extLst>
          </p:cNvPr>
          <p:cNvSpPr>
            <a:spLocks xmlns:a="http://schemas.openxmlformats.org/drawingml/2006/main" noGrp="1"/>
          </p:cNvSpPr>
          <p:nvPr/>
        </p:nvSpPr>
        <p:spPr>
          <a:xfrm xmlns:a="http://schemas.openxmlformats.org/drawingml/2006/main">
            <a:off x="685800" y="266700"/>
            <a:ext cx="8191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MODULE 2  •  COMMUNICATE THE DESIGN</a:t>
            </a:r>
          </a:p>
        </p:txBody>
      </p:sp>
      <p:sp>
        <p:nvSpPr>
          <p:cNvPr id="3" name="slide-title-7">
            <a:extLst xmlns:a="http://schemas.openxmlformats.org/drawingml/2006/main">
              <a:ext uri="{FF2B5EF4-FFF2-40B4-BE49-F238E27FC236}">
                <a16:creationId xmlns:a16="http://schemas.microsoft.com/office/drawing/2014/main" id="{161C55A5-82F2-4A9D-92C7-10969CCF2985}"/>
              </a:ext>
            </a:extLst>
          </p:cNvPr>
          <p:cNvSpPr>
            <a:spLocks xmlns:a="http://schemas.openxmlformats.org/drawingml/2006/main" noGrp="1"/>
          </p:cNvSpPr>
          <p:nvPr/>
        </p:nvSpPr>
        <p:spPr>
          <a:xfrm xmlns:a="http://schemas.openxmlformats.org/drawingml/2006/main">
            <a:off x="685800" y="590550"/>
            <a:ext cx="108204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2850" b="1">
                <a:solidFill>
                  <a:srgbClr val="113F30"/>
                </a:solidFill>
              </a:defRPr>
            </a:pPr>
            <a:r>
              <a:rPr sz="2850" b="1">
                <a:solidFill>
                  <a:srgbClr val="113F30"/>
                </a:solidFill>
              </a:rPr>
              <a:t>Build one connected explanation</a:t>
            </a:r>
          </a:p>
        </p:txBody>
      </p:sp>
      <p:sp>
        <p:nvSpPr>
          <p:cNvPr id="4" name="guided-question-surface">
            <a:extLst xmlns:a="http://schemas.openxmlformats.org/drawingml/2006/main">
              <a:ext uri="{FF2B5EF4-FFF2-40B4-BE49-F238E27FC236}">
                <a16:creationId xmlns:a16="http://schemas.microsoft.com/office/drawing/2014/main" id="{A7020FC8-9C14-413A-BF80-CED88438B068}"/>
              </a:ext>
            </a:extLst>
          </p:cNvPr>
          <p:cNvSpPr>
            <a:spLocks xmlns:a="http://schemas.openxmlformats.org/drawingml/2006/main" noGrp="1"/>
          </p:cNvSpPr>
          <p:nvPr/>
        </p:nvSpPr>
        <p:spPr>
          <a:xfrm xmlns:a="http://schemas.openxmlformats.org/drawingml/2006/main">
            <a:off x="685800" y="1352550"/>
            <a:ext cx="10820400" cy="1257300"/>
          </a:xfrm>
          <a:prstGeom xmlns:a="http://schemas.openxmlformats.org/drawingml/2006/main" prst="roundRect">
            <a:avLst>
              <a:gd name="adj" fmla="val 13636"/>
            </a:avLst>
          </a:prstGeom>
          <a:solidFill xmlns:a="http://schemas.openxmlformats.org/drawingml/2006/main">
            <a:srgbClr val="FFFFFF"/>
          </a:solidFill>
          <a:ln xmlns:a="http://schemas.openxmlformats.org/drawingml/2006/main" w="9525">
            <a:solidFill>
              <a:srgbClr val="C8D8CF"/>
            </a:solidFill>
            <a:prstDash val="solid"/>
          </a:ln>
        </p:spPr>
      </p:sp>
      <p:sp>
        <p:nvSpPr>
          <p:cNvPr id="5" name="guided-question-label">
            <a:extLst xmlns:a="http://schemas.openxmlformats.org/drawingml/2006/main">
              <a:ext uri="{FF2B5EF4-FFF2-40B4-BE49-F238E27FC236}">
                <a16:creationId xmlns:a16="http://schemas.microsoft.com/office/drawing/2014/main" id="{09832383-49D7-483A-A95D-3CBED8755DA6}"/>
              </a:ext>
            </a:extLst>
          </p:cNvPr>
          <p:cNvSpPr>
            <a:spLocks xmlns:a="http://schemas.openxmlformats.org/drawingml/2006/main" noGrp="1"/>
          </p:cNvSpPr>
          <p:nvPr/>
        </p:nvSpPr>
        <p:spPr>
          <a:xfrm xmlns:a="http://schemas.openxmlformats.org/drawingml/2006/main">
            <a:off x="933450" y="1543050"/>
            <a:ext cx="1714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050" b="1">
                <a:solidFill>
                  <a:srgbClr val="B84932"/>
                </a:solidFill>
              </a:defRPr>
            </a:pPr>
            <a:r>
              <a:rPr sz="1050" b="1">
                <a:solidFill>
                  <a:srgbClr val="B84932"/>
                </a:solidFill>
              </a:rPr>
              <a:t>THE QUESTION</a:t>
            </a:r>
          </a:p>
        </p:txBody>
      </p:sp>
      <p:sp>
        <p:nvSpPr>
          <p:cNvPr id="6" name="guided-question">
            <a:extLst xmlns:a="http://schemas.openxmlformats.org/drawingml/2006/main">
              <a:ext uri="{FF2B5EF4-FFF2-40B4-BE49-F238E27FC236}">
                <a16:creationId xmlns:a16="http://schemas.microsoft.com/office/drawing/2014/main" id="{B43A015A-C8D0-4AA6-8870-DDA2003B419E}"/>
              </a:ext>
            </a:extLst>
          </p:cNvPr>
          <p:cNvSpPr>
            <a:spLocks xmlns:a="http://schemas.openxmlformats.org/drawingml/2006/main" noGrp="1"/>
          </p:cNvSpPr>
          <p:nvPr/>
        </p:nvSpPr>
        <p:spPr>
          <a:xfrm xmlns:a="http://schemas.openxmlformats.org/drawingml/2006/main">
            <a:off x="933450" y="1866900"/>
            <a:ext cx="10287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13F30"/>
                </a:solidFill>
              </a:defRPr>
            </a:pPr>
            <a:r>
              <a:rPr sz="1725" b="1">
                <a:solidFill>
                  <a:srgbClr val="113F30"/>
                </a:solidFill>
              </a:rPr>
              <a:t>Evaluate a crowded sign concept. Recommend a file-format choice, one path-clean-up action and one legibility revision, then explain how peer evidence would test the change.</a:t>
            </a:r>
          </a:p>
        </p:txBody>
      </p:sp>
      <p:sp>
        <p:nvSpPr>
          <p:cNvPr id="7" name="guided-step-1">
            <a:extLst xmlns:a="http://schemas.openxmlformats.org/drawingml/2006/main">
              <a:ext uri="{FF2B5EF4-FFF2-40B4-BE49-F238E27FC236}">
                <a16:creationId xmlns:a16="http://schemas.microsoft.com/office/drawing/2014/main" id="{116428B9-7CA0-441E-A9E0-B744E325085E}"/>
              </a:ext>
            </a:extLst>
          </p:cNvPr>
          <p:cNvSpPr>
            <a:spLocks xmlns:a="http://schemas.openxmlformats.org/drawingml/2006/main" noGrp="1"/>
          </p:cNvSpPr>
          <p:nvPr/>
        </p:nvSpPr>
        <p:spPr>
          <a:xfrm xmlns:a="http://schemas.openxmlformats.org/drawingml/2006/main">
            <a:off x="685800" y="2990850"/>
            <a:ext cx="2514600" cy="2095500"/>
          </a:xfrm>
          <a:prstGeom xmlns:a="http://schemas.openxmlformats.org/drawingml/2006/main" prst="roundRect">
            <a:avLst>
              <a:gd name="adj" fmla="val 8182"/>
            </a:avLst>
          </a:prstGeom>
          <a:solidFill xmlns:a="http://schemas.openxmlformats.org/drawingml/2006/main">
            <a:srgbClr val="113F30"/>
          </a:solidFill>
          <a:ln xmlns:a="http://schemas.openxmlformats.org/drawingml/2006/main" w="0">
            <a:solidFill>
              <a:srgbClr val="113F30"/>
            </a:solidFill>
            <a:prstDash val="solid"/>
          </a:ln>
        </p:spPr>
      </p:sp>
      <p:sp>
        <p:nvSpPr>
          <p:cNvPr id="8" name="guided-step-name-1">
            <a:extLst xmlns:a="http://schemas.openxmlformats.org/drawingml/2006/main">
              <a:ext uri="{FF2B5EF4-FFF2-40B4-BE49-F238E27FC236}">
                <a16:creationId xmlns:a16="http://schemas.microsoft.com/office/drawing/2014/main" id="{FEE8D066-9356-492D-89C8-6325D6016E66}"/>
              </a:ext>
            </a:extLst>
          </p:cNvPr>
          <p:cNvSpPr>
            <a:spLocks xmlns:a="http://schemas.openxmlformats.org/drawingml/2006/main" noGrp="1"/>
          </p:cNvSpPr>
          <p:nvPr/>
        </p:nvSpPr>
        <p:spPr>
          <a:xfrm xmlns:a="http://schemas.openxmlformats.org/drawingml/2006/main">
            <a:off x="895350" y="3219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E7AD31"/>
                </a:solidFill>
              </a:defRPr>
            </a:pPr>
            <a:r>
              <a:rPr sz="1650" b="1">
                <a:solidFill>
                  <a:srgbClr val="E7AD31"/>
                </a:solidFill>
              </a:rPr>
              <a:t>READ</a:t>
            </a:r>
          </a:p>
        </p:txBody>
      </p:sp>
      <p:sp>
        <p:nvSpPr>
          <p:cNvPr id="9" name="guided-step-body-1">
            <a:extLst xmlns:a="http://schemas.openxmlformats.org/drawingml/2006/main">
              <a:ext uri="{FF2B5EF4-FFF2-40B4-BE49-F238E27FC236}">
                <a16:creationId xmlns:a16="http://schemas.microsoft.com/office/drawing/2014/main" id="{7663DDFD-DCA5-4975-B3B6-5BDDBC3C2F5C}"/>
              </a:ext>
            </a:extLst>
          </p:cNvPr>
          <p:cNvSpPr>
            <a:spLocks xmlns:a="http://schemas.openxmlformats.org/drawingml/2006/main" noGrp="1"/>
          </p:cNvSpPr>
          <p:nvPr/>
        </p:nvSpPr>
        <p:spPr>
          <a:xfrm xmlns:a="http://schemas.openxmlformats.org/drawingml/2006/main">
            <a:off x="895350" y="3676650"/>
            <a:ext cx="2095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FFFFFF"/>
                </a:solidFill>
              </a:defRPr>
            </a:pPr>
            <a:r>
              <a:rPr sz="1500" b="0">
                <a:solidFill>
                  <a:srgbClr val="FFFFFF"/>
                </a:solidFill>
              </a:rPr>
              <a:t>identify the communication problem and intended audience.</a:t>
            </a:r>
          </a:p>
        </p:txBody>
      </p:sp>
      <p:sp>
        <p:nvSpPr>
          <p:cNvPr id="10" name="guided-step-2">
            <a:extLst xmlns:a="http://schemas.openxmlformats.org/drawingml/2006/main">
              <a:ext uri="{FF2B5EF4-FFF2-40B4-BE49-F238E27FC236}">
                <a16:creationId xmlns:a16="http://schemas.microsoft.com/office/drawing/2014/main" id="{7011EC87-1B0A-4EA3-A38A-AD42C71858B5}"/>
              </a:ext>
            </a:extLst>
          </p:cNvPr>
          <p:cNvSpPr>
            <a:spLocks xmlns:a="http://schemas.openxmlformats.org/drawingml/2006/main" noGrp="1"/>
          </p:cNvSpPr>
          <p:nvPr/>
        </p:nvSpPr>
        <p:spPr>
          <a:xfrm xmlns:a="http://schemas.openxmlformats.org/drawingml/2006/main">
            <a:off x="3429000" y="2990850"/>
            <a:ext cx="2514600" cy="2095500"/>
          </a:xfrm>
          <a:prstGeom xmlns:a="http://schemas.openxmlformats.org/drawingml/2006/main" prst="roundRect">
            <a:avLst>
              <a:gd name="adj" fmla="val 8182"/>
            </a:avLst>
          </a:prstGeom>
          <a:solidFill xmlns:a="http://schemas.openxmlformats.org/drawingml/2006/main">
            <a:srgbClr val="176046"/>
          </a:solidFill>
          <a:ln xmlns:a="http://schemas.openxmlformats.org/drawingml/2006/main" w="0">
            <a:solidFill>
              <a:srgbClr val="176046"/>
            </a:solidFill>
            <a:prstDash val="solid"/>
          </a:ln>
        </p:spPr>
      </p:sp>
      <p:sp>
        <p:nvSpPr>
          <p:cNvPr id="11" name="guided-step-name-2">
            <a:extLst xmlns:a="http://schemas.openxmlformats.org/drawingml/2006/main">
              <a:ext uri="{FF2B5EF4-FFF2-40B4-BE49-F238E27FC236}">
                <a16:creationId xmlns:a16="http://schemas.microsoft.com/office/drawing/2014/main" id="{5287A14A-1964-4CDD-92BB-417F8851833F}"/>
              </a:ext>
            </a:extLst>
          </p:cNvPr>
          <p:cNvSpPr>
            <a:spLocks xmlns:a="http://schemas.openxmlformats.org/drawingml/2006/main" noGrp="1"/>
          </p:cNvSpPr>
          <p:nvPr/>
        </p:nvSpPr>
        <p:spPr>
          <a:xfrm xmlns:a="http://schemas.openxmlformats.org/drawingml/2006/main">
            <a:off x="3638550" y="3219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E7AD31"/>
                </a:solidFill>
              </a:defRPr>
            </a:pPr>
            <a:r>
              <a:rPr sz="1650" b="1">
                <a:solidFill>
                  <a:srgbClr val="E7AD31"/>
                </a:solidFill>
              </a:rPr>
              <a:t>SELECT</a:t>
            </a:r>
          </a:p>
        </p:txBody>
      </p:sp>
      <p:sp>
        <p:nvSpPr>
          <p:cNvPr id="12" name="guided-step-body-2">
            <a:extLst xmlns:a="http://schemas.openxmlformats.org/drawingml/2006/main">
              <a:ext uri="{FF2B5EF4-FFF2-40B4-BE49-F238E27FC236}">
                <a16:creationId xmlns:a16="http://schemas.microsoft.com/office/drawing/2014/main" id="{24132E17-5FB1-457F-A5E4-DDBDC40F647C}"/>
              </a:ext>
            </a:extLst>
          </p:cNvPr>
          <p:cNvSpPr>
            <a:spLocks xmlns:a="http://schemas.openxmlformats.org/drawingml/2006/main" noGrp="1"/>
          </p:cNvSpPr>
          <p:nvPr/>
        </p:nvSpPr>
        <p:spPr>
          <a:xfrm xmlns:a="http://schemas.openxmlformats.org/drawingml/2006/main">
            <a:off x="3638550" y="3676650"/>
            <a:ext cx="2095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FFFFFF"/>
                </a:solidFill>
              </a:defRPr>
            </a:pPr>
            <a:r>
              <a:rPr sz="1500" b="0">
                <a:solidFill>
                  <a:srgbClr val="FFFFFF"/>
                </a:solidFill>
              </a:rPr>
              <a:t>choose relevant vector, path and legibility ideas.</a:t>
            </a:r>
          </a:p>
        </p:txBody>
      </p:sp>
      <p:sp>
        <p:nvSpPr>
          <p:cNvPr id="13" name="guided-step-3">
            <a:extLst xmlns:a="http://schemas.openxmlformats.org/drawingml/2006/main">
              <a:ext uri="{FF2B5EF4-FFF2-40B4-BE49-F238E27FC236}">
                <a16:creationId xmlns:a16="http://schemas.microsoft.com/office/drawing/2014/main" id="{6DB680C8-8722-4158-AB2A-22A9E997D264}"/>
              </a:ext>
            </a:extLst>
          </p:cNvPr>
          <p:cNvSpPr>
            <a:spLocks xmlns:a="http://schemas.openxmlformats.org/drawingml/2006/main" noGrp="1"/>
          </p:cNvSpPr>
          <p:nvPr/>
        </p:nvSpPr>
        <p:spPr>
          <a:xfrm xmlns:a="http://schemas.openxmlformats.org/drawingml/2006/main">
            <a:off x="6172200" y="2990850"/>
            <a:ext cx="2514600" cy="2095500"/>
          </a:xfrm>
          <a:prstGeom xmlns:a="http://schemas.openxmlformats.org/drawingml/2006/main" prst="roundRect">
            <a:avLst>
              <a:gd name="adj" fmla="val 8182"/>
            </a:avLst>
          </a:prstGeom>
          <a:solidFill xmlns:a="http://schemas.openxmlformats.org/drawingml/2006/main">
            <a:srgbClr val="113F30"/>
          </a:solidFill>
          <a:ln xmlns:a="http://schemas.openxmlformats.org/drawingml/2006/main" w="0">
            <a:solidFill>
              <a:srgbClr val="113F30"/>
            </a:solidFill>
            <a:prstDash val="solid"/>
          </a:ln>
        </p:spPr>
      </p:sp>
      <p:sp>
        <p:nvSpPr>
          <p:cNvPr id="14" name="guided-step-name-3">
            <a:extLst xmlns:a="http://schemas.openxmlformats.org/drawingml/2006/main">
              <a:ext uri="{FF2B5EF4-FFF2-40B4-BE49-F238E27FC236}">
                <a16:creationId xmlns:a16="http://schemas.microsoft.com/office/drawing/2014/main" id="{3399F10C-0551-4985-85F7-1DB9D77C6C57}"/>
              </a:ext>
            </a:extLst>
          </p:cNvPr>
          <p:cNvSpPr>
            <a:spLocks xmlns:a="http://schemas.openxmlformats.org/drawingml/2006/main" noGrp="1"/>
          </p:cNvSpPr>
          <p:nvPr/>
        </p:nvSpPr>
        <p:spPr>
          <a:xfrm xmlns:a="http://schemas.openxmlformats.org/drawingml/2006/main">
            <a:off x="6381750" y="3219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E7AD31"/>
                </a:solidFill>
              </a:defRPr>
            </a:pPr>
            <a:r>
              <a:rPr sz="1650" b="1">
                <a:solidFill>
                  <a:srgbClr val="E7AD31"/>
                </a:solidFill>
              </a:rPr>
              <a:t>EXPLAIN</a:t>
            </a:r>
          </a:p>
        </p:txBody>
      </p:sp>
      <p:sp>
        <p:nvSpPr>
          <p:cNvPr id="15" name="guided-step-body-3">
            <a:extLst xmlns:a="http://schemas.openxmlformats.org/drawingml/2006/main">
              <a:ext uri="{FF2B5EF4-FFF2-40B4-BE49-F238E27FC236}">
                <a16:creationId xmlns:a16="http://schemas.microsoft.com/office/drawing/2014/main" id="{C3EFBB7F-4280-454F-AFB4-57DD90CEF4B0}"/>
              </a:ext>
            </a:extLst>
          </p:cNvPr>
          <p:cNvSpPr>
            <a:spLocks xmlns:a="http://schemas.openxmlformats.org/drawingml/2006/main" noGrp="1"/>
          </p:cNvSpPr>
          <p:nvPr/>
        </p:nvSpPr>
        <p:spPr>
          <a:xfrm xmlns:a="http://schemas.openxmlformats.org/drawingml/2006/main">
            <a:off x="6381750" y="3676650"/>
            <a:ext cx="2095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FFFFFF"/>
                </a:solidFill>
              </a:defRPr>
            </a:pPr>
            <a:r>
              <a:rPr sz="1500" b="0">
                <a:solidFill>
                  <a:srgbClr val="FFFFFF"/>
                </a:solidFill>
              </a:rPr>
              <a:t>link each revision to a criterion and user effect.</a:t>
            </a:r>
          </a:p>
        </p:txBody>
      </p:sp>
      <p:sp>
        <p:nvSpPr>
          <p:cNvPr id="16" name="guided-step-4">
            <a:extLst xmlns:a="http://schemas.openxmlformats.org/drawingml/2006/main">
              <a:ext uri="{FF2B5EF4-FFF2-40B4-BE49-F238E27FC236}">
                <a16:creationId xmlns:a16="http://schemas.microsoft.com/office/drawing/2014/main" id="{2A16A958-B339-4F31-ADB1-2393860BCF71}"/>
              </a:ext>
            </a:extLst>
          </p:cNvPr>
          <p:cNvSpPr>
            <a:spLocks xmlns:a="http://schemas.openxmlformats.org/drawingml/2006/main" noGrp="1"/>
          </p:cNvSpPr>
          <p:nvPr/>
        </p:nvSpPr>
        <p:spPr>
          <a:xfrm xmlns:a="http://schemas.openxmlformats.org/drawingml/2006/main">
            <a:off x="8915400" y="2990850"/>
            <a:ext cx="2514600" cy="2095500"/>
          </a:xfrm>
          <a:prstGeom xmlns:a="http://schemas.openxmlformats.org/drawingml/2006/main" prst="roundRect">
            <a:avLst>
              <a:gd name="adj" fmla="val 8182"/>
            </a:avLst>
          </a:prstGeom>
          <a:solidFill xmlns:a="http://schemas.openxmlformats.org/drawingml/2006/main">
            <a:srgbClr val="176046"/>
          </a:solidFill>
          <a:ln xmlns:a="http://schemas.openxmlformats.org/drawingml/2006/main" w="0">
            <a:solidFill>
              <a:srgbClr val="176046"/>
            </a:solidFill>
            <a:prstDash val="solid"/>
          </a:ln>
        </p:spPr>
      </p:sp>
      <p:sp>
        <p:nvSpPr>
          <p:cNvPr id="17" name="guided-step-name-4">
            <a:extLst xmlns:a="http://schemas.openxmlformats.org/drawingml/2006/main">
              <a:ext uri="{FF2B5EF4-FFF2-40B4-BE49-F238E27FC236}">
                <a16:creationId xmlns:a16="http://schemas.microsoft.com/office/drawing/2014/main" id="{471028E6-8FA7-48AD-97FE-B526EADBCC20}"/>
              </a:ext>
            </a:extLst>
          </p:cNvPr>
          <p:cNvSpPr>
            <a:spLocks xmlns:a="http://schemas.openxmlformats.org/drawingml/2006/main" noGrp="1"/>
          </p:cNvSpPr>
          <p:nvPr/>
        </p:nvSpPr>
        <p:spPr>
          <a:xfrm xmlns:a="http://schemas.openxmlformats.org/drawingml/2006/main">
            <a:off x="9124950" y="32194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650" b="1">
                <a:solidFill>
                  <a:srgbClr val="E7AD31"/>
                </a:solidFill>
              </a:defRPr>
            </a:pPr>
            <a:r>
              <a:rPr sz="1650" b="1">
                <a:solidFill>
                  <a:srgbClr val="E7AD31"/>
                </a:solidFill>
              </a:rPr>
              <a:t>CHECK</a:t>
            </a:r>
          </a:p>
        </p:txBody>
      </p:sp>
      <p:sp>
        <p:nvSpPr>
          <p:cNvPr id="18" name="guided-step-body-4">
            <a:extLst xmlns:a="http://schemas.openxmlformats.org/drawingml/2006/main">
              <a:ext uri="{FF2B5EF4-FFF2-40B4-BE49-F238E27FC236}">
                <a16:creationId xmlns:a16="http://schemas.microsoft.com/office/drawing/2014/main" id="{8D854503-41B7-4825-9A57-56821FFABB6E}"/>
              </a:ext>
            </a:extLst>
          </p:cNvPr>
          <p:cNvSpPr>
            <a:spLocks xmlns:a="http://schemas.openxmlformats.org/drawingml/2006/main" noGrp="1"/>
          </p:cNvSpPr>
          <p:nvPr/>
        </p:nvSpPr>
        <p:spPr>
          <a:xfrm xmlns:a="http://schemas.openxmlformats.org/drawingml/2006/main">
            <a:off x="9124950" y="3676650"/>
            <a:ext cx="2095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0">
                <a:solidFill>
                  <a:srgbClr val="FFFFFF"/>
                </a:solidFill>
              </a:defRPr>
            </a:pPr>
            <a:r>
              <a:rPr sz="1500" b="0">
                <a:solidFill>
                  <a:srgbClr val="FFFFFF"/>
                </a:solidFill>
              </a:rPr>
              <a:t>show how feedback will confirm or challenge the revision.</a:t>
            </a:r>
          </a:p>
        </p:txBody>
      </p:sp>
      <p:sp>
        <p:nvSpPr>
          <p:cNvPr id="19" name="guided-sentence">
            <a:extLst xmlns:a="http://schemas.openxmlformats.org/drawingml/2006/main">
              <a:ext uri="{FF2B5EF4-FFF2-40B4-BE49-F238E27FC236}">
                <a16:creationId xmlns:a16="http://schemas.microsoft.com/office/drawing/2014/main" id="{62BD6201-58A6-45EB-93A7-9CAECD4F4215}"/>
              </a:ext>
            </a:extLst>
          </p:cNvPr>
          <p:cNvSpPr>
            <a:spLocks xmlns:a="http://schemas.openxmlformats.org/drawingml/2006/main" noGrp="1"/>
          </p:cNvSpPr>
          <p:nvPr/>
        </p:nvSpPr>
        <p:spPr>
          <a:xfrm xmlns:a="http://schemas.openxmlformats.org/drawingml/2006/main">
            <a:off x="685800" y="5391150"/>
            <a:ext cx="108204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00" b="1">
                <a:solidFill>
                  <a:srgbClr val="B84932"/>
                </a:solidFill>
              </a:defRPr>
            </a:pPr>
            <a:r>
              <a:rPr sz="1500" b="1">
                <a:solidFill>
                  <a:srgbClr val="B84932"/>
                </a:solidFill>
              </a:rPr>
              <a:t>Sentence support: The strongest evidence is ___ because ___. This means ___. Before practical work, ___ still needs teacher confirmation.</a:t>
            </a:r>
          </a:p>
        </p:txBody>
      </p:sp>
      <p:sp>
        <p:nvSpPr>
          <p:cNvPr id="20" name="footer-rule-7">
            <a:extLst xmlns:a="http://schemas.openxmlformats.org/drawingml/2006/main">
              <a:ext uri="{FF2B5EF4-FFF2-40B4-BE49-F238E27FC236}">
                <a16:creationId xmlns:a16="http://schemas.microsoft.com/office/drawing/2014/main" id="{B0D58F20-D605-45D9-87B8-5414C51B4FBE}"/>
              </a:ext>
            </a:extLst>
          </p:cNvPr>
          <p:cNvSpPr>
            <a:spLocks xmlns:a="http://schemas.openxmlformats.org/drawingml/2006/main" noGrp="1"/>
          </p:cNvSpPr>
          <p:nvPr/>
        </p:nvSpPr>
        <p:spPr>
          <a:xfrm xmlns:a="http://schemas.openxmlformats.org/drawingml/2006/main">
            <a:off x="685800" y="6486525"/>
            <a:ext cx="10820400" cy="19050"/>
          </a:xfrm>
          <a:prstGeom xmlns:a="http://schemas.openxmlformats.org/drawingml/2006/main" prst="rect">
            <a:avLst/>
          </a:prstGeom>
          <a:solidFill xmlns:a="http://schemas.openxmlformats.org/drawingml/2006/main">
            <a:srgbClr val="C8D8CF"/>
          </a:solidFill>
          <a:ln xmlns:a="http://schemas.openxmlformats.org/drawingml/2006/main" w="0">
            <a:solidFill>
              <a:srgbClr val="C8D8CF"/>
            </a:solidFill>
            <a:prstDash val="solid"/>
          </a:ln>
        </p:spPr>
      </p:sp>
      <p:sp>
        <p:nvSpPr>
          <p:cNvPr id="21" name="footer-label-7">
            <a:extLst xmlns:a="http://schemas.openxmlformats.org/drawingml/2006/main">
              <a:ext uri="{FF2B5EF4-FFF2-40B4-BE49-F238E27FC236}">
                <a16:creationId xmlns:a16="http://schemas.microsoft.com/office/drawing/2014/main" id="{B6032FC8-6E3D-4FD2-8351-6C089AC8C6B0}"/>
              </a:ext>
            </a:extLst>
          </p:cNvPr>
          <p:cNvSpPr>
            <a:spLocks xmlns:a="http://schemas.openxmlformats.org/drawingml/2006/main" noGrp="1"/>
          </p:cNvSpPr>
          <p:nvPr/>
        </p:nvSpPr>
        <p:spPr>
          <a:xfrm xmlns:a="http://schemas.openxmlformats.org/drawingml/2006/main">
            <a:off x="685800" y="6562725"/>
            <a:ext cx="4095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900" b="1">
                <a:solidFill>
                  <a:srgbClr val="54645D"/>
                </a:solidFill>
              </a:defRPr>
            </a:pPr>
            <a:r>
              <a:rPr sz="900" b="1">
                <a:solidFill>
                  <a:srgbClr val="54645D"/>
                </a:solidFill>
              </a:rPr>
              <a:t>SWINGING SIGN  •  MODULE 2</a:t>
            </a:r>
          </a:p>
        </p:txBody>
      </p:sp>
      <p:sp>
        <p:nvSpPr>
          <p:cNvPr id="22" name="footer-page-7">
            <a:extLst xmlns:a="http://schemas.openxmlformats.org/drawingml/2006/main">
              <a:ext uri="{FF2B5EF4-FFF2-40B4-BE49-F238E27FC236}">
                <a16:creationId xmlns:a16="http://schemas.microsoft.com/office/drawing/2014/main" id="{C3B07FB9-5338-4E6D-816B-AED096F4A424}"/>
              </a:ext>
            </a:extLst>
          </p:cNvPr>
          <p:cNvSpPr>
            <a:spLocks xmlns:a="http://schemas.openxmlformats.org/drawingml/2006/main" noGrp="1"/>
          </p:cNvSpPr>
          <p:nvPr/>
        </p:nvSpPr>
        <p:spPr>
          <a:xfrm xmlns:a="http://schemas.openxmlformats.org/drawingml/2006/main">
            <a:off x="10763250" y="6562725"/>
            <a:ext cx="742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54645D"/>
                </a:solidFill>
              </a:defRPr>
            </a:pPr>
            <a:r>
              <a:rPr sz="900" b="1">
                <a:solidFill>
                  <a:srgbClr val="54645D"/>
                </a:solidFill>
              </a:rPr>
              <a:t>7 / 8</a:t>
            </a:r>
          </a:p>
        </p:txBody>
      </p:sp>
    </p:spTree>
    <p:extLst>
      <p:ext uri="{BB962C8B-B14F-4D97-AF65-F5344CB8AC3E}">
        <p14:creationId xmlns:p14="http://schemas.microsoft.com/office/powerpoint/2010/main" val="295433155"/>
      </p:ext>
    </p:extLst>
  </p:cSld>
</p:sld>
</file>

<file path=ppt/slides/slide8.xml><?xml version="1.0" encoding="utf-8"?>
<p:sld xmlns:p="http://schemas.openxmlformats.org/presentationml/2006/main">
  <p:cSld>
    <p:bg>
      <p:bgPr>
        <a:solidFill xmlns:a="http://schemas.openxmlformats.org/drawingml/2006/main">
          <a:srgbClr val="B84932"/>
        </a:solidFill>
      </p:bgPr>
    </p:bg>
    <p:spTree>
      <p:nvGrpSpPr>
        <p:cNvPr id="1" name=""/>
        <p:cNvGrpSpPr/>
        <p:nvPr/>
      </p:nvGrpSpPr>
      <p:grpSpPr>
        <a:xfrm xmlns:a="http://schemas.openxmlformats.org/drawingml/2006/main"/>
      </p:grpSpPr>
      <p:sp>
        <p:nvSpPr>
          <p:cNvPr id="18" name="exit-accent">
            <a:extLst xmlns:a="http://schemas.openxmlformats.org/drawingml/2006/main">
              <a:ext uri="{FF2B5EF4-FFF2-40B4-BE49-F238E27FC236}">
                <a16:creationId xmlns:a16="http://schemas.microsoft.com/office/drawing/2014/main" id="{AD04112E-6413-4390-B17B-1B456FDA6CE2}"/>
              </a:ext>
            </a:extLst>
          </p:cNvPr>
          <p:cNvSpPr>
            <a:spLocks xmlns:a="http://schemas.openxmlformats.org/drawingml/2006/main" noGrp="1"/>
          </p:cNvSpPr>
          <p:nvPr/>
        </p:nvSpPr>
        <p:spPr>
          <a:xfrm xmlns:a="http://schemas.openxmlformats.org/drawingml/2006/main">
            <a:off x="685800" y="533400"/>
            <a:ext cx="800100" cy="76200"/>
          </a:xfrm>
          <a:prstGeom xmlns:a="http://schemas.openxmlformats.org/drawingml/2006/main" prst="rect">
            <a:avLst/>
          </a:prstGeom>
          <a:solidFill xmlns:a="http://schemas.openxmlformats.org/drawingml/2006/main">
            <a:srgbClr val="E7AD31"/>
          </a:solidFill>
          <a:ln xmlns:a="http://schemas.openxmlformats.org/drawingml/2006/main" w="0">
            <a:solidFill>
              <a:srgbClr val="E7AD31"/>
            </a:solidFill>
            <a:prstDash val="solid"/>
          </a:ln>
        </p:spPr>
      </p:sp>
      <p:sp>
        <p:nvSpPr>
          <p:cNvPr id="2" name="exit-kicker">
            <a:extLst xmlns:a="http://schemas.openxmlformats.org/drawingml/2006/main">
              <a:ext uri="{FF2B5EF4-FFF2-40B4-BE49-F238E27FC236}">
                <a16:creationId xmlns:a16="http://schemas.microsoft.com/office/drawing/2014/main" id="{1AFE59A0-C5B7-4D23-9EF5-0F4E7F0A00C7}"/>
              </a:ext>
            </a:extLst>
          </p:cNvPr>
          <p:cNvSpPr>
            <a:spLocks xmlns:a="http://schemas.openxmlformats.org/drawingml/2006/main" noGrp="1"/>
          </p:cNvSpPr>
          <p:nvPr/>
        </p:nvSpPr>
        <p:spPr>
          <a:xfrm xmlns:a="http://schemas.openxmlformats.org/drawingml/2006/main">
            <a:off x="685800" y="828675"/>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125" b="1">
                <a:solidFill>
                  <a:srgbClr val="FFE6D9"/>
                </a:solidFill>
              </a:defRPr>
            </a:pPr>
            <a:r>
              <a:rPr sz="1125" b="1">
                <a:solidFill>
                  <a:srgbClr val="FFE6D9"/>
                </a:solidFill>
              </a:rPr>
              <a:t>MODULE 2  •  EXIT EVIDENCE</a:t>
            </a:r>
          </a:p>
        </p:txBody>
      </p:sp>
      <p:sp>
        <p:nvSpPr>
          <p:cNvPr id="3" name="exit-title">
            <a:extLst xmlns:a="http://schemas.openxmlformats.org/drawingml/2006/main">
              <a:ext uri="{FF2B5EF4-FFF2-40B4-BE49-F238E27FC236}">
                <a16:creationId xmlns:a16="http://schemas.microsoft.com/office/drawing/2014/main" id="{B9648575-0C1C-49B1-80A9-203C1A48377C}"/>
              </a:ext>
            </a:extLst>
          </p:cNvPr>
          <p:cNvSpPr>
            <a:spLocks xmlns:a="http://schemas.openxmlformats.org/drawingml/2006/main" noGrp="1"/>
          </p:cNvSpPr>
          <p:nvPr/>
        </p:nvSpPr>
        <p:spPr>
          <a:xfrm xmlns:a="http://schemas.openxmlformats.org/drawingml/2006/main">
            <a:off x="685800" y="1219200"/>
            <a:ext cx="714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3150" b="1">
                <a:solidFill>
                  <a:srgbClr val="FFFFFF"/>
                </a:solidFill>
              </a:defRPr>
            </a:pPr>
            <a:r>
              <a:rPr sz="3150" b="1">
                <a:solidFill>
                  <a:srgbClr val="FFFFFF"/>
                </a:solidFill>
              </a:rPr>
              <a:t>Before you pack up…</a:t>
            </a:r>
          </a:p>
        </p:txBody>
      </p:sp>
      <p:sp>
        <p:nvSpPr>
          <p:cNvPr id="4" name="exit-row-1">
            <a:extLst xmlns:a="http://schemas.openxmlformats.org/drawingml/2006/main">
              <a:ext uri="{FF2B5EF4-FFF2-40B4-BE49-F238E27FC236}">
                <a16:creationId xmlns:a16="http://schemas.microsoft.com/office/drawing/2014/main" id="{73566BDB-CE1D-41F3-B3F6-F90095BC5C11}"/>
              </a:ext>
            </a:extLst>
          </p:cNvPr>
          <p:cNvSpPr>
            <a:spLocks xmlns:a="http://schemas.openxmlformats.org/drawingml/2006/main" noGrp="1"/>
          </p:cNvSpPr>
          <p:nvPr/>
        </p:nvSpPr>
        <p:spPr>
          <a:xfrm xmlns:a="http://schemas.openxmlformats.org/drawingml/2006/main">
            <a:off x="685800" y="2190750"/>
            <a:ext cx="8096250" cy="66675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solidFill>
              <a:srgbClr val="FFFFFF"/>
            </a:solidFill>
            <a:prstDash val="solid"/>
          </a:ln>
        </p:spPr>
      </p:sp>
      <p:sp>
        <p:nvSpPr>
          <p:cNvPr id="5" name="exit-number-1">
            <a:extLst xmlns:a="http://schemas.openxmlformats.org/drawingml/2006/main">
              <a:ext uri="{FF2B5EF4-FFF2-40B4-BE49-F238E27FC236}">
                <a16:creationId xmlns:a16="http://schemas.microsoft.com/office/drawing/2014/main" id="{CE9E08B4-157F-4189-BED6-41DD45AC39EE}"/>
              </a:ext>
            </a:extLst>
          </p:cNvPr>
          <p:cNvSpPr>
            <a:spLocks xmlns:a="http://schemas.openxmlformats.org/drawingml/2006/main" noGrp="1"/>
          </p:cNvSpPr>
          <p:nvPr/>
        </p:nvSpPr>
        <p:spPr>
          <a:xfrm xmlns:a="http://schemas.openxmlformats.org/drawingml/2006/main">
            <a:off x="895350" y="23431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B84932"/>
                </a:solidFill>
              </a:defRPr>
            </a:pPr>
            <a:r>
              <a:rPr sz="1725" b="1">
                <a:solidFill>
                  <a:srgbClr val="B84932"/>
                </a:solidFill>
              </a:rPr>
              <a:t>1</a:t>
            </a:r>
          </a:p>
        </p:txBody>
      </p:sp>
      <p:sp>
        <p:nvSpPr>
          <p:cNvPr id="6" name="exit-prompt-1">
            <a:extLst xmlns:a="http://schemas.openxmlformats.org/drawingml/2006/main">
              <a:ext uri="{FF2B5EF4-FFF2-40B4-BE49-F238E27FC236}">
                <a16:creationId xmlns:a16="http://schemas.microsoft.com/office/drawing/2014/main" id="{C86EFE40-4DBC-47EC-A88B-9D189AED28F2}"/>
              </a:ext>
            </a:extLst>
          </p:cNvPr>
          <p:cNvSpPr>
            <a:spLocks xmlns:a="http://schemas.openxmlformats.org/drawingml/2006/main" noGrp="1"/>
          </p:cNvSpPr>
          <p:nvPr/>
        </p:nvSpPr>
        <p:spPr>
          <a:xfrm xmlns:a="http://schemas.openxmlformats.org/drawingml/2006/main">
            <a:off x="1466850" y="2333625"/>
            <a:ext cx="6991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13F30"/>
                </a:solidFill>
              </a:defRPr>
            </a:pPr>
            <a:r>
              <a:rPr sz="1725" b="1">
                <a:solidFill>
                  <a:srgbClr val="113F30"/>
                </a:solidFill>
              </a:rPr>
              <a:t>One idea I can now explain is…</a:t>
            </a:r>
          </a:p>
        </p:txBody>
      </p:sp>
      <p:sp>
        <p:nvSpPr>
          <p:cNvPr id="7" name="exit-row-2">
            <a:extLst xmlns:a="http://schemas.openxmlformats.org/drawingml/2006/main">
              <a:ext uri="{FF2B5EF4-FFF2-40B4-BE49-F238E27FC236}">
                <a16:creationId xmlns:a16="http://schemas.microsoft.com/office/drawing/2014/main" id="{84C1B8B8-17AE-49DE-ADB6-B7945458FE01}"/>
              </a:ext>
            </a:extLst>
          </p:cNvPr>
          <p:cNvSpPr>
            <a:spLocks xmlns:a="http://schemas.openxmlformats.org/drawingml/2006/main" noGrp="1"/>
          </p:cNvSpPr>
          <p:nvPr/>
        </p:nvSpPr>
        <p:spPr>
          <a:xfrm xmlns:a="http://schemas.openxmlformats.org/drawingml/2006/main">
            <a:off x="685800" y="3086100"/>
            <a:ext cx="8096250" cy="66675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solidFill>
              <a:srgbClr val="FFFFFF"/>
            </a:solidFill>
            <a:prstDash val="solid"/>
          </a:ln>
        </p:spPr>
      </p:sp>
      <p:sp>
        <p:nvSpPr>
          <p:cNvPr id="8" name="exit-number-2">
            <a:extLst xmlns:a="http://schemas.openxmlformats.org/drawingml/2006/main">
              <a:ext uri="{FF2B5EF4-FFF2-40B4-BE49-F238E27FC236}">
                <a16:creationId xmlns:a16="http://schemas.microsoft.com/office/drawing/2014/main" id="{AEDC09A4-A139-403B-8A4B-051B158407D4}"/>
              </a:ext>
            </a:extLst>
          </p:cNvPr>
          <p:cNvSpPr>
            <a:spLocks xmlns:a="http://schemas.openxmlformats.org/drawingml/2006/main" noGrp="1"/>
          </p:cNvSpPr>
          <p:nvPr/>
        </p:nvSpPr>
        <p:spPr>
          <a:xfrm xmlns:a="http://schemas.openxmlformats.org/drawingml/2006/main">
            <a:off x="895350" y="323850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B84932"/>
                </a:solidFill>
              </a:defRPr>
            </a:pPr>
            <a:r>
              <a:rPr sz="1725" b="1">
                <a:solidFill>
                  <a:srgbClr val="B84932"/>
                </a:solidFill>
              </a:rPr>
              <a:t>2</a:t>
            </a:r>
          </a:p>
        </p:txBody>
      </p:sp>
      <p:sp>
        <p:nvSpPr>
          <p:cNvPr id="9" name="exit-prompt-2">
            <a:extLst xmlns:a="http://schemas.openxmlformats.org/drawingml/2006/main">
              <a:ext uri="{FF2B5EF4-FFF2-40B4-BE49-F238E27FC236}">
                <a16:creationId xmlns:a16="http://schemas.microsoft.com/office/drawing/2014/main" id="{44E05603-4F91-49EA-B6F3-9B072649CC37}"/>
              </a:ext>
            </a:extLst>
          </p:cNvPr>
          <p:cNvSpPr>
            <a:spLocks xmlns:a="http://schemas.openxmlformats.org/drawingml/2006/main" noGrp="1"/>
          </p:cNvSpPr>
          <p:nvPr/>
        </p:nvSpPr>
        <p:spPr>
          <a:xfrm xmlns:a="http://schemas.openxmlformats.org/drawingml/2006/main">
            <a:off x="1466850" y="3228975"/>
            <a:ext cx="6991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13F30"/>
                </a:solidFill>
              </a:defRPr>
            </a:pPr>
            <a:r>
              <a:rPr sz="1725" b="1">
                <a:solidFill>
                  <a:srgbClr val="113F30"/>
                </a:solidFill>
              </a:rPr>
              <a:t>One design or production decision this changes is…</a:t>
            </a:r>
          </a:p>
        </p:txBody>
      </p:sp>
      <p:sp>
        <p:nvSpPr>
          <p:cNvPr id="10" name="exit-row-3">
            <a:extLst xmlns:a="http://schemas.openxmlformats.org/drawingml/2006/main">
              <a:ext uri="{FF2B5EF4-FFF2-40B4-BE49-F238E27FC236}">
                <a16:creationId xmlns:a16="http://schemas.microsoft.com/office/drawing/2014/main" id="{4A47BEA4-2F0E-4367-A386-5D7992E1E572}"/>
              </a:ext>
            </a:extLst>
          </p:cNvPr>
          <p:cNvSpPr>
            <a:spLocks xmlns:a="http://schemas.openxmlformats.org/drawingml/2006/main" noGrp="1"/>
          </p:cNvSpPr>
          <p:nvPr/>
        </p:nvSpPr>
        <p:spPr>
          <a:xfrm xmlns:a="http://schemas.openxmlformats.org/drawingml/2006/main">
            <a:off x="685800" y="3981450"/>
            <a:ext cx="8096250" cy="666750"/>
          </a:xfrm>
          <a:prstGeom xmlns:a="http://schemas.openxmlformats.org/drawingml/2006/main" prst="roundRect">
            <a:avLst>
              <a:gd name="adj" fmla="val 20000"/>
            </a:avLst>
          </a:prstGeom>
          <a:solidFill xmlns:a="http://schemas.openxmlformats.org/drawingml/2006/main">
            <a:srgbClr val="FFFFFF"/>
          </a:solidFill>
          <a:ln xmlns:a="http://schemas.openxmlformats.org/drawingml/2006/main" w="0">
            <a:solidFill>
              <a:srgbClr val="FFFFFF"/>
            </a:solidFill>
            <a:prstDash val="solid"/>
          </a:ln>
        </p:spPr>
      </p:sp>
      <p:sp>
        <p:nvSpPr>
          <p:cNvPr id="11" name="exit-number-3">
            <a:extLst xmlns:a="http://schemas.openxmlformats.org/drawingml/2006/main">
              <a:ext uri="{FF2B5EF4-FFF2-40B4-BE49-F238E27FC236}">
                <a16:creationId xmlns:a16="http://schemas.microsoft.com/office/drawing/2014/main" id="{DAEC30E3-0326-4C95-9967-089F4DC09300}"/>
              </a:ext>
            </a:extLst>
          </p:cNvPr>
          <p:cNvSpPr>
            <a:spLocks xmlns:a="http://schemas.openxmlformats.org/drawingml/2006/main" noGrp="1"/>
          </p:cNvSpPr>
          <p:nvPr/>
        </p:nvSpPr>
        <p:spPr>
          <a:xfrm xmlns:a="http://schemas.openxmlformats.org/drawingml/2006/main">
            <a:off x="895350" y="4133850"/>
            <a:ext cx="3619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B84932"/>
                </a:solidFill>
              </a:defRPr>
            </a:pPr>
            <a:r>
              <a:rPr sz="1725" b="1">
                <a:solidFill>
                  <a:srgbClr val="B84932"/>
                </a:solidFill>
              </a:rPr>
              <a:t>3</a:t>
            </a:r>
          </a:p>
        </p:txBody>
      </p:sp>
      <p:sp>
        <p:nvSpPr>
          <p:cNvPr id="12" name="exit-prompt-3">
            <a:extLst xmlns:a="http://schemas.openxmlformats.org/drawingml/2006/main">
              <a:ext uri="{FF2B5EF4-FFF2-40B4-BE49-F238E27FC236}">
                <a16:creationId xmlns:a16="http://schemas.microsoft.com/office/drawing/2014/main" id="{379E0A90-130F-4A26-8BF8-5E41691C21CC}"/>
              </a:ext>
            </a:extLst>
          </p:cNvPr>
          <p:cNvSpPr>
            <a:spLocks xmlns:a="http://schemas.openxmlformats.org/drawingml/2006/main" noGrp="1"/>
          </p:cNvSpPr>
          <p:nvPr/>
        </p:nvSpPr>
        <p:spPr>
          <a:xfrm xmlns:a="http://schemas.openxmlformats.org/drawingml/2006/main">
            <a:off x="1466850" y="4124325"/>
            <a:ext cx="6991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725" b="1">
                <a:solidFill>
                  <a:srgbClr val="113F30"/>
                </a:solidFill>
              </a:defRPr>
            </a:pPr>
            <a:r>
              <a:rPr sz="1725" b="1">
                <a:solidFill>
                  <a:srgbClr val="113F30"/>
                </a:solidFill>
              </a:rPr>
              <a:t>One question I still need answered is…</a:t>
            </a:r>
          </a:p>
        </p:txBody>
      </p:sp>
      <p:sp>
        <p:nvSpPr>
          <p:cNvPr id="13" name="exit-evidence-circle">
            <a:extLst xmlns:a="http://schemas.openxmlformats.org/drawingml/2006/main">
              <a:ext uri="{FF2B5EF4-FFF2-40B4-BE49-F238E27FC236}">
                <a16:creationId xmlns:a16="http://schemas.microsoft.com/office/drawing/2014/main" id="{64C28FAF-11D6-4B3D-BDC5-A2723936A217}"/>
              </a:ext>
            </a:extLst>
          </p:cNvPr>
          <p:cNvSpPr>
            <a:spLocks xmlns:a="http://schemas.openxmlformats.org/drawingml/2006/main" noGrp="1"/>
          </p:cNvSpPr>
          <p:nvPr/>
        </p:nvSpPr>
        <p:spPr>
          <a:xfrm xmlns:a="http://schemas.openxmlformats.org/drawingml/2006/main">
            <a:off x="9525000" y="2476500"/>
            <a:ext cx="1600200" cy="1600200"/>
          </a:xfrm>
          <a:prstGeom xmlns:a="http://schemas.openxmlformats.org/drawingml/2006/main" prst="roundRect">
            <a:avLst>
              <a:gd name="adj" fmla="val 50000"/>
            </a:avLst>
          </a:prstGeom>
          <a:solidFill xmlns:a="http://schemas.openxmlformats.org/drawingml/2006/main">
            <a:srgbClr val="E7AD31"/>
          </a:solidFill>
          <a:ln xmlns:a="http://schemas.openxmlformats.org/drawingml/2006/main" w="0">
            <a:solidFill>
              <a:srgbClr val="E7AD31"/>
            </a:solidFill>
            <a:prstDash val="solid"/>
          </a:ln>
        </p:spPr>
      </p:sp>
      <p:sp>
        <p:nvSpPr>
          <p:cNvPr id="14" name="exit-evidence-label">
            <a:extLst xmlns:a="http://schemas.openxmlformats.org/drawingml/2006/main">
              <a:ext uri="{FF2B5EF4-FFF2-40B4-BE49-F238E27FC236}">
                <a16:creationId xmlns:a16="http://schemas.microsoft.com/office/drawing/2014/main" id="{822F23DD-2529-4639-9306-06160DD4493D}"/>
              </a:ext>
            </a:extLst>
          </p:cNvPr>
          <p:cNvSpPr>
            <a:spLocks xmlns:a="http://schemas.openxmlformats.org/drawingml/2006/main" noGrp="1"/>
          </p:cNvSpPr>
          <p:nvPr/>
        </p:nvSpPr>
        <p:spPr>
          <a:xfrm xmlns:a="http://schemas.openxmlformats.org/drawingml/2006/main">
            <a:off x="9744075" y="2819400"/>
            <a:ext cx="116205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defRPr sz="1725" b="1">
                <a:solidFill>
                  <a:srgbClr val="113F30"/>
                </a:solidFill>
              </a:defRPr>
            </a:pPr>
            <a:r>
              <a:rPr sz="1725" b="1">
                <a:solidFill>
                  <a:srgbClr val="113F30"/>
                </a:solidFill>
              </a:rPr>
              <a:t>SAVE</a:t>
            </a:r>
          </a:p>
          <a:p xmlns:a="http://schemas.openxmlformats.org/drawingml/2006/main">
            <a:pPr algn="ctr">
              <a:defRPr sz="1725" b="1">
                <a:solidFill>
                  <a:srgbClr val="113F30"/>
                </a:solidFill>
              </a:defRPr>
            </a:pPr>
            <a:r>
              <a:rPr sz="1725" b="1">
                <a:solidFill>
                  <a:srgbClr val="113F30"/>
                </a:solidFill>
              </a:rPr>
              <a:t>YOUR</a:t>
            </a:r>
          </a:p>
          <a:p xmlns:a="http://schemas.openxmlformats.org/drawingml/2006/main">
            <a:pPr algn="ctr">
              <a:defRPr sz="1725" b="1">
                <a:solidFill>
                  <a:srgbClr val="113F30"/>
                </a:solidFill>
              </a:defRPr>
            </a:pPr>
            <a:r>
              <a:rPr sz="1725" b="1">
                <a:solidFill>
                  <a:srgbClr val="113F30"/>
                </a:solidFill>
              </a:rPr>
              <a:t>EVIDENCE</a:t>
            </a:r>
          </a:p>
        </p:txBody>
      </p:sp>
      <p:sp>
        <p:nvSpPr>
          <p:cNvPr id="15" name="exit-folio">
            <a:extLst xmlns:a="http://schemas.openxmlformats.org/drawingml/2006/main">
              <a:ext uri="{FF2B5EF4-FFF2-40B4-BE49-F238E27FC236}">
                <a16:creationId xmlns:a16="http://schemas.microsoft.com/office/drawing/2014/main" id="{28F1CDCF-8D8D-4B0E-AEB4-C2D155F6DD77}"/>
              </a:ext>
            </a:extLst>
          </p:cNvPr>
          <p:cNvSpPr>
            <a:spLocks xmlns:a="http://schemas.openxmlformats.org/drawingml/2006/main" noGrp="1"/>
          </p:cNvSpPr>
          <p:nvPr/>
        </p:nvSpPr>
        <p:spPr>
          <a:xfrm xmlns:a="http://schemas.openxmlformats.org/drawingml/2006/main">
            <a:off x="685800" y="5210175"/>
            <a:ext cx="80962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575" b="1">
                <a:solidFill>
                  <a:srgbClr val="FFFFFF"/>
                </a:solidFill>
              </a:defRPr>
            </a:pPr>
            <a:r>
              <a:rPr sz="1575" b="1">
                <a:solidFill>
                  <a:srgbClr val="FFFFFF"/>
                </a:solidFill>
              </a:rPr>
              <a:t>My folio cards 4–5: Concept options; Final proposal and annotations.</a:t>
            </a:r>
          </a:p>
        </p:txBody>
      </p:sp>
      <p:sp>
        <p:nvSpPr>
          <p:cNvPr id="16" name="exit-next">
            <a:extLst xmlns:a="http://schemas.openxmlformats.org/drawingml/2006/main">
              <a:ext uri="{FF2B5EF4-FFF2-40B4-BE49-F238E27FC236}">
                <a16:creationId xmlns:a16="http://schemas.microsoft.com/office/drawing/2014/main" id="{305B8866-64E0-42D3-B4B9-9AEA0ECF13EB}"/>
              </a:ext>
            </a:extLst>
          </p:cNvPr>
          <p:cNvSpPr>
            <a:spLocks xmlns:a="http://schemas.openxmlformats.org/drawingml/2006/main" noGrp="1"/>
          </p:cNvSpPr>
          <p:nvPr/>
        </p:nvSpPr>
        <p:spPr>
          <a:xfrm xmlns:a="http://schemas.openxmlformats.org/drawingml/2006/main">
            <a:off x="685800" y="5810250"/>
            <a:ext cx="104394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defRPr sz="1425" b="0">
                <a:solidFill>
                  <a:srgbClr val="FFE6D9"/>
                </a:solidFill>
              </a:defRPr>
            </a:pPr>
            <a:r>
              <a:rPr sz="1425" b="0">
                <a:solidFill>
                  <a:srgbClr val="FFE6D9"/>
                </a:solidFill>
              </a:rPr>
              <a:t>Next: turn the developed concept into a resource-aware proposal for teacher approval.</a:t>
            </a:r>
          </a:p>
        </p:txBody>
      </p:sp>
      <p:sp>
        <p:nvSpPr>
          <p:cNvPr id="17" name="exit-page">
            <a:extLst xmlns:a="http://schemas.openxmlformats.org/drawingml/2006/main">
              <a:ext uri="{FF2B5EF4-FFF2-40B4-BE49-F238E27FC236}">
                <a16:creationId xmlns:a16="http://schemas.microsoft.com/office/drawing/2014/main" id="{84E6372D-7D26-44B2-A023-2C0B5C45EC01}"/>
              </a:ext>
            </a:extLst>
          </p:cNvPr>
          <p:cNvSpPr>
            <a:spLocks xmlns:a="http://schemas.openxmlformats.org/drawingml/2006/main" noGrp="1"/>
          </p:cNvSpPr>
          <p:nvPr/>
        </p:nvSpPr>
        <p:spPr>
          <a:xfrm xmlns:a="http://schemas.openxmlformats.org/drawingml/2006/main">
            <a:off x="10744200" y="6419850"/>
            <a:ext cx="762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defRPr sz="900" b="1">
                <a:solidFill>
                  <a:srgbClr val="FFE6D9"/>
                </a:solidFill>
              </a:defRPr>
            </a:pPr>
            <a:r>
              <a:rPr sz="900" b="1">
                <a:solidFill>
                  <a:srgbClr val="FFE6D9"/>
                </a:solidFill>
              </a:rPr>
              <a:t>8 / 8</a:t>
            </a:r>
          </a:p>
        </p:txBody>
      </p:sp>
    </p:spTree>
    <p:extLst>
      <p:ext uri="{BB962C8B-B14F-4D97-AF65-F5344CB8AC3E}">
        <p14:creationId xmlns:p14="http://schemas.microsoft.com/office/powerpoint/2010/main" val="4116215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2026-08-31T09:42:43.0430000Z</dcterms:created>
  <dcterms:modified xsi:type="dcterms:W3CDTF">2026-08-31T09:42:43.0430000Z</dcterms:modified>
</coreProperties>
</file>