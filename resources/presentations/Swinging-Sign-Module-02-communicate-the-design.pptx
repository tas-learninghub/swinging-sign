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403ecaca0141b0" /><Relationship Type="http://schemas.openxmlformats.org/officeDocument/2006/relationships/extended-properties" Target="/docProps/app.xml" Id="R293c862320784a9f" /><Relationship Type="http://schemas.openxmlformats.org/officeDocument/2006/relationships/officeDocument" Target="/ppt/presentation.xml" Id="R508ac78012be4747" /></Relationships>
</file>

<file path=ppt/presentation.xml><?xml version="1.0" encoding="utf-8"?>
<p:presentation xmlns:p="http://schemas.openxmlformats.org/presentationml/2006/main">
  <p:sldMasterIdLst>
    <p:sldMasterId xmlns:r="http://schemas.openxmlformats.org/officeDocument/2006/relationships" id="2147483648" r:id="Rc63e0894e9a14ad1"/>
  </p:sldMasterIdLst>
  <p:notesMasterIdLst>
    <p:notesMasterId xmlns:r="http://schemas.openxmlformats.org/officeDocument/2006/relationships" r:id="R0d0aa107dc3f4f72"/>
  </p:notesMasterIdLst>
  <p:sldIdLst>
    <p:sldId xmlns:r="http://schemas.openxmlformats.org/officeDocument/2006/relationships" id="256" r:id="R4ceafa6db55c455b"/>
    <p:sldId xmlns:r="http://schemas.openxmlformats.org/officeDocument/2006/relationships" id="257" r:id="Ree97df48408f4d18"/>
    <p:sldId xmlns:r="http://schemas.openxmlformats.org/officeDocument/2006/relationships" id="258" r:id="R04963ddfae624fd2"/>
    <p:sldId xmlns:r="http://schemas.openxmlformats.org/officeDocument/2006/relationships" id="259" r:id="Rb9b50c810dd14b3f"/>
    <p:sldId xmlns:r="http://schemas.openxmlformats.org/officeDocument/2006/relationships" id="260" r:id="R2c16d155127d44c1"/>
    <p:sldId xmlns:r="http://schemas.openxmlformats.org/officeDocument/2006/relationships" id="261" r:id="R60691c7f22034fea"/>
    <p:sldId xmlns:r="http://schemas.openxmlformats.org/officeDocument/2006/relationships" id="262" r:id="R1e1294a0d1304296"/>
    <p:sldId xmlns:r="http://schemas.openxmlformats.org/officeDocument/2006/relationships" id="263" r:id="R5d6e40d0f3bf4b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610185be1643ef" /><Relationship Type="http://schemas.openxmlformats.org/officeDocument/2006/relationships/slideMaster" Target="/ppt/slideMasters/slideMaster1.xml" Id="Rc63e0894e9a14ad1" /><Relationship Type="http://schemas.openxmlformats.org/officeDocument/2006/relationships/notesMaster" Target="/ppt/notesMasters/notesMaster1.xml" Id="R0d0aa107dc3f4f72" /><Relationship Type="http://schemas.openxmlformats.org/officeDocument/2006/relationships/presProps" Target="/ppt/presProps.xml" Id="Rba2986618c5743fa" /><Relationship Type="http://schemas.openxmlformats.org/officeDocument/2006/relationships/tableStyles" Target="/ppt/tableStyles.xml" Id="Rbe81415df20b475c" /><Relationship Type="http://schemas.openxmlformats.org/officeDocument/2006/relationships/slide" Target="/ppt/slides/slide1.xml" Id="R4ceafa6db55c455b" /><Relationship Type="http://schemas.openxmlformats.org/officeDocument/2006/relationships/slide" Target="/ppt/slides/slide2.xml" Id="Ree97df48408f4d18" /><Relationship Type="http://schemas.openxmlformats.org/officeDocument/2006/relationships/slide" Target="/ppt/slides/slide3.xml" Id="R04963ddfae624fd2" /><Relationship Type="http://schemas.openxmlformats.org/officeDocument/2006/relationships/slide" Target="/ppt/slides/slide4.xml" Id="Rb9b50c810dd14b3f" /><Relationship Type="http://schemas.openxmlformats.org/officeDocument/2006/relationships/slide" Target="/ppt/slides/slide5.xml" Id="R2c16d155127d44c1" /><Relationship Type="http://schemas.openxmlformats.org/officeDocument/2006/relationships/slide" Target="/ppt/slides/slide6.xml" Id="R60691c7f22034fea" /><Relationship Type="http://schemas.openxmlformats.org/officeDocument/2006/relationships/slide" Target="/ppt/slides/slide7.xml" Id="R1e1294a0d1304296" /><Relationship Type="http://schemas.openxmlformats.org/officeDocument/2006/relationships/slide" Target="/ppt/slides/slide8.xml" Id="R5d6e40d0f3bf4b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ce22d5d57748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5888fee79e493e" /><Relationship Type="http://schemas.openxmlformats.org/officeDocument/2006/relationships/notesMaster" Target="/ppt/notesMasters/notesMaster1.xml" Id="Rad9cf62edfe64d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f8c3530cd4430e" /><Relationship Type="http://schemas.openxmlformats.org/officeDocument/2006/relationships/notesMaster" Target="/ppt/notesMasters/notesMaster1.xml" Id="R5a0d6fc5e5b242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3ab994d89248a5" /><Relationship Type="http://schemas.openxmlformats.org/officeDocument/2006/relationships/notesMaster" Target="/ppt/notesMasters/notesMaster1.xml" Id="R1f8fe8897d2c4d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358705ff664151" /><Relationship Type="http://schemas.openxmlformats.org/officeDocument/2006/relationships/notesMaster" Target="/ppt/notesMasters/notesMaster1.xml" Id="Rdf08fd68c8674d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a251248e6c4548" /><Relationship Type="http://schemas.openxmlformats.org/officeDocument/2006/relationships/notesMaster" Target="/ppt/notesMasters/notesMaster1.xml" Id="Rafd11cabc8fd4d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0f897a14004021" /><Relationship Type="http://schemas.openxmlformats.org/officeDocument/2006/relationships/notesMaster" Target="/ppt/notesMasters/notesMaster1.xml" Id="Rf74f8c0103ed49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f9c8db64324923" /><Relationship Type="http://schemas.openxmlformats.org/officeDocument/2006/relationships/notesMaster" Target="/ppt/notesMasters/notesMaster1.xml" Id="R1d500e21c0bd46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12d677fc344927" /><Relationship Type="http://schemas.openxmlformats.org/officeDocument/2006/relationships/notesMaster" Target="/ppt/notesMasters/notesMaster1.xml" Id="Rb1d1899edba24d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establish why Module 2 matters and connect it to the student's approved project pathway.</a:t>
            </a:r>
          </a:p>
          <a:p xmlns:a="http://schemas.openxmlformats.org/drawingml/2006/main">
            <a:r>
              <a:t>Say: Use image-format knowledge, Onshape modelling, annotations and peer evidence to make a design readable and reviewable.</a:t>
            </a:r>
          </a:p>
          <a:p xmlns:a="http://schemas.openxmlformats.org/drawingml/2006/main">
            <a:r>
              <a:t>Prompt: Which word in the outcome names the decision students will make or explain?</a:t>
            </a:r>
          </a:p>
          <a:p xmlns:a="http://schemas.openxmlformats.org/drawingml/2006/main">
            <a:r>
              <a:t>Transition: The next slide maps the three ideas that build that decision.</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outputs/swinging-sign-course-site/assets/teaching/module-02-overview.png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preview the three named sections as one connected learning progression.</a:t>
            </a:r>
          </a:p>
          <a:p xmlns:a="http://schemas.openxmlformats.org/drawingml/2006/main">
            <a:r>
              <a:t>Warm-up prompt: Retrieval: name one criterion that should influence how a sign communicates.</a:t>
            </a:r>
          </a:p>
          <a:p xmlns:a="http://schemas.openxmlformats.org/drawingml/2006/main">
            <a:r>
              <a:t>Invite a silent answer first, then take two contrasting responses. Do not resolve every detail yet.</a:t>
            </a:r>
          </a:p>
          <a:p xmlns:a="http://schemas.openxmlformats.org/drawingml/2006/main">
            <a:r>
              <a:t>Transition: Move from the route map into the first idea and ask students to listen for evidence they can reuse later.</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vector and bitmap as part of the module's connected decision-making sequence.</a:t>
            </a:r>
          </a:p>
          <a:p xmlns:a="http://schemas.openxmlformats.org/drawingml/2006/main">
            <a:r>
              <a:t>Key explanation: Vector graphics use editable points and paths, so clean shapes and lettering can scale without pixelation. Bitmap graphics use pixels and suit photographs or detailed textures, but enlargement can reveal the grid. Placing a photograph in a vector file does not convert it. Automatic tracing still needs purposeful review.</a:t>
            </a:r>
          </a:p>
          <a:p xmlns:a="http://schemas.openxmlformats.org/drawingml/2006/main">
            <a:r>
              <a:t>Prompt to the room: Choose a format for a product photograph and for clean editable lettering. Justify both choices.</a:t>
            </a:r>
          </a:p>
          <a:p xmlns:a="http://schemas.openxmlformats.org/drawingml/2006/main">
            <a:r>
              <a:t>Likely misconception: A vector file can still contain a bitmap object.</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File formats support design communication; they do not authorise a machine workflow or production setting.</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outputs/swinging-sign-course-site/assets/teaching/m02s01-vector-and-bitmap.png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onshape sketches and features as part of the module's connected decision-making sequence.</a:t>
            </a:r>
          </a:p>
          <a:p xmlns:a="http://schemas.openxmlformats.org/drawingml/2006/main">
            <a:r>
              <a:t>Key explanation: Choose a purposeful sketch plane, then create only the geometry needed to express the design intent. Dimensions control size or position; geometric constraints control relationships and predictable movement. Use sketch feedback, a readable feature history and meaningful versions to diagnose, revise and present the model.</a:t>
            </a:r>
          </a:p>
          <a:p xmlns:a="http://schemas.openxmlformats.org/drawingml/2006/main">
            <a:r>
              <a:t>Prompt to the room: Identify one remaining sketch movement, propose a purposeful control and explain how it supports the feature.</a:t>
            </a:r>
          </a:p>
          <a:p xmlns:a="http://schemas.openxmlformats.org/drawingml/2006/main">
            <a:r>
              <a:t>Likely misconception: A sketch can look correct while geometry is still under-constrained.</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Use only the teacher-approved Onshape document, dimensions, class folder, sharing and production hand-off process.</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M02S02 Onshape sketch-to-feature teaching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legibility, annotation and peer review as part of the module's connected decision-making sequence.</a:t>
            </a:r>
          </a:p>
          <a:p xmlns:a="http://schemas.openxmlformats.org/drawingml/2006/main">
            <a:r>
              <a:t>Key explanation: Legibility depends on hierarchy, contrast, spacing, letterform, negative space and viewing context. A useful annotation links feature → reason → intended effect instead of merely naming a feature. Peer review tests the criteria. The designer weighs feedback and returns to the brief before revising.</a:t>
            </a:r>
          </a:p>
          <a:p xmlns:a="http://schemas.openxmlformats.org/drawingml/2006/main">
            <a:r>
              <a:t>Prompt to the room: Write one feature–reason–effect annotation for a change that improves a crowded sign.</a:t>
            </a:r>
          </a:p>
          <a:p xmlns:a="http://schemas.openxmlformats.org/drawingml/2006/main">
            <a:r>
              <a:t>Likely misconception: Peer review does not mean accepting every preference.</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A clear drawing still requires teacher review before any practical or digital production step.</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outputs/swinging-sign-course-site/assets/teaching/m02s03-legibility-peer-review.png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retrieve all three taught ideas before students construct a longer response.</a:t>
            </a:r>
          </a:p>
          <a:p xmlns:a="http://schemas.openxmlformats.org/drawingml/2006/main">
            <a:r>
              <a:t>Routine: 45 seconds silent thinking, one partner explanation, then sample reasoning from the room.</a:t>
            </a:r>
          </a:p>
          <a:p xmlns:a="http://schemas.openxmlformats.org/drawingml/2006/main">
            <a:r>
              <a:t>Question 1: What is a vector graphic mainly built from?</a:t>
            </a:r>
          </a:p>
          <a:p xmlns:a="http://schemas.openxmlformats.org/drawingml/2006/main">
            <a:r>
              <a:t>Question 2: How does a dimension differ from a geometric constraint?</a:t>
            </a:r>
          </a:p>
          <a:p xmlns:a="http://schemas.openxmlformats.org/drawingml/2006/main">
            <a:r>
              <a:t>Question 3: What makes an annotation explain rather than label?</a:t>
            </a:r>
          </a:p>
          <a:p xmlns:a="http://schemas.openxmlformats.org/drawingml/2006/main">
            <a:r>
              <a:t>Question 4: How should a designer use conflicting peer feedback?</a:t>
            </a:r>
          </a:p>
          <a:p xmlns:a="http://schemas.openxmlformats.org/drawingml/2006/main">
            <a:r>
              <a:t>Listen for unsupported practical claims. Redirect students to evidence and Teacher to confirm where needed.</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scaffold a higher-order response that joins evidence from all three module sections.</a:t>
            </a:r>
          </a:p>
          <a:p xmlns:a="http://schemas.openxmlformats.org/drawingml/2006/main">
            <a:r>
              <a:t>Read the question aloud: Evaluate a crowded sign concept. Recommend a file-format choice, one Onshape sketch-control action and one legibility revision, then explain how peer evidence would test the change.</a:t>
            </a:r>
          </a:p>
          <a:p xmlns:a="http://schemas.openxmlformats.org/drawingml/2006/main">
            <a:r>
              <a:t>Scaffold: Read: identify the communication problem and intended audience. Select: choose relevant image-format, Onshape sketch and legibility ideas. Explain: link each revision to a criterion and user effect. Check: show how feedback will confirm or challenge the revision.</a:t>
            </a:r>
          </a:p>
          <a:p xmlns:a="http://schemas.openxmlformats.org/drawingml/2006/main">
            <a:r>
              <a:t>Model only the first connection, then release students to complete their own explanation.</a:t>
            </a:r>
          </a:p>
          <a:p xmlns:a="http://schemas.openxmlformats.org/drawingml/2006/main">
            <a:r>
              <a:t>Success check: accurate concepts, explicit evidence, a justified decision and honest treatment of unconfirmed local facts.</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convert the lesson into immediate, retrievable evidence and make the next step explicit.</a:t>
            </a:r>
          </a:p>
          <a:p xmlns:a="http://schemas.openxmlformats.org/drawingml/2006/main">
            <a:r>
              <a:t>Give students quiet time to complete all three prompts before sharing.</a:t>
            </a:r>
          </a:p>
          <a:p xmlns:a="http://schemas.openxmlformats.org/drawingml/2006/main">
            <a:r>
              <a:t>Evidence destination: My folio cards 4–5: Concept options; Final proposal and annotations.</a:t>
            </a:r>
          </a:p>
          <a:p xmlns:a="http://schemas.openxmlformats.org/drawingml/2006/main">
            <a:r>
              <a:t>Next step: Next: turn the developed concept into a resource-aware proposal for teacher approval.</a:t>
            </a:r>
          </a:p>
          <a:p xmlns:a="http://schemas.openxmlformats.org/drawingml/2006/main">
            <a:r>
              <a:t>Saving to the browser or exporting a folio is not formal submission. Follow the teacher's current submission direction.</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9d874f88ae42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a2c07502d940f6" /><Relationship Type="http://schemas.openxmlformats.org/officeDocument/2006/relationships/slideLayout" Target="/ppt/slideLayouts/slideLayout1.xml" Id="Ra46323b885fc45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6323b885fc45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7635d9f6b842ea" /><Relationship Type="http://schemas.openxmlformats.org/officeDocument/2006/relationships/image" Target="/ppt/media/image.png" Id="R6bcc88f21e714da5" /><Relationship Type="http://schemas.openxmlformats.org/officeDocument/2006/relationships/notesSlide" Target="/ppt/notesSlides/notesSlide1.xml" Id="R920d0f3be9b945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1c8f0c007e4bb4" /><Relationship Type="http://schemas.openxmlformats.org/officeDocument/2006/relationships/notesSlide" Target="/ppt/notesSlides/notesSlide2.xml" Id="R1a44f13d01e84e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030e9c26224d8d" /><Relationship Type="http://schemas.openxmlformats.org/officeDocument/2006/relationships/image" Target="/ppt/media/image2.png" Id="R2396a3d7c4b342e3" /><Relationship Type="http://schemas.openxmlformats.org/officeDocument/2006/relationships/notesSlide" Target="/ppt/notesSlides/notesSlide3.xml" Id="Rcf1783bb8aae40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3083c4929b43be" /><Relationship Type="http://schemas.openxmlformats.org/officeDocument/2006/relationships/image" Target="/ppt/media/image3.png" Id="R035db92f77424b5e" /><Relationship Type="http://schemas.openxmlformats.org/officeDocument/2006/relationships/notesSlide" Target="/ppt/notesSlides/notesSlide4.xml" Id="Rd410642075f641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6865fed00341c6" /><Relationship Type="http://schemas.openxmlformats.org/officeDocument/2006/relationships/image" Target="/ppt/media/image4.png" Id="Rc134e35470e34db1" /><Relationship Type="http://schemas.openxmlformats.org/officeDocument/2006/relationships/notesSlide" Target="/ppt/notesSlides/notesSlide5.xml" Id="R3c2e582937e44d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17b3a70f0345fd" /><Relationship Type="http://schemas.openxmlformats.org/officeDocument/2006/relationships/notesSlide" Target="/ppt/notesSlides/notesSlide6.xml" Id="R17c34d257d6f47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197dbec9804e9e" /><Relationship Type="http://schemas.openxmlformats.org/officeDocument/2006/relationships/notesSlide" Target="/ppt/notesSlides/notesSlide7.xml" Id="Rd6bdc0e4e64e4d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7469cbf2d74ad2" /><Relationship Type="http://schemas.openxmlformats.org/officeDocument/2006/relationships/notesSlide" Target="/ppt/notesSlides/notesSlide8.xml" Id="R08412f2bf4714220" /></Relationships>
</file>

<file path=ppt/slides/slide1.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bcc88f21e714da5"/>
          <a:srcRect xmlns:a="http://schemas.openxmlformats.org/drawingml/2006/main" l="23345" t="0" r="23345" b="0"/>
          <a:stretch xmlns:a="http://schemas.openxmlformats.org/drawingml/2006/main">
            <a:fillRect l="0" t="0" r="0" b="0"/>
          </a:stretch>
        </p:blipFill>
        <p:spPr>
          <a:xfrm xmlns:a="http://schemas.openxmlformats.org/drawingml/2006/main">
            <a:off x="5695950" y="0"/>
            <a:ext cx="6496050" cy="6858000"/>
          </a:xfrm>
          <a:prstGeom xmlns:a="http://schemas.openxmlformats.org/drawingml/2006/main" prst="roundRect">
            <a:avLst>
              <a:gd name="adj" fmla="val 2639"/>
            </a:avLst>
          </a:prstGeom>
        </p:spPr>
      </p:pic>
      <p:sp>
        <p:nvSpPr>
          <p:cNvPr id="2" name="title-accent">
            <a:extLst xmlns:a="http://schemas.openxmlformats.org/drawingml/2006/main">
              <a:ext uri="{FF2B5EF4-FFF2-40B4-BE49-F238E27FC236}">
                <a16:creationId xmlns:a16="http://schemas.microsoft.com/office/drawing/2014/main" id="{743EA79F-EF57-4A62-A26A-67BD88DCC65C}"/>
              </a:ext>
            </a:extLst>
          </p:cNvPr>
          <p:cNvSpPr>
            <a:spLocks xmlns:a="http://schemas.openxmlformats.org/drawingml/2006/main" noGrp="1"/>
          </p:cNvSpPr>
          <p:nvPr/>
        </p:nvSpPr>
        <p:spPr>
          <a:xfrm xmlns:a="http://schemas.openxmlformats.org/drawingml/2006/main">
            <a:off x="685800" y="72390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3" name="title-kicker">
            <a:extLst xmlns:a="http://schemas.openxmlformats.org/drawingml/2006/main">
              <a:ext uri="{FF2B5EF4-FFF2-40B4-BE49-F238E27FC236}">
                <a16:creationId xmlns:a16="http://schemas.microsoft.com/office/drawing/2014/main" id="{D8D03BEF-F06C-4EC1-AE3A-488FE130DDD2}"/>
              </a:ext>
            </a:extLst>
          </p:cNvPr>
          <p:cNvSpPr>
            <a:spLocks xmlns:a="http://schemas.openxmlformats.org/drawingml/2006/main" noGrp="1"/>
          </p:cNvSpPr>
          <p:nvPr/>
        </p:nvSpPr>
        <p:spPr>
          <a:xfrm xmlns:a="http://schemas.openxmlformats.org/drawingml/2006/main">
            <a:off x="685800" y="10287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5E7DE"/>
                </a:solidFill>
              </a:defRPr>
            </a:pPr>
            <a:r>
              <a:rPr sz="1200" b="1">
                <a:solidFill>
                  <a:srgbClr val="D5E7DE"/>
                </a:solidFill>
              </a:rPr>
              <a:t>MODULE 2  •  STAGE 4 TECHNOLOGY</a:t>
            </a:r>
          </a:p>
        </p:txBody>
      </p:sp>
      <p:sp>
        <p:nvSpPr>
          <p:cNvPr id="4" name="deck-title">
            <a:extLst xmlns:a="http://schemas.openxmlformats.org/drawingml/2006/main">
              <a:ext uri="{FF2B5EF4-FFF2-40B4-BE49-F238E27FC236}">
                <a16:creationId xmlns:a16="http://schemas.microsoft.com/office/drawing/2014/main" id="{6F3E9D2A-0A6C-4542-8D38-738AE7A8643D}"/>
              </a:ext>
            </a:extLst>
          </p:cNvPr>
          <p:cNvSpPr>
            <a:spLocks xmlns:a="http://schemas.openxmlformats.org/drawingml/2006/main" noGrp="1"/>
          </p:cNvSpPr>
          <p:nvPr/>
        </p:nvSpPr>
        <p:spPr>
          <a:xfrm xmlns:a="http://schemas.openxmlformats.org/drawingml/2006/main">
            <a:off x="685800" y="2000250"/>
            <a:ext cx="44767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defRPr>
            </a:pPr>
            <a:r>
              <a:rPr sz="3900" b="1">
                <a:solidFill>
                  <a:srgbClr val="FFFFFF"/>
                </a:solidFill>
              </a:rPr>
              <a:t>Communicate the design</a:t>
            </a:r>
          </a:p>
        </p:txBody>
      </p:sp>
      <p:sp>
        <p:nvSpPr>
          <p:cNvPr id="5" name="deck-outcome">
            <a:extLst xmlns:a="http://schemas.openxmlformats.org/drawingml/2006/main">
              <a:ext uri="{FF2B5EF4-FFF2-40B4-BE49-F238E27FC236}">
                <a16:creationId xmlns:a16="http://schemas.microsoft.com/office/drawing/2014/main" id="{B427338B-E07E-45B4-B682-E65B4BA535E2}"/>
              </a:ext>
            </a:extLst>
          </p:cNvPr>
          <p:cNvSpPr>
            <a:spLocks xmlns:a="http://schemas.openxmlformats.org/drawingml/2006/main" noGrp="1"/>
          </p:cNvSpPr>
          <p:nvPr/>
        </p:nvSpPr>
        <p:spPr>
          <a:xfrm xmlns:a="http://schemas.openxmlformats.org/drawingml/2006/main">
            <a:off x="685800" y="3943350"/>
            <a:ext cx="41719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E8F3ED"/>
                </a:solidFill>
              </a:defRPr>
            </a:pPr>
            <a:r>
              <a:rPr sz="1725" b="0">
                <a:solidFill>
                  <a:srgbClr val="E8F3ED"/>
                </a:solidFill>
              </a:rPr>
              <a:t>Use image-format knowledge, Onshape modelling, annotations and peer evidence to make a design readable and reviewable.</a:t>
            </a:r>
          </a:p>
        </p:txBody>
      </p:sp>
      <p:sp>
        <p:nvSpPr>
          <p:cNvPr id="6" name="title-course">
            <a:extLst xmlns:a="http://schemas.openxmlformats.org/drawingml/2006/main">
              <a:ext uri="{FF2B5EF4-FFF2-40B4-BE49-F238E27FC236}">
                <a16:creationId xmlns:a16="http://schemas.microsoft.com/office/drawing/2014/main" id="{37D9F44E-BF97-4D56-9143-704527DF2B38}"/>
              </a:ext>
            </a:extLst>
          </p:cNvPr>
          <p:cNvSpPr>
            <a:spLocks xmlns:a="http://schemas.openxmlformats.org/drawingml/2006/main" noGrp="1"/>
          </p:cNvSpPr>
          <p:nvPr/>
        </p:nvSpPr>
        <p:spPr>
          <a:xfrm xmlns:a="http://schemas.openxmlformats.org/drawingml/2006/main">
            <a:off x="685800" y="60960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FD6CA"/>
                </a:solidFill>
              </a:defRPr>
            </a:pPr>
            <a:r>
              <a:rPr sz="1050" b="1">
                <a:solidFill>
                  <a:srgbClr val="BFD6CA"/>
                </a:solidFill>
              </a:rPr>
              <a:t>Swinging Sign  •  Materials and production processes</a:t>
            </a:r>
          </a:p>
        </p:txBody>
      </p:sp>
    </p:spTree>
    <p:extLst>
      <p:ext uri="{BB962C8B-B14F-4D97-AF65-F5344CB8AC3E}">
        <p14:creationId xmlns:p14="http://schemas.microsoft.com/office/powerpoint/2010/main" val="1132544586"/>
      </p:ext>
    </p:extLst>
  </p:cSld>
</p:sld>
</file>

<file path=ppt/slides/slide2.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2">
            <a:extLst xmlns:a="http://schemas.openxmlformats.org/drawingml/2006/main">
              <a:ext uri="{FF2B5EF4-FFF2-40B4-BE49-F238E27FC236}">
                <a16:creationId xmlns:a16="http://schemas.microsoft.com/office/drawing/2014/main" id="{8929D024-64F5-413B-BDFB-D1A112C6E3F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2">
            <a:extLst xmlns:a="http://schemas.openxmlformats.org/drawingml/2006/main">
              <a:ext uri="{FF2B5EF4-FFF2-40B4-BE49-F238E27FC236}">
                <a16:creationId xmlns:a16="http://schemas.microsoft.com/office/drawing/2014/main" id="{CBECDE52-0EDB-49ED-9B69-6371F0F4D045}"/>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2  •  COMMUNICATE THE DESIGN</a:t>
            </a:r>
          </a:p>
        </p:txBody>
      </p:sp>
      <p:sp>
        <p:nvSpPr>
          <p:cNvPr id="3" name="slide-title-2">
            <a:extLst xmlns:a="http://schemas.openxmlformats.org/drawingml/2006/main">
              <a:ext uri="{FF2B5EF4-FFF2-40B4-BE49-F238E27FC236}">
                <a16:creationId xmlns:a16="http://schemas.microsoft.com/office/drawing/2014/main" id="{1D13086F-A9F3-4945-8DAE-3356F3BDE9E9}"/>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Three ideas make a concept clear enough to test and improve</a:t>
            </a:r>
          </a:p>
        </p:txBody>
      </p:sp>
      <p:sp>
        <p:nvSpPr>
          <p:cNvPr id="4" name="map-number-1">
            <a:extLst xmlns:a="http://schemas.openxmlformats.org/drawingml/2006/main">
              <a:ext uri="{FF2B5EF4-FFF2-40B4-BE49-F238E27FC236}">
                <a16:creationId xmlns:a16="http://schemas.microsoft.com/office/drawing/2014/main" id="{C09F5242-E983-400D-A48B-6118F0CB0925}"/>
              </a:ext>
            </a:extLst>
          </p:cNvPr>
          <p:cNvSpPr>
            <a:spLocks xmlns:a="http://schemas.openxmlformats.org/drawingml/2006/main" noGrp="1"/>
          </p:cNvSpPr>
          <p:nvPr/>
        </p:nvSpPr>
        <p:spPr>
          <a:xfrm xmlns:a="http://schemas.openxmlformats.org/drawingml/2006/main">
            <a:off x="819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1</a:t>
            </a:r>
          </a:p>
        </p:txBody>
      </p:sp>
      <p:sp>
        <p:nvSpPr>
          <p:cNvPr id="5" name="map-title-1">
            <a:extLst xmlns:a="http://schemas.openxmlformats.org/drawingml/2006/main">
              <a:ext uri="{FF2B5EF4-FFF2-40B4-BE49-F238E27FC236}">
                <a16:creationId xmlns:a16="http://schemas.microsoft.com/office/drawing/2014/main" id="{1755CBBE-B475-46D7-9B3D-8A7CE4EB5EA8}"/>
              </a:ext>
            </a:extLst>
          </p:cNvPr>
          <p:cNvSpPr>
            <a:spLocks xmlns:a="http://schemas.openxmlformats.org/drawingml/2006/main" noGrp="1"/>
          </p:cNvSpPr>
          <p:nvPr/>
        </p:nvSpPr>
        <p:spPr>
          <a:xfrm xmlns:a="http://schemas.openxmlformats.org/drawingml/2006/main">
            <a:off x="1543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Vector and bitmap</a:t>
            </a:r>
          </a:p>
        </p:txBody>
      </p:sp>
      <p:sp>
        <p:nvSpPr>
          <p:cNvPr id="6" name="map-action-1">
            <a:extLst xmlns:a="http://schemas.openxmlformats.org/drawingml/2006/main">
              <a:ext uri="{FF2B5EF4-FFF2-40B4-BE49-F238E27FC236}">
                <a16:creationId xmlns:a16="http://schemas.microsoft.com/office/drawing/2014/main" id="{8B3CCBDE-82A1-484D-9ACC-76D218858368}"/>
              </a:ext>
            </a:extLst>
          </p:cNvPr>
          <p:cNvSpPr>
            <a:spLocks xmlns:a="http://schemas.openxmlformats.org/drawingml/2006/main" noGrp="1"/>
          </p:cNvSpPr>
          <p:nvPr/>
        </p:nvSpPr>
        <p:spPr>
          <a:xfrm xmlns:a="http://schemas.openxmlformats.org/drawingml/2006/main">
            <a:off x="819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Choose a format for a product photograph and for clean editable lettering. Justify both choices.</a:t>
            </a:r>
          </a:p>
        </p:txBody>
      </p:sp>
      <p:sp>
        <p:nvSpPr>
          <p:cNvPr id="7" name="map-number-2">
            <a:extLst xmlns:a="http://schemas.openxmlformats.org/drawingml/2006/main">
              <a:ext uri="{FF2B5EF4-FFF2-40B4-BE49-F238E27FC236}">
                <a16:creationId xmlns:a16="http://schemas.microsoft.com/office/drawing/2014/main" id="{9CBC2E4A-3E96-49EF-BD4D-CA2CCF356AE8}"/>
              </a:ext>
            </a:extLst>
          </p:cNvPr>
          <p:cNvSpPr>
            <a:spLocks xmlns:a="http://schemas.openxmlformats.org/drawingml/2006/main" noGrp="1"/>
          </p:cNvSpPr>
          <p:nvPr/>
        </p:nvSpPr>
        <p:spPr>
          <a:xfrm xmlns:a="http://schemas.openxmlformats.org/drawingml/2006/main">
            <a:off x="4248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2</a:t>
            </a:r>
          </a:p>
        </p:txBody>
      </p:sp>
      <p:sp>
        <p:nvSpPr>
          <p:cNvPr id="8" name="map-title-2">
            <a:extLst xmlns:a="http://schemas.openxmlformats.org/drawingml/2006/main">
              <a:ext uri="{FF2B5EF4-FFF2-40B4-BE49-F238E27FC236}">
                <a16:creationId xmlns:a16="http://schemas.microsoft.com/office/drawing/2014/main" id="{A30BAD87-7C61-439B-9015-74B9E9508D79}"/>
              </a:ext>
            </a:extLst>
          </p:cNvPr>
          <p:cNvSpPr>
            <a:spLocks xmlns:a="http://schemas.openxmlformats.org/drawingml/2006/main" noGrp="1"/>
          </p:cNvSpPr>
          <p:nvPr/>
        </p:nvSpPr>
        <p:spPr>
          <a:xfrm xmlns:a="http://schemas.openxmlformats.org/drawingml/2006/main">
            <a:off x="4972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Onshape sketches and features</a:t>
            </a:r>
          </a:p>
        </p:txBody>
      </p:sp>
      <p:sp>
        <p:nvSpPr>
          <p:cNvPr id="9" name="map-action-2">
            <a:extLst xmlns:a="http://schemas.openxmlformats.org/drawingml/2006/main">
              <a:ext uri="{FF2B5EF4-FFF2-40B4-BE49-F238E27FC236}">
                <a16:creationId xmlns:a16="http://schemas.microsoft.com/office/drawing/2014/main" id="{578DA7F4-99BF-432C-9C73-17286EDAF6BD}"/>
              </a:ext>
            </a:extLst>
          </p:cNvPr>
          <p:cNvSpPr>
            <a:spLocks xmlns:a="http://schemas.openxmlformats.org/drawingml/2006/main" noGrp="1"/>
          </p:cNvSpPr>
          <p:nvPr/>
        </p:nvSpPr>
        <p:spPr>
          <a:xfrm xmlns:a="http://schemas.openxmlformats.org/drawingml/2006/main">
            <a:off x="4248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Identify one remaining sketch movement, propose a purposeful control and explain how it supports the feature.</a:t>
            </a:r>
          </a:p>
        </p:txBody>
      </p:sp>
      <p:sp>
        <p:nvSpPr>
          <p:cNvPr id="10" name="map-number-3">
            <a:extLst xmlns:a="http://schemas.openxmlformats.org/drawingml/2006/main">
              <a:ext uri="{FF2B5EF4-FFF2-40B4-BE49-F238E27FC236}">
                <a16:creationId xmlns:a16="http://schemas.microsoft.com/office/drawing/2014/main" id="{5A84EC9E-0222-46F3-9A54-139A06FBBAB7}"/>
              </a:ext>
            </a:extLst>
          </p:cNvPr>
          <p:cNvSpPr>
            <a:spLocks xmlns:a="http://schemas.openxmlformats.org/drawingml/2006/main" noGrp="1"/>
          </p:cNvSpPr>
          <p:nvPr/>
        </p:nvSpPr>
        <p:spPr>
          <a:xfrm xmlns:a="http://schemas.openxmlformats.org/drawingml/2006/main">
            <a:off x="7677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3</a:t>
            </a:r>
          </a:p>
        </p:txBody>
      </p:sp>
      <p:sp>
        <p:nvSpPr>
          <p:cNvPr id="11" name="map-title-3">
            <a:extLst xmlns:a="http://schemas.openxmlformats.org/drawingml/2006/main">
              <a:ext uri="{FF2B5EF4-FFF2-40B4-BE49-F238E27FC236}">
                <a16:creationId xmlns:a16="http://schemas.microsoft.com/office/drawing/2014/main" id="{CD8E13A0-AF07-469D-89EB-D9A7BEF3A9B9}"/>
              </a:ext>
            </a:extLst>
          </p:cNvPr>
          <p:cNvSpPr>
            <a:spLocks xmlns:a="http://schemas.openxmlformats.org/drawingml/2006/main" noGrp="1"/>
          </p:cNvSpPr>
          <p:nvPr/>
        </p:nvSpPr>
        <p:spPr>
          <a:xfrm xmlns:a="http://schemas.openxmlformats.org/drawingml/2006/main">
            <a:off x="8401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Legibility, annotation and peer review</a:t>
            </a:r>
          </a:p>
        </p:txBody>
      </p:sp>
      <p:sp>
        <p:nvSpPr>
          <p:cNvPr id="12" name="map-action-3">
            <a:extLst xmlns:a="http://schemas.openxmlformats.org/drawingml/2006/main">
              <a:ext uri="{FF2B5EF4-FFF2-40B4-BE49-F238E27FC236}">
                <a16:creationId xmlns:a16="http://schemas.microsoft.com/office/drawing/2014/main" id="{C9DA2CC7-6202-4822-9ADA-817E6441F40D}"/>
              </a:ext>
            </a:extLst>
          </p:cNvPr>
          <p:cNvSpPr>
            <a:spLocks xmlns:a="http://schemas.openxmlformats.org/drawingml/2006/main" noGrp="1"/>
          </p:cNvSpPr>
          <p:nvPr/>
        </p:nvSpPr>
        <p:spPr>
          <a:xfrm xmlns:a="http://schemas.openxmlformats.org/drawingml/2006/main">
            <a:off x="7677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Write one feature–reason–effect annotation for a change that improves a crowded sign.</a:t>
            </a:r>
          </a:p>
        </p:txBody>
      </p:sp>
      <p:sp>
        <p:nvSpPr>
          <p:cNvPr id="13" name="warm-up-band">
            <a:extLst xmlns:a="http://schemas.openxmlformats.org/drawingml/2006/main">
              <a:ext uri="{FF2B5EF4-FFF2-40B4-BE49-F238E27FC236}">
                <a16:creationId xmlns:a16="http://schemas.microsoft.com/office/drawing/2014/main" id="{BD072C48-CD30-4691-9F3E-47A987A27EEB}"/>
              </a:ext>
            </a:extLst>
          </p:cNvPr>
          <p:cNvSpPr>
            <a:spLocks xmlns:a="http://schemas.openxmlformats.org/drawingml/2006/main" noGrp="1"/>
          </p:cNvSpPr>
          <p:nvPr/>
        </p:nvSpPr>
        <p:spPr>
          <a:xfrm xmlns:a="http://schemas.openxmlformats.org/drawingml/2006/main">
            <a:off x="685800" y="4629150"/>
            <a:ext cx="10820400" cy="1257300"/>
          </a:xfrm>
          <a:prstGeom xmlns:a="http://schemas.openxmlformats.org/drawingml/2006/main" prst="roundRect">
            <a:avLst>
              <a:gd name="adj" fmla="val 15152"/>
            </a:avLst>
          </a:prstGeom>
          <a:solidFill xmlns:a="http://schemas.openxmlformats.org/drawingml/2006/main">
            <a:srgbClr val="E8F3ED"/>
          </a:solidFill>
          <a:ln xmlns:a="http://schemas.openxmlformats.org/drawingml/2006/main" w="9525">
            <a:solidFill>
              <a:srgbClr val="C8D8CF"/>
            </a:solidFill>
            <a:prstDash val="solid"/>
          </a:ln>
        </p:spPr>
      </p:sp>
      <p:sp>
        <p:nvSpPr>
          <p:cNvPr id="14" name="warm-up-label">
            <a:extLst xmlns:a="http://schemas.openxmlformats.org/drawingml/2006/main">
              <a:ext uri="{FF2B5EF4-FFF2-40B4-BE49-F238E27FC236}">
                <a16:creationId xmlns:a16="http://schemas.microsoft.com/office/drawing/2014/main" id="{3B29109A-0F70-4379-B987-DADA5A9EC6D3}"/>
              </a:ext>
            </a:extLst>
          </p:cNvPr>
          <p:cNvSpPr>
            <a:spLocks xmlns:a="http://schemas.openxmlformats.org/drawingml/2006/main" noGrp="1"/>
          </p:cNvSpPr>
          <p:nvPr/>
        </p:nvSpPr>
        <p:spPr>
          <a:xfrm xmlns:a="http://schemas.openxmlformats.org/drawingml/2006/main">
            <a:off x="990600" y="4876800"/>
            <a:ext cx="259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84932"/>
                </a:solidFill>
              </a:defRPr>
            </a:pPr>
            <a:r>
              <a:rPr sz="1125" b="1">
                <a:solidFill>
                  <a:srgbClr val="B84932"/>
                </a:solidFill>
              </a:rPr>
              <a:t>RETRIEVAL WARM-UP</a:t>
            </a:r>
          </a:p>
        </p:txBody>
      </p:sp>
      <p:sp>
        <p:nvSpPr>
          <p:cNvPr id="15" name="warm-up-question">
            <a:extLst xmlns:a="http://schemas.openxmlformats.org/drawingml/2006/main">
              <a:ext uri="{FF2B5EF4-FFF2-40B4-BE49-F238E27FC236}">
                <a16:creationId xmlns:a16="http://schemas.microsoft.com/office/drawing/2014/main" id="{4E8DE459-451A-43DF-88D0-7E2ACAB7378C}"/>
              </a:ext>
            </a:extLst>
          </p:cNvPr>
          <p:cNvSpPr>
            <a:spLocks xmlns:a="http://schemas.openxmlformats.org/drawingml/2006/main" noGrp="1"/>
          </p:cNvSpPr>
          <p:nvPr/>
        </p:nvSpPr>
        <p:spPr>
          <a:xfrm xmlns:a="http://schemas.openxmlformats.org/drawingml/2006/main">
            <a:off x="990600" y="5219700"/>
            <a:ext cx="979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13F30"/>
                </a:solidFill>
              </a:defRPr>
            </a:pPr>
            <a:r>
              <a:rPr sz="1950" b="1">
                <a:solidFill>
                  <a:srgbClr val="113F30"/>
                </a:solidFill>
              </a:rPr>
              <a:t>Retrieval: name one criterion that should influence how a sign communicates.</a:t>
            </a:r>
          </a:p>
        </p:txBody>
      </p:sp>
      <p:sp>
        <p:nvSpPr>
          <p:cNvPr id="16" name="footer-rule-2">
            <a:extLst xmlns:a="http://schemas.openxmlformats.org/drawingml/2006/main">
              <a:ext uri="{FF2B5EF4-FFF2-40B4-BE49-F238E27FC236}">
                <a16:creationId xmlns:a16="http://schemas.microsoft.com/office/drawing/2014/main" id="{184484B7-E1D8-4194-84A4-A358CD2C24A3}"/>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2">
            <a:extLst xmlns:a="http://schemas.openxmlformats.org/drawingml/2006/main">
              <a:ext uri="{FF2B5EF4-FFF2-40B4-BE49-F238E27FC236}">
                <a16:creationId xmlns:a16="http://schemas.microsoft.com/office/drawing/2014/main" id="{28F37333-F5CF-44A9-8F79-B673B7FF24DE}"/>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2</a:t>
            </a:r>
          </a:p>
        </p:txBody>
      </p:sp>
      <p:sp>
        <p:nvSpPr>
          <p:cNvPr id="18" name="footer-page-2">
            <a:extLst xmlns:a="http://schemas.openxmlformats.org/drawingml/2006/main">
              <a:ext uri="{FF2B5EF4-FFF2-40B4-BE49-F238E27FC236}">
                <a16:creationId xmlns:a16="http://schemas.microsoft.com/office/drawing/2014/main" id="{D12BD1F7-7EF8-4838-AA3A-B8BEAE438DDA}"/>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2 / 8</a:t>
            </a:r>
          </a:p>
        </p:txBody>
      </p:sp>
    </p:spTree>
    <p:extLst>
      <p:ext uri="{BB962C8B-B14F-4D97-AF65-F5344CB8AC3E}">
        <p14:creationId xmlns:p14="http://schemas.microsoft.com/office/powerpoint/2010/main" val="316580978"/>
      </p:ext>
    </p:extLst>
  </p:cSld>
</p:sld>
</file>

<file path=ppt/slides/slide3.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3">
            <a:extLst xmlns:a="http://schemas.openxmlformats.org/drawingml/2006/main">
              <a:ext uri="{FF2B5EF4-FFF2-40B4-BE49-F238E27FC236}">
                <a16:creationId xmlns:a16="http://schemas.microsoft.com/office/drawing/2014/main" id="{F03EB3CF-7750-46AD-9116-3477F08F8B1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3">
            <a:extLst xmlns:a="http://schemas.openxmlformats.org/drawingml/2006/main">
              <a:ext uri="{FF2B5EF4-FFF2-40B4-BE49-F238E27FC236}">
                <a16:creationId xmlns:a16="http://schemas.microsoft.com/office/drawing/2014/main" id="{360FA410-1392-455B-ACEC-9C66926663A3}"/>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2  •  COMMUNICATE THE DESIGN</a:t>
            </a:r>
          </a:p>
        </p:txBody>
      </p:sp>
      <p:sp>
        <p:nvSpPr>
          <p:cNvPr id="3" name="slide-title-3">
            <a:extLst xmlns:a="http://schemas.openxmlformats.org/drawingml/2006/main">
              <a:ext uri="{FF2B5EF4-FFF2-40B4-BE49-F238E27FC236}">
                <a16:creationId xmlns:a16="http://schemas.microsoft.com/office/drawing/2014/main" id="{EBB9B7EB-722F-4E5C-9FBE-EBE134863331}"/>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Choose image type by what the design must do</a:t>
            </a:r>
          </a:p>
        </p:txBody>
      </p:sp>
      <p:sp>
        <p:nvSpPr>
          <p:cNvPr id="4" name="section-name-3">
            <a:extLst xmlns:a="http://schemas.openxmlformats.org/drawingml/2006/main">
              <a:ext uri="{FF2B5EF4-FFF2-40B4-BE49-F238E27FC236}">
                <a16:creationId xmlns:a16="http://schemas.microsoft.com/office/drawing/2014/main" id="{8923014B-04B7-475A-BF22-FCC298FAB1EB}"/>
              </a:ext>
            </a:extLst>
          </p:cNvPr>
          <p:cNvSpPr>
            <a:spLocks xmlns:a="http://schemas.openxmlformats.org/drawingml/2006/main" noGrp="1"/>
          </p:cNvSpPr>
          <p:nvPr/>
        </p:nvSpPr>
        <p:spPr>
          <a:xfrm xmlns:a="http://schemas.openxmlformats.org/drawingml/2006/main">
            <a:off x="685800" y="1285875"/>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VECTOR AND BITMAP</a:t>
            </a:r>
          </a:p>
        </p:txBody>
      </p:sp>
      <p:sp>
        <p:nvSpPr>
          <p:cNvPr id="5" name="s3-mark-1">
            <a:extLst xmlns:a="http://schemas.openxmlformats.org/drawingml/2006/main">
              <a:ext uri="{FF2B5EF4-FFF2-40B4-BE49-F238E27FC236}">
                <a16:creationId xmlns:a16="http://schemas.microsoft.com/office/drawing/2014/main" id="{C479C465-3308-4051-8470-1C77B1049299}"/>
              </a:ext>
            </a:extLst>
          </p:cNvPr>
          <p:cNvSpPr>
            <a:spLocks xmlns:a="http://schemas.openxmlformats.org/drawingml/2006/main" noGrp="1"/>
          </p:cNvSpPr>
          <p:nvPr/>
        </p:nvSpPr>
        <p:spPr>
          <a:xfrm xmlns:a="http://schemas.openxmlformats.org/drawingml/2006/main">
            <a:off x="685800" y="17907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6" name="s3-text-1">
            <a:extLst xmlns:a="http://schemas.openxmlformats.org/drawingml/2006/main">
              <a:ext uri="{FF2B5EF4-FFF2-40B4-BE49-F238E27FC236}">
                <a16:creationId xmlns:a16="http://schemas.microsoft.com/office/drawing/2014/main" id="{661AC175-5F20-4A4B-9162-93DC2DD35902}"/>
              </a:ext>
            </a:extLst>
          </p:cNvPr>
          <p:cNvSpPr>
            <a:spLocks xmlns:a="http://schemas.openxmlformats.org/drawingml/2006/main" noGrp="1"/>
          </p:cNvSpPr>
          <p:nvPr/>
        </p:nvSpPr>
        <p:spPr>
          <a:xfrm xmlns:a="http://schemas.openxmlformats.org/drawingml/2006/main">
            <a:off x="952500" y="17145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Vector graphics use editable points and paths, so clean shapes and lettering can scale without pixelation.</a:t>
            </a:r>
          </a:p>
        </p:txBody>
      </p:sp>
      <p:sp>
        <p:nvSpPr>
          <p:cNvPr id="7" name="s3-mark-2">
            <a:extLst xmlns:a="http://schemas.openxmlformats.org/drawingml/2006/main">
              <a:ext uri="{FF2B5EF4-FFF2-40B4-BE49-F238E27FC236}">
                <a16:creationId xmlns:a16="http://schemas.microsoft.com/office/drawing/2014/main" id="{8C0042F8-D42A-4CDA-8C29-B5EE2CFB17E9}"/>
              </a:ext>
            </a:extLst>
          </p:cNvPr>
          <p:cNvSpPr>
            <a:spLocks xmlns:a="http://schemas.openxmlformats.org/drawingml/2006/main" noGrp="1"/>
          </p:cNvSpPr>
          <p:nvPr/>
        </p:nvSpPr>
        <p:spPr>
          <a:xfrm xmlns:a="http://schemas.openxmlformats.org/drawingml/2006/main">
            <a:off x="685800" y="27813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8" name="s3-text-2">
            <a:extLst xmlns:a="http://schemas.openxmlformats.org/drawingml/2006/main">
              <a:ext uri="{FF2B5EF4-FFF2-40B4-BE49-F238E27FC236}">
                <a16:creationId xmlns:a16="http://schemas.microsoft.com/office/drawing/2014/main" id="{00E754D5-0033-49C2-9A31-9A2F76E8F7A6}"/>
              </a:ext>
            </a:extLst>
          </p:cNvPr>
          <p:cNvSpPr>
            <a:spLocks xmlns:a="http://schemas.openxmlformats.org/drawingml/2006/main" noGrp="1"/>
          </p:cNvSpPr>
          <p:nvPr/>
        </p:nvSpPr>
        <p:spPr>
          <a:xfrm xmlns:a="http://schemas.openxmlformats.org/drawingml/2006/main">
            <a:off x="952500" y="27051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Bitmap graphics use pixels and suit photographs or detailed textures, but enlargement can reveal the grid.</a:t>
            </a:r>
          </a:p>
        </p:txBody>
      </p:sp>
      <p:sp>
        <p:nvSpPr>
          <p:cNvPr id="9" name="s3-mark-3">
            <a:extLst xmlns:a="http://schemas.openxmlformats.org/drawingml/2006/main">
              <a:ext uri="{FF2B5EF4-FFF2-40B4-BE49-F238E27FC236}">
                <a16:creationId xmlns:a16="http://schemas.microsoft.com/office/drawing/2014/main" id="{186FE8D4-3E9D-4768-98E7-B789F79EC438}"/>
              </a:ext>
            </a:extLst>
          </p:cNvPr>
          <p:cNvSpPr>
            <a:spLocks xmlns:a="http://schemas.openxmlformats.org/drawingml/2006/main" noGrp="1"/>
          </p:cNvSpPr>
          <p:nvPr/>
        </p:nvSpPr>
        <p:spPr>
          <a:xfrm xmlns:a="http://schemas.openxmlformats.org/drawingml/2006/main">
            <a:off x="685800" y="37719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0" name="s3-text-3">
            <a:extLst xmlns:a="http://schemas.openxmlformats.org/drawingml/2006/main">
              <a:ext uri="{FF2B5EF4-FFF2-40B4-BE49-F238E27FC236}">
                <a16:creationId xmlns:a16="http://schemas.microsoft.com/office/drawing/2014/main" id="{AC0BBAEC-31BF-4DAA-97C9-AC76D8F3632A}"/>
              </a:ext>
            </a:extLst>
          </p:cNvPr>
          <p:cNvSpPr>
            <a:spLocks xmlns:a="http://schemas.openxmlformats.org/drawingml/2006/main" noGrp="1"/>
          </p:cNvSpPr>
          <p:nvPr/>
        </p:nvSpPr>
        <p:spPr>
          <a:xfrm xmlns:a="http://schemas.openxmlformats.org/drawingml/2006/main">
            <a:off x="952500" y="36957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Placing a photograph in a vector file does not convert it. Automatic tracing still needs purposeful review.</a:t>
            </a:r>
          </a:p>
        </p:txBody>
      </p:sp>
      <p:sp>
        <p:nvSpPr>
          <p:cNvPr id="11" name="prompt-band-3">
            <a:extLst xmlns:a="http://schemas.openxmlformats.org/drawingml/2006/main">
              <a:ext uri="{FF2B5EF4-FFF2-40B4-BE49-F238E27FC236}">
                <a16:creationId xmlns:a16="http://schemas.microsoft.com/office/drawing/2014/main" id="{AFC75643-E3FC-4719-AF81-1B5D6FE6D8FF}"/>
              </a:ext>
            </a:extLst>
          </p:cNvPr>
          <p:cNvSpPr>
            <a:spLocks xmlns:a="http://schemas.openxmlformats.org/drawingml/2006/main" noGrp="1"/>
          </p:cNvSpPr>
          <p:nvPr/>
        </p:nvSpPr>
        <p:spPr>
          <a:xfrm xmlns:a="http://schemas.openxmlformats.org/drawingml/2006/main">
            <a:off x="685800" y="4724400"/>
            <a:ext cx="4171950" cy="1257300"/>
          </a:xfrm>
          <a:prstGeom xmlns:a="http://schemas.openxmlformats.org/drawingml/2006/main" prst="roundRect">
            <a:avLst>
              <a:gd name="adj" fmla="val 12121"/>
            </a:avLst>
          </a:prstGeom>
          <a:solidFill xmlns:a="http://schemas.openxmlformats.org/drawingml/2006/main">
            <a:srgbClr val="E8F3ED"/>
          </a:solidFill>
          <a:ln xmlns:a="http://schemas.openxmlformats.org/drawingml/2006/main" w="9525">
            <a:solidFill>
              <a:srgbClr val="C8D8CF"/>
            </a:solidFill>
            <a:prstDash val="solid"/>
          </a:ln>
        </p:spPr>
      </p:sp>
      <p:sp>
        <p:nvSpPr>
          <p:cNvPr id="12" name="prompt-label-3">
            <a:extLst xmlns:a="http://schemas.openxmlformats.org/drawingml/2006/main">
              <a:ext uri="{FF2B5EF4-FFF2-40B4-BE49-F238E27FC236}">
                <a16:creationId xmlns:a16="http://schemas.microsoft.com/office/drawing/2014/main" id="{27002D8C-445D-4D52-AA75-C649374ADB89}"/>
              </a:ext>
            </a:extLst>
          </p:cNvPr>
          <p:cNvSpPr>
            <a:spLocks xmlns:a="http://schemas.openxmlformats.org/drawingml/2006/main" noGrp="1"/>
          </p:cNvSpPr>
          <p:nvPr/>
        </p:nvSpPr>
        <p:spPr>
          <a:xfrm xmlns:a="http://schemas.openxmlformats.org/drawingml/2006/main">
            <a:off x="895350" y="48577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APPLY IT</a:t>
            </a:r>
          </a:p>
        </p:txBody>
      </p:sp>
      <p:sp>
        <p:nvSpPr>
          <p:cNvPr id="13" name="prompt-3">
            <a:extLst xmlns:a="http://schemas.openxmlformats.org/drawingml/2006/main">
              <a:ext uri="{FF2B5EF4-FFF2-40B4-BE49-F238E27FC236}">
                <a16:creationId xmlns:a16="http://schemas.microsoft.com/office/drawing/2014/main" id="{8357620D-FB79-4EDC-B5F1-E8332EB046BF}"/>
              </a:ext>
            </a:extLst>
          </p:cNvPr>
          <p:cNvSpPr>
            <a:spLocks xmlns:a="http://schemas.openxmlformats.org/drawingml/2006/main" noGrp="1"/>
          </p:cNvSpPr>
          <p:nvPr/>
        </p:nvSpPr>
        <p:spPr>
          <a:xfrm xmlns:a="http://schemas.openxmlformats.org/drawingml/2006/main">
            <a:off x="895350" y="5143500"/>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3F30"/>
                </a:solidFill>
              </a:defRPr>
            </a:pPr>
            <a:r>
              <a:rPr sz="1350" b="1">
                <a:solidFill>
                  <a:srgbClr val="113F30"/>
                </a:solidFill>
              </a:rPr>
              <a:t>Choose a format for a product photograph and for clean editable lettering. Justify both choices.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396a3d7c4b342e3"/>
          <a:srcRect xmlns:a="http://schemas.openxmlformats.org/drawingml/2006/main" l="226" t="0" r="226" b="0"/>
          <a:stretch xmlns:a="http://schemas.openxmlformats.org/drawingml/2006/main">
            <a:fillRect l="0" t="0" r="0" b="0"/>
          </a:stretch>
        </p:blipFill>
        <p:spPr>
          <a:xfrm xmlns:a="http://schemas.openxmlformats.org/drawingml/2006/main">
            <a:off x="5219700" y="1447800"/>
            <a:ext cx="6286500" cy="4210050"/>
          </a:xfrm>
          <a:prstGeom xmlns:a="http://schemas.openxmlformats.org/drawingml/2006/main" prst="roundRect">
            <a:avLst>
              <a:gd name="adj" fmla="val 4072"/>
            </a:avLst>
          </a:prstGeom>
        </p:spPr>
      </p:pic>
      <p:sp>
        <p:nvSpPr>
          <p:cNvPr id="15" name="caption-3">
            <a:extLst xmlns:a="http://schemas.openxmlformats.org/drawingml/2006/main">
              <a:ext uri="{FF2B5EF4-FFF2-40B4-BE49-F238E27FC236}">
                <a16:creationId xmlns:a16="http://schemas.microsoft.com/office/drawing/2014/main" id="{DC42EA37-EA94-48A0-B431-CE35965F19AB}"/>
              </a:ext>
            </a:extLst>
          </p:cNvPr>
          <p:cNvSpPr>
            <a:spLocks xmlns:a="http://schemas.openxmlformats.org/drawingml/2006/main" noGrp="1"/>
          </p:cNvSpPr>
          <p:nvPr/>
        </p:nvSpPr>
        <p:spPr>
          <a:xfrm xmlns:a="http://schemas.openxmlformats.org/drawingml/2006/main">
            <a:off x="5334000" y="5772150"/>
            <a:ext cx="605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4645D"/>
                </a:solidFill>
              </a:defRPr>
            </a:pPr>
            <a:r>
              <a:rPr sz="1275" b="0">
                <a:solidFill>
                  <a:srgbClr val="54645D"/>
                </a:solidFill>
              </a:rPr>
              <a:t>Paths describe clean forms; pixels describe sampled detail.</a:t>
            </a:r>
          </a:p>
        </p:txBody>
      </p:sp>
      <p:sp>
        <p:nvSpPr>
          <p:cNvPr id="16" name="footer-rule-3">
            <a:extLst xmlns:a="http://schemas.openxmlformats.org/drawingml/2006/main">
              <a:ext uri="{FF2B5EF4-FFF2-40B4-BE49-F238E27FC236}">
                <a16:creationId xmlns:a16="http://schemas.microsoft.com/office/drawing/2014/main" id="{D557B49C-957D-4199-AD3F-B3FBBC920A36}"/>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3">
            <a:extLst xmlns:a="http://schemas.openxmlformats.org/drawingml/2006/main">
              <a:ext uri="{FF2B5EF4-FFF2-40B4-BE49-F238E27FC236}">
                <a16:creationId xmlns:a16="http://schemas.microsoft.com/office/drawing/2014/main" id="{214E551C-CB36-46A9-9C06-B3134FE9A85B}"/>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2</a:t>
            </a:r>
          </a:p>
        </p:txBody>
      </p:sp>
      <p:sp>
        <p:nvSpPr>
          <p:cNvPr id="18" name="footer-page-3">
            <a:extLst xmlns:a="http://schemas.openxmlformats.org/drawingml/2006/main">
              <a:ext uri="{FF2B5EF4-FFF2-40B4-BE49-F238E27FC236}">
                <a16:creationId xmlns:a16="http://schemas.microsoft.com/office/drawing/2014/main" id="{D36A7E31-2BA6-4FEB-AE49-41A1914E41EB}"/>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3 / 8</a:t>
            </a:r>
          </a:p>
        </p:txBody>
      </p:sp>
    </p:spTree>
    <p:extLst>
      <p:ext uri="{BB962C8B-B14F-4D97-AF65-F5344CB8AC3E}">
        <p14:creationId xmlns:p14="http://schemas.microsoft.com/office/powerpoint/2010/main" val="1422837770"/>
      </p:ext>
    </p:extLst>
  </p:cSld>
</p:sld>
</file>

<file path=ppt/slides/slide4.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4">
            <a:extLst xmlns:a="http://schemas.openxmlformats.org/drawingml/2006/main">
              <a:ext uri="{FF2B5EF4-FFF2-40B4-BE49-F238E27FC236}">
                <a16:creationId xmlns:a16="http://schemas.microsoft.com/office/drawing/2014/main" id="{5C07E35E-A4FB-4694-8918-6FF113AB1EC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4">
            <a:extLst xmlns:a="http://schemas.openxmlformats.org/drawingml/2006/main">
              <a:ext uri="{FF2B5EF4-FFF2-40B4-BE49-F238E27FC236}">
                <a16:creationId xmlns:a16="http://schemas.microsoft.com/office/drawing/2014/main" id="{69D6CE7F-A0F3-477D-B169-5DCCADC6BC2B}"/>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2  •  COMMUNICATE THE DESIGN</a:t>
            </a:r>
          </a:p>
        </p:txBody>
      </p:sp>
      <p:sp>
        <p:nvSpPr>
          <p:cNvPr id="3" name="slide-title-4">
            <a:extLst xmlns:a="http://schemas.openxmlformats.org/drawingml/2006/main">
              <a:ext uri="{FF2B5EF4-FFF2-40B4-BE49-F238E27FC236}">
                <a16:creationId xmlns:a16="http://schemas.microsoft.com/office/drawing/2014/main" id="{9AE9AF4C-DF85-486F-BC53-A30AD170D5DB}"/>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Control the sketch before building the feature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35db92f77424b5e"/>
          <a:srcRect xmlns:a="http://schemas.openxmlformats.org/drawingml/2006/main" l="2338" t="0" r="2338" b="0"/>
          <a:stretch xmlns:a="http://schemas.openxmlformats.org/drawingml/2006/main">
            <a:fillRect l="0" t="0" r="0" b="0"/>
          </a:stretch>
        </p:blipFill>
        <p:spPr>
          <a:xfrm xmlns:a="http://schemas.openxmlformats.org/drawingml/2006/main">
            <a:off x="685800" y="1447800"/>
            <a:ext cx="6019800" cy="4210050"/>
          </a:xfrm>
          <a:prstGeom xmlns:a="http://schemas.openxmlformats.org/drawingml/2006/main" prst="roundRect">
            <a:avLst>
              <a:gd name="adj" fmla="val 4072"/>
            </a:avLst>
          </a:prstGeom>
        </p:spPr>
      </p:pic>
      <p:sp>
        <p:nvSpPr>
          <p:cNvPr id="5" name="caption-4">
            <a:extLst xmlns:a="http://schemas.openxmlformats.org/drawingml/2006/main">
              <a:ext uri="{FF2B5EF4-FFF2-40B4-BE49-F238E27FC236}">
                <a16:creationId xmlns:a16="http://schemas.microsoft.com/office/drawing/2014/main" id="{14C21593-9940-4851-B754-F020482AE4DA}"/>
              </a:ext>
            </a:extLst>
          </p:cNvPr>
          <p:cNvSpPr>
            <a:spLocks xmlns:a="http://schemas.openxmlformats.org/drawingml/2006/main" noGrp="1"/>
          </p:cNvSpPr>
          <p:nvPr/>
        </p:nvSpPr>
        <p:spPr>
          <a:xfrm xmlns:a="http://schemas.openxmlformats.org/drawingml/2006/main">
            <a:off x="800100" y="5772150"/>
            <a:ext cx="579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4645D"/>
                </a:solidFill>
              </a:defRPr>
            </a:pPr>
            <a:r>
              <a:rPr sz="1275" b="0">
                <a:solidFill>
                  <a:srgbClr val="54645D"/>
                </a:solidFill>
              </a:rPr>
              <a:t>Sketch plane → controlled geometry → feature → review.</a:t>
            </a:r>
          </a:p>
        </p:txBody>
      </p:sp>
      <p:sp>
        <p:nvSpPr>
          <p:cNvPr id="6" name="section-name-4">
            <a:extLst xmlns:a="http://schemas.openxmlformats.org/drawingml/2006/main">
              <a:ext uri="{FF2B5EF4-FFF2-40B4-BE49-F238E27FC236}">
                <a16:creationId xmlns:a16="http://schemas.microsoft.com/office/drawing/2014/main" id="{9717B2D8-BE59-41B8-AE49-135A5D79C7B5}"/>
              </a:ext>
            </a:extLst>
          </p:cNvPr>
          <p:cNvSpPr>
            <a:spLocks xmlns:a="http://schemas.openxmlformats.org/drawingml/2006/main" noGrp="1"/>
          </p:cNvSpPr>
          <p:nvPr/>
        </p:nvSpPr>
        <p:spPr>
          <a:xfrm xmlns:a="http://schemas.openxmlformats.org/drawingml/2006/main">
            <a:off x="7105650" y="1438275"/>
            <a:ext cx="440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ONSHAPE SKETCHES AND FEATURES</a:t>
            </a:r>
          </a:p>
        </p:txBody>
      </p:sp>
      <p:sp>
        <p:nvSpPr>
          <p:cNvPr id="7" name="s4-mark-1">
            <a:extLst xmlns:a="http://schemas.openxmlformats.org/drawingml/2006/main">
              <a:ext uri="{FF2B5EF4-FFF2-40B4-BE49-F238E27FC236}">
                <a16:creationId xmlns:a16="http://schemas.microsoft.com/office/drawing/2014/main" id="{33936555-60E7-42E6-BE90-277F6BBD13E9}"/>
              </a:ext>
            </a:extLst>
          </p:cNvPr>
          <p:cNvSpPr>
            <a:spLocks xmlns:a="http://schemas.openxmlformats.org/drawingml/2006/main" noGrp="1"/>
          </p:cNvSpPr>
          <p:nvPr/>
        </p:nvSpPr>
        <p:spPr>
          <a:xfrm xmlns:a="http://schemas.openxmlformats.org/drawingml/2006/main">
            <a:off x="7105650" y="188595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8" name="s4-text-1">
            <a:extLst xmlns:a="http://schemas.openxmlformats.org/drawingml/2006/main">
              <a:ext uri="{FF2B5EF4-FFF2-40B4-BE49-F238E27FC236}">
                <a16:creationId xmlns:a16="http://schemas.microsoft.com/office/drawing/2014/main" id="{0F65E196-79D1-4B92-8490-D4AC8E4D33EB}"/>
              </a:ext>
            </a:extLst>
          </p:cNvPr>
          <p:cNvSpPr>
            <a:spLocks xmlns:a="http://schemas.openxmlformats.org/drawingml/2006/main" noGrp="1"/>
          </p:cNvSpPr>
          <p:nvPr/>
        </p:nvSpPr>
        <p:spPr>
          <a:xfrm xmlns:a="http://schemas.openxmlformats.org/drawingml/2006/main">
            <a:off x="7372350" y="1809750"/>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Choose a purposeful sketch plane, then create only the geometry needed to express the design intent.</a:t>
            </a:r>
          </a:p>
        </p:txBody>
      </p:sp>
      <p:sp>
        <p:nvSpPr>
          <p:cNvPr id="9" name="s4-mark-2">
            <a:extLst xmlns:a="http://schemas.openxmlformats.org/drawingml/2006/main">
              <a:ext uri="{FF2B5EF4-FFF2-40B4-BE49-F238E27FC236}">
                <a16:creationId xmlns:a16="http://schemas.microsoft.com/office/drawing/2014/main" id="{F0457221-2207-4F3D-B504-4342724B3EAC}"/>
              </a:ext>
            </a:extLst>
          </p:cNvPr>
          <p:cNvSpPr>
            <a:spLocks xmlns:a="http://schemas.openxmlformats.org/drawingml/2006/main" noGrp="1"/>
          </p:cNvSpPr>
          <p:nvPr/>
        </p:nvSpPr>
        <p:spPr>
          <a:xfrm xmlns:a="http://schemas.openxmlformats.org/drawingml/2006/main">
            <a:off x="7105650" y="28670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0" name="s4-text-2">
            <a:extLst xmlns:a="http://schemas.openxmlformats.org/drawingml/2006/main">
              <a:ext uri="{FF2B5EF4-FFF2-40B4-BE49-F238E27FC236}">
                <a16:creationId xmlns:a16="http://schemas.microsoft.com/office/drawing/2014/main" id="{C9295FA6-F03E-437F-A8A6-26952192A16A}"/>
              </a:ext>
            </a:extLst>
          </p:cNvPr>
          <p:cNvSpPr>
            <a:spLocks xmlns:a="http://schemas.openxmlformats.org/drawingml/2006/main" noGrp="1"/>
          </p:cNvSpPr>
          <p:nvPr/>
        </p:nvSpPr>
        <p:spPr>
          <a:xfrm xmlns:a="http://schemas.openxmlformats.org/drawingml/2006/main">
            <a:off x="7372350" y="2790825"/>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Dimensions control size or position; geometric constraints control relationships and predictable movement.</a:t>
            </a:r>
          </a:p>
        </p:txBody>
      </p:sp>
      <p:sp>
        <p:nvSpPr>
          <p:cNvPr id="11" name="s4-mark-3">
            <a:extLst xmlns:a="http://schemas.openxmlformats.org/drawingml/2006/main">
              <a:ext uri="{FF2B5EF4-FFF2-40B4-BE49-F238E27FC236}">
                <a16:creationId xmlns:a16="http://schemas.microsoft.com/office/drawing/2014/main" id="{432EA7AB-C943-4933-BB18-2B095B90135A}"/>
              </a:ext>
            </a:extLst>
          </p:cNvPr>
          <p:cNvSpPr>
            <a:spLocks xmlns:a="http://schemas.openxmlformats.org/drawingml/2006/main" noGrp="1"/>
          </p:cNvSpPr>
          <p:nvPr/>
        </p:nvSpPr>
        <p:spPr>
          <a:xfrm xmlns:a="http://schemas.openxmlformats.org/drawingml/2006/main">
            <a:off x="7105650" y="38481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2" name="s4-text-3">
            <a:extLst xmlns:a="http://schemas.openxmlformats.org/drawingml/2006/main">
              <a:ext uri="{FF2B5EF4-FFF2-40B4-BE49-F238E27FC236}">
                <a16:creationId xmlns:a16="http://schemas.microsoft.com/office/drawing/2014/main" id="{4629979F-D886-4549-82D3-1622C2B5B144}"/>
              </a:ext>
            </a:extLst>
          </p:cNvPr>
          <p:cNvSpPr>
            <a:spLocks xmlns:a="http://schemas.openxmlformats.org/drawingml/2006/main" noGrp="1"/>
          </p:cNvSpPr>
          <p:nvPr/>
        </p:nvSpPr>
        <p:spPr>
          <a:xfrm xmlns:a="http://schemas.openxmlformats.org/drawingml/2006/main">
            <a:off x="7372350" y="3771900"/>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Use sketch feedback, a readable feature history and meaningful versions to diagnose, revise and present the model.</a:t>
            </a:r>
          </a:p>
        </p:txBody>
      </p:sp>
      <p:sp>
        <p:nvSpPr>
          <p:cNvPr id="13" name="prompt-band-4">
            <a:extLst xmlns:a="http://schemas.openxmlformats.org/drawingml/2006/main">
              <a:ext uri="{FF2B5EF4-FFF2-40B4-BE49-F238E27FC236}">
                <a16:creationId xmlns:a16="http://schemas.microsoft.com/office/drawing/2014/main" id="{5FFBA27F-99CA-43CC-BE8E-91D235CD5105}"/>
              </a:ext>
            </a:extLst>
          </p:cNvPr>
          <p:cNvSpPr>
            <a:spLocks xmlns:a="http://schemas.openxmlformats.org/drawingml/2006/main" noGrp="1"/>
          </p:cNvSpPr>
          <p:nvPr/>
        </p:nvSpPr>
        <p:spPr>
          <a:xfrm xmlns:a="http://schemas.openxmlformats.org/drawingml/2006/main">
            <a:off x="7105650" y="4762500"/>
            <a:ext cx="4400550" cy="1219200"/>
          </a:xfrm>
          <a:prstGeom xmlns:a="http://schemas.openxmlformats.org/drawingml/2006/main" prst="roundRect">
            <a:avLst>
              <a:gd name="adj" fmla="val 12500"/>
            </a:avLst>
          </a:prstGeom>
          <a:solidFill xmlns:a="http://schemas.openxmlformats.org/drawingml/2006/main">
            <a:srgbClr val="E8F3ED"/>
          </a:solidFill>
          <a:ln xmlns:a="http://schemas.openxmlformats.org/drawingml/2006/main" w="9525">
            <a:solidFill>
              <a:srgbClr val="C8D8CF"/>
            </a:solidFill>
            <a:prstDash val="solid"/>
          </a:ln>
        </p:spPr>
      </p:sp>
      <p:sp>
        <p:nvSpPr>
          <p:cNvPr id="14" name="prompt-label-4">
            <a:extLst xmlns:a="http://schemas.openxmlformats.org/drawingml/2006/main">
              <a:ext uri="{FF2B5EF4-FFF2-40B4-BE49-F238E27FC236}">
                <a16:creationId xmlns:a16="http://schemas.microsoft.com/office/drawing/2014/main" id="{A4FA047C-259F-4595-B102-3E7E1C481BFE}"/>
              </a:ext>
            </a:extLst>
          </p:cNvPr>
          <p:cNvSpPr>
            <a:spLocks xmlns:a="http://schemas.openxmlformats.org/drawingml/2006/main" noGrp="1"/>
          </p:cNvSpPr>
          <p:nvPr/>
        </p:nvSpPr>
        <p:spPr>
          <a:xfrm xmlns:a="http://schemas.openxmlformats.org/drawingml/2006/main">
            <a:off x="7315200" y="49053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APPLY IT</a:t>
            </a:r>
          </a:p>
        </p:txBody>
      </p:sp>
      <p:sp>
        <p:nvSpPr>
          <p:cNvPr id="15" name="prompt-4">
            <a:extLst xmlns:a="http://schemas.openxmlformats.org/drawingml/2006/main">
              <a:ext uri="{FF2B5EF4-FFF2-40B4-BE49-F238E27FC236}">
                <a16:creationId xmlns:a16="http://schemas.microsoft.com/office/drawing/2014/main" id="{57439367-E676-4F74-AA70-1C70DB2BFC65}"/>
              </a:ext>
            </a:extLst>
          </p:cNvPr>
          <p:cNvSpPr>
            <a:spLocks xmlns:a="http://schemas.openxmlformats.org/drawingml/2006/main" noGrp="1"/>
          </p:cNvSpPr>
          <p:nvPr/>
        </p:nvSpPr>
        <p:spPr>
          <a:xfrm xmlns:a="http://schemas.openxmlformats.org/drawingml/2006/main">
            <a:off x="7315200" y="5191125"/>
            <a:ext cx="3943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3F30"/>
                </a:solidFill>
              </a:defRPr>
            </a:pPr>
            <a:r>
              <a:rPr sz="1350" b="1">
                <a:solidFill>
                  <a:srgbClr val="113F30"/>
                </a:solidFill>
              </a:rPr>
              <a:t>Identify one remaining sketch movement, propose a purposeful control and explain how it supports the feature.</a:t>
            </a:r>
          </a:p>
        </p:txBody>
      </p:sp>
      <p:sp>
        <p:nvSpPr>
          <p:cNvPr id="16" name="footer-rule-4">
            <a:extLst xmlns:a="http://schemas.openxmlformats.org/drawingml/2006/main">
              <a:ext uri="{FF2B5EF4-FFF2-40B4-BE49-F238E27FC236}">
                <a16:creationId xmlns:a16="http://schemas.microsoft.com/office/drawing/2014/main" id="{EE3E92EE-0E60-43EE-8361-42D44E4EF65C}"/>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4">
            <a:extLst xmlns:a="http://schemas.openxmlformats.org/drawingml/2006/main">
              <a:ext uri="{FF2B5EF4-FFF2-40B4-BE49-F238E27FC236}">
                <a16:creationId xmlns:a16="http://schemas.microsoft.com/office/drawing/2014/main" id="{BECBB36C-89B6-43FD-8BFE-83D729C621DD}"/>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2</a:t>
            </a:r>
          </a:p>
        </p:txBody>
      </p:sp>
      <p:sp>
        <p:nvSpPr>
          <p:cNvPr id="18" name="footer-page-4">
            <a:extLst xmlns:a="http://schemas.openxmlformats.org/drawingml/2006/main">
              <a:ext uri="{FF2B5EF4-FFF2-40B4-BE49-F238E27FC236}">
                <a16:creationId xmlns:a16="http://schemas.microsoft.com/office/drawing/2014/main" id="{4F090A9D-1C0A-46F7-B445-2A4ECE2EC677}"/>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4 / 8</a:t>
            </a:r>
          </a:p>
        </p:txBody>
      </p:sp>
    </p:spTree>
    <p:extLst>
      <p:ext uri="{BB962C8B-B14F-4D97-AF65-F5344CB8AC3E}">
        <p14:creationId xmlns:p14="http://schemas.microsoft.com/office/powerpoint/2010/main" val="500839607"/>
      </p:ext>
    </p:extLst>
  </p:cSld>
</p:sld>
</file>

<file path=ppt/slides/slide5.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134e35470e34db1"/>
          <a:srcRect xmlns:a="http://schemas.openxmlformats.org/drawingml/2006/main" l="12870" t="0" r="12870" b="0"/>
          <a:stretch xmlns:a="http://schemas.openxmlformats.org/drawingml/2006/main">
            <a:fillRect l="0" t="0" r="0" b="0"/>
          </a:stretch>
        </p:blipFill>
        <p:spPr>
          <a:xfrm xmlns:a="http://schemas.openxmlformats.org/drawingml/2006/main">
            <a:off x="4552950" y="0"/>
            <a:ext cx="7639050" cy="6858000"/>
          </a:xfrm>
          <a:prstGeom xmlns:a="http://schemas.openxmlformats.org/drawingml/2006/main" prst="roundRect">
            <a:avLst>
              <a:gd name="adj" fmla="val 2500"/>
            </a:avLst>
          </a:prstGeom>
        </p:spPr>
      </p:pic>
      <p:sp>
        <p:nvSpPr>
          <p:cNvPr id="2" name="image-layout-panel-5">
            <a:extLst xmlns:a="http://schemas.openxmlformats.org/drawingml/2006/main">
              <a:ext uri="{FF2B5EF4-FFF2-40B4-BE49-F238E27FC236}">
                <a16:creationId xmlns:a16="http://schemas.microsoft.com/office/drawing/2014/main" id="{9614BE79-F666-45E2-95A9-8EDEB3B6EE56}"/>
              </a:ext>
            </a:extLst>
          </p:cNvPr>
          <p:cNvSpPr>
            <a:spLocks xmlns:a="http://schemas.openxmlformats.org/drawingml/2006/main" noGrp="1"/>
          </p:cNvSpPr>
          <p:nvPr/>
        </p:nvSpPr>
        <p:spPr>
          <a:xfrm xmlns:a="http://schemas.openxmlformats.org/drawingml/2006/main">
            <a:off x="0" y="0"/>
            <a:ext cx="5010150" cy="6858000"/>
          </a:xfrm>
          <a:prstGeom xmlns:a="http://schemas.openxmlformats.org/drawingml/2006/main" prst="rect">
            <a:avLst/>
          </a:prstGeom>
          <a:solidFill xmlns:a="http://schemas.openxmlformats.org/drawingml/2006/main">
            <a:srgbClr val="113F30"/>
          </a:solidFill>
          <a:ln xmlns:a="http://schemas.openxmlformats.org/drawingml/2006/main" w="0">
            <a:solidFill>
              <a:srgbClr val="113F30"/>
            </a:solidFill>
            <a:prstDash val="solid"/>
          </a:ln>
        </p:spPr>
      </p:sp>
      <p:sp>
        <p:nvSpPr>
          <p:cNvPr id="3" name="image-layout-accent-5">
            <a:extLst xmlns:a="http://schemas.openxmlformats.org/drawingml/2006/main">
              <a:ext uri="{FF2B5EF4-FFF2-40B4-BE49-F238E27FC236}">
                <a16:creationId xmlns:a16="http://schemas.microsoft.com/office/drawing/2014/main" id="{714C65B3-53AA-4C38-9FA7-AC720D7D7A2C}"/>
              </a:ext>
            </a:extLst>
          </p:cNvPr>
          <p:cNvSpPr>
            <a:spLocks xmlns:a="http://schemas.openxmlformats.org/drawingml/2006/main" noGrp="1"/>
          </p:cNvSpPr>
          <p:nvPr/>
        </p:nvSpPr>
        <p:spPr>
          <a:xfrm xmlns:a="http://schemas.openxmlformats.org/drawingml/2006/main">
            <a:off x="685800" y="51435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4" name="module-kicker-5">
            <a:extLst xmlns:a="http://schemas.openxmlformats.org/drawingml/2006/main">
              <a:ext uri="{FF2B5EF4-FFF2-40B4-BE49-F238E27FC236}">
                <a16:creationId xmlns:a16="http://schemas.microsoft.com/office/drawing/2014/main" id="{B1B0CD4B-3554-4052-AA70-4058D07342FB}"/>
              </a:ext>
            </a:extLst>
          </p:cNvPr>
          <p:cNvSpPr>
            <a:spLocks xmlns:a="http://schemas.openxmlformats.org/drawingml/2006/main" noGrp="1"/>
          </p:cNvSpPr>
          <p:nvPr/>
        </p:nvSpPr>
        <p:spPr>
          <a:xfrm xmlns:a="http://schemas.openxmlformats.org/drawingml/2006/main">
            <a:off x="685800" y="79057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FE1D8"/>
                </a:solidFill>
              </a:defRPr>
            </a:pPr>
            <a:r>
              <a:rPr sz="1050" b="1">
                <a:solidFill>
                  <a:srgbClr val="CFE1D8"/>
                </a:solidFill>
              </a:rPr>
              <a:t>MODULE 2  •  LEGIBILITY, ANNOTATION AND PEER REVIEW</a:t>
            </a:r>
          </a:p>
        </p:txBody>
      </p:sp>
      <p:sp>
        <p:nvSpPr>
          <p:cNvPr id="5" name="stacked-slide-title-5">
            <a:extLst xmlns:a="http://schemas.openxmlformats.org/drawingml/2006/main">
              <a:ext uri="{FF2B5EF4-FFF2-40B4-BE49-F238E27FC236}">
                <a16:creationId xmlns:a16="http://schemas.microsoft.com/office/drawing/2014/main" id="{0E792811-09AB-4F5F-BEE3-C7C0B9D4FB0C}"/>
              </a:ext>
            </a:extLst>
          </p:cNvPr>
          <p:cNvSpPr>
            <a:spLocks xmlns:a="http://schemas.openxmlformats.org/drawingml/2006/main" noGrp="1"/>
          </p:cNvSpPr>
          <p:nvPr/>
        </p:nvSpPr>
        <p:spPr>
          <a:xfrm xmlns:a="http://schemas.openxmlformats.org/drawingml/2006/main">
            <a:off x="685800" y="1219200"/>
            <a:ext cx="38290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If others cannot read it, it is not communicated</a:t>
            </a:r>
          </a:p>
        </p:txBody>
      </p:sp>
      <p:sp>
        <p:nvSpPr>
          <p:cNvPr id="6" name="s5-mark-1">
            <a:extLst xmlns:a="http://schemas.openxmlformats.org/drawingml/2006/main">
              <a:ext uri="{FF2B5EF4-FFF2-40B4-BE49-F238E27FC236}">
                <a16:creationId xmlns:a16="http://schemas.microsoft.com/office/drawing/2014/main" id="{EB1D80ED-C518-42EB-A421-2BA5E71A6FE0}"/>
              </a:ext>
            </a:extLst>
          </p:cNvPr>
          <p:cNvSpPr>
            <a:spLocks xmlns:a="http://schemas.openxmlformats.org/drawingml/2006/main" noGrp="1"/>
          </p:cNvSpPr>
          <p:nvPr/>
        </p:nvSpPr>
        <p:spPr>
          <a:xfrm xmlns:a="http://schemas.openxmlformats.org/drawingml/2006/main">
            <a:off x="685800" y="27146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7" name="s5-text-1">
            <a:extLst xmlns:a="http://schemas.openxmlformats.org/drawingml/2006/main">
              <a:ext uri="{FF2B5EF4-FFF2-40B4-BE49-F238E27FC236}">
                <a16:creationId xmlns:a16="http://schemas.microsoft.com/office/drawing/2014/main" id="{45E0220C-CE64-4CB4-A436-27F1E066AD8F}"/>
              </a:ext>
            </a:extLst>
          </p:cNvPr>
          <p:cNvSpPr>
            <a:spLocks xmlns:a="http://schemas.openxmlformats.org/drawingml/2006/main" noGrp="1"/>
          </p:cNvSpPr>
          <p:nvPr/>
        </p:nvSpPr>
        <p:spPr>
          <a:xfrm xmlns:a="http://schemas.openxmlformats.org/drawingml/2006/main">
            <a:off x="952500" y="26384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Legibility depends on hierarchy, contrast, spacing, letterform, negative space and viewing context.</a:t>
            </a:r>
          </a:p>
        </p:txBody>
      </p:sp>
      <p:sp>
        <p:nvSpPr>
          <p:cNvPr id="8" name="s5-mark-2">
            <a:extLst xmlns:a="http://schemas.openxmlformats.org/drawingml/2006/main">
              <a:ext uri="{FF2B5EF4-FFF2-40B4-BE49-F238E27FC236}">
                <a16:creationId xmlns:a16="http://schemas.microsoft.com/office/drawing/2014/main" id="{D8AE3E53-453A-4C61-8367-0D090AC1A392}"/>
              </a:ext>
            </a:extLst>
          </p:cNvPr>
          <p:cNvSpPr>
            <a:spLocks xmlns:a="http://schemas.openxmlformats.org/drawingml/2006/main" noGrp="1"/>
          </p:cNvSpPr>
          <p:nvPr/>
        </p:nvSpPr>
        <p:spPr>
          <a:xfrm xmlns:a="http://schemas.openxmlformats.org/drawingml/2006/main">
            <a:off x="685800" y="36290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9" name="s5-text-2">
            <a:extLst xmlns:a="http://schemas.openxmlformats.org/drawingml/2006/main">
              <a:ext uri="{FF2B5EF4-FFF2-40B4-BE49-F238E27FC236}">
                <a16:creationId xmlns:a16="http://schemas.microsoft.com/office/drawing/2014/main" id="{BE4E3643-2359-466B-8B8D-098B8E1D3943}"/>
              </a:ext>
            </a:extLst>
          </p:cNvPr>
          <p:cNvSpPr>
            <a:spLocks xmlns:a="http://schemas.openxmlformats.org/drawingml/2006/main" noGrp="1"/>
          </p:cNvSpPr>
          <p:nvPr/>
        </p:nvSpPr>
        <p:spPr>
          <a:xfrm xmlns:a="http://schemas.openxmlformats.org/drawingml/2006/main">
            <a:off x="952500" y="35528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A useful annotation links feature → reason → intended effect instead of merely naming a feature.</a:t>
            </a:r>
          </a:p>
        </p:txBody>
      </p:sp>
      <p:sp>
        <p:nvSpPr>
          <p:cNvPr id="10" name="s5-mark-3">
            <a:extLst xmlns:a="http://schemas.openxmlformats.org/drawingml/2006/main">
              <a:ext uri="{FF2B5EF4-FFF2-40B4-BE49-F238E27FC236}">
                <a16:creationId xmlns:a16="http://schemas.microsoft.com/office/drawing/2014/main" id="{D6CD4C4F-52CF-4610-90CD-77F0E3020A52}"/>
              </a:ext>
            </a:extLst>
          </p:cNvPr>
          <p:cNvSpPr>
            <a:spLocks xmlns:a="http://schemas.openxmlformats.org/drawingml/2006/main" noGrp="1"/>
          </p:cNvSpPr>
          <p:nvPr/>
        </p:nvSpPr>
        <p:spPr>
          <a:xfrm xmlns:a="http://schemas.openxmlformats.org/drawingml/2006/main">
            <a:off x="685800" y="45434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1" name="s5-text-3">
            <a:extLst xmlns:a="http://schemas.openxmlformats.org/drawingml/2006/main">
              <a:ext uri="{FF2B5EF4-FFF2-40B4-BE49-F238E27FC236}">
                <a16:creationId xmlns:a16="http://schemas.microsoft.com/office/drawing/2014/main" id="{A3F74EB8-2377-41BF-9607-DBFEC39461B8}"/>
              </a:ext>
            </a:extLst>
          </p:cNvPr>
          <p:cNvSpPr>
            <a:spLocks xmlns:a="http://schemas.openxmlformats.org/drawingml/2006/main" noGrp="1"/>
          </p:cNvSpPr>
          <p:nvPr/>
        </p:nvSpPr>
        <p:spPr>
          <a:xfrm xmlns:a="http://schemas.openxmlformats.org/drawingml/2006/main">
            <a:off x="952500" y="44672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Peer review tests the criteria. The designer weighs feedback and returns to the brief before revising.</a:t>
            </a:r>
          </a:p>
        </p:txBody>
      </p:sp>
      <p:sp>
        <p:nvSpPr>
          <p:cNvPr id="12" name="prompt-label-5">
            <a:extLst xmlns:a="http://schemas.openxmlformats.org/drawingml/2006/main">
              <a:ext uri="{FF2B5EF4-FFF2-40B4-BE49-F238E27FC236}">
                <a16:creationId xmlns:a16="http://schemas.microsoft.com/office/drawing/2014/main" id="{3D9BF013-2B4F-413E-8D85-BDAE614B081C}"/>
              </a:ext>
            </a:extLst>
          </p:cNvPr>
          <p:cNvSpPr>
            <a:spLocks xmlns:a="http://schemas.openxmlformats.org/drawingml/2006/main" noGrp="1"/>
          </p:cNvSpPr>
          <p:nvPr/>
        </p:nvSpPr>
        <p:spPr>
          <a:xfrm xmlns:a="http://schemas.openxmlformats.org/drawingml/2006/main">
            <a:off x="685800" y="546735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E7AD31"/>
                </a:solidFill>
              </a:defRPr>
            </a:pPr>
            <a:r>
              <a:rPr sz="1050" b="1">
                <a:solidFill>
                  <a:srgbClr val="E7AD31"/>
                </a:solidFill>
              </a:rPr>
              <a:t>APPLY IT</a:t>
            </a:r>
          </a:p>
        </p:txBody>
      </p:sp>
      <p:sp>
        <p:nvSpPr>
          <p:cNvPr id="13" name="prompt-5">
            <a:extLst xmlns:a="http://schemas.openxmlformats.org/drawingml/2006/main">
              <a:ext uri="{FF2B5EF4-FFF2-40B4-BE49-F238E27FC236}">
                <a16:creationId xmlns:a16="http://schemas.microsoft.com/office/drawing/2014/main" id="{C453F945-5F64-49F0-AB8B-FD4EC7EF7B5B}"/>
              </a:ext>
            </a:extLst>
          </p:cNvPr>
          <p:cNvSpPr>
            <a:spLocks xmlns:a="http://schemas.openxmlformats.org/drawingml/2006/main" noGrp="1"/>
          </p:cNvSpPr>
          <p:nvPr/>
        </p:nvSpPr>
        <p:spPr>
          <a:xfrm xmlns:a="http://schemas.openxmlformats.org/drawingml/2006/main">
            <a:off x="685800" y="5772150"/>
            <a:ext cx="3829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Write one feature–reason–effect annotation for a change that improves a crowded sign.</a:t>
            </a:r>
          </a:p>
        </p:txBody>
      </p:sp>
      <p:sp>
        <p:nvSpPr>
          <p:cNvPr id="14" name="caption-5">
            <a:extLst xmlns:a="http://schemas.openxmlformats.org/drawingml/2006/main">
              <a:ext uri="{FF2B5EF4-FFF2-40B4-BE49-F238E27FC236}">
                <a16:creationId xmlns:a16="http://schemas.microsoft.com/office/drawing/2014/main" id="{C16DE6BE-F5B1-4B41-81F6-D29F957955F1}"/>
              </a:ext>
            </a:extLst>
          </p:cNvPr>
          <p:cNvSpPr>
            <a:spLocks xmlns:a="http://schemas.openxmlformats.org/drawingml/2006/main" noGrp="1"/>
          </p:cNvSpPr>
          <p:nvPr/>
        </p:nvSpPr>
        <p:spPr>
          <a:xfrm xmlns:a="http://schemas.openxmlformats.org/drawingml/2006/main">
            <a:off x="5334000" y="6096000"/>
            <a:ext cx="5905500" cy="400050"/>
          </a:xfrm>
          <a:prstGeom xmlns:a="http://schemas.openxmlformats.org/drawingml/2006/main" prst="roundRect">
            <a:avLst>
              <a:gd name="adj" fmla="val 23810"/>
            </a:avLst>
          </a:prstGeom>
          <a:solidFill xmlns:a="http://schemas.openxmlformats.org/drawingml/2006/main">
            <a:srgbClr val="113F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Feedback is evidence to test against the brief — not a popularity vote.</a:t>
            </a:r>
          </a:p>
        </p:txBody>
      </p:sp>
      <p:sp>
        <p:nvSpPr>
          <p:cNvPr id="15" name="footer-rule-5">
            <a:extLst xmlns:a="http://schemas.openxmlformats.org/drawingml/2006/main">
              <a:ext uri="{FF2B5EF4-FFF2-40B4-BE49-F238E27FC236}">
                <a16:creationId xmlns:a16="http://schemas.microsoft.com/office/drawing/2014/main" id="{2C281F9B-D01C-442C-A3F5-D131E8156C9A}"/>
              </a:ext>
            </a:extLst>
          </p:cNvPr>
          <p:cNvSpPr>
            <a:spLocks xmlns:a="http://schemas.openxmlformats.org/drawingml/2006/main" noGrp="1"/>
          </p:cNvSpPr>
          <p:nvPr/>
        </p:nvSpPr>
        <p:spPr>
          <a:xfrm xmlns:a="http://schemas.openxmlformats.org/drawingml/2006/main">
            <a:off x="685800" y="6477000"/>
            <a:ext cx="3829050" cy="19050"/>
          </a:xfrm>
          <a:prstGeom xmlns:a="http://schemas.openxmlformats.org/drawingml/2006/main" prst="rect">
            <a:avLst/>
          </a:prstGeom>
          <a:solidFill xmlns:a="http://schemas.openxmlformats.org/drawingml/2006/main">
            <a:srgbClr val="5C8774"/>
          </a:solidFill>
          <a:ln xmlns:a="http://schemas.openxmlformats.org/drawingml/2006/main" w="0">
            <a:solidFill>
              <a:srgbClr val="5C8774"/>
            </a:solidFill>
            <a:prstDash val="solid"/>
          </a:ln>
        </p:spPr>
      </p:sp>
      <p:sp>
        <p:nvSpPr>
          <p:cNvPr id="16" name="footer-label-5">
            <a:extLst xmlns:a="http://schemas.openxmlformats.org/drawingml/2006/main">
              <a:ext uri="{FF2B5EF4-FFF2-40B4-BE49-F238E27FC236}">
                <a16:creationId xmlns:a16="http://schemas.microsoft.com/office/drawing/2014/main" id="{C12176A9-75DD-4591-B9C5-E65D2A743513}"/>
              </a:ext>
            </a:extLst>
          </p:cNvPr>
          <p:cNvSpPr>
            <a:spLocks xmlns:a="http://schemas.openxmlformats.org/drawingml/2006/main" noGrp="1"/>
          </p:cNvSpPr>
          <p:nvPr/>
        </p:nvSpPr>
        <p:spPr>
          <a:xfrm xmlns:a="http://schemas.openxmlformats.org/drawingml/2006/main">
            <a:off x="685800" y="65436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E7DF"/>
                </a:solidFill>
              </a:defRPr>
            </a:pPr>
            <a:r>
              <a:rPr sz="900" b="1">
                <a:solidFill>
                  <a:srgbClr val="D8E7DF"/>
                </a:solidFill>
              </a:rPr>
              <a:t>SWINGING SIGN  •  MODULE 2</a:t>
            </a:r>
          </a:p>
        </p:txBody>
      </p:sp>
      <p:sp>
        <p:nvSpPr>
          <p:cNvPr id="17" name="footer-page-5">
            <a:extLst xmlns:a="http://schemas.openxmlformats.org/drawingml/2006/main">
              <a:ext uri="{FF2B5EF4-FFF2-40B4-BE49-F238E27FC236}">
                <a16:creationId xmlns:a16="http://schemas.microsoft.com/office/drawing/2014/main" id="{35C2F1D7-D93B-47F9-AC76-CF1AEA16460B}"/>
              </a:ext>
            </a:extLst>
          </p:cNvPr>
          <p:cNvSpPr>
            <a:spLocks xmlns:a="http://schemas.openxmlformats.org/drawingml/2006/main" noGrp="1"/>
          </p:cNvSpPr>
          <p:nvPr/>
        </p:nvSpPr>
        <p:spPr>
          <a:xfrm xmlns:a="http://schemas.openxmlformats.org/drawingml/2006/main">
            <a:off x="10763250" y="6543675"/>
            <a:ext cx="742950" cy="228600"/>
          </a:xfrm>
          <a:prstGeom xmlns:a="http://schemas.openxmlformats.org/drawingml/2006/main" prst="roundRect">
            <a:avLst>
              <a:gd name="adj" fmla="val 25000"/>
            </a:avLst>
          </a:prstGeom>
          <a:solidFill xmlns:a="http://schemas.openxmlformats.org/drawingml/2006/main">
            <a:srgbClr val="113F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FFFF"/>
                </a:solidFill>
              </a:defRPr>
            </a:pPr>
            <a:r>
              <a:rPr sz="900" b="1">
                <a:solidFill>
                  <a:srgbClr val="FFFFFF"/>
                </a:solidFill>
              </a:rPr>
              <a:t>5 / 8</a:t>
            </a:r>
          </a:p>
        </p:txBody>
      </p:sp>
    </p:spTree>
    <p:extLst>
      <p:ext uri="{BB962C8B-B14F-4D97-AF65-F5344CB8AC3E}">
        <p14:creationId xmlns:p14="http://schemas.microsoft.com/office/powerpoint/2010/main" val="177057671"/>
      </p:ext>
    </p:extLst>
  </p:cSld>
</p:sld>
</file>

<file path=ppt/slides/slide6.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sp>
        <p:nvSpPr>
          <p:cNvPr id="20" name="accent-6">
            <a:extLst xmlns:a="http://schemas.openxmlformats.org/drawingml/2006/main">
              <a:ext uri="{FF2B5EF4-FFF2-40B4-BE49-F238E27FC236}">
                <a16:creationId xmlns:a16="http://schemas.microsoft.com/office/drawing/2014/main" id="{D3E282BA-3593-4293-9D6C-5A7BD3EC6A3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6">
            <a:extLst xmlns:a="http://schemas.openxmlformats.org/drawingml/2006/main">
              <a:ext uri="{FF2B5EF4-FFF2-40B4-BE49-F238E27FC236}">
                <a16:creationId xmlns:a16="http://schemas.microsoft.com/office/drawing/2014/main" id="{0D9FE882-2CA3-46E5-A736-48FF0D96A30D}"/>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FE1D8"/>
                </a:solidFill>
              </a:defRPr>
            </a:pPr>
            <a:r>
              <a:rPr sz="1050" b="1">
                <a:solidFill>
                  <a:srgbClr val="CFE1D8"/>
                </a:solidFill>
              </a:rPr>
              <a:t>MODULE 2  •  COMMUNICATE THE DESIGN</a:t>
            </a:r>
          </a:p>
        </p:txBody>
      </p:sp>
      <p:sp>
        <p:nvSpPr>
          <p:cNvPr id="3" name="slide-title-6">
            <a:extLst xmlns:a="http://schemas.openxmlformats.org/drawingml/2006/main">
              <a:ext uri="{FF2B5EF4-FFF2-40B4-BE49-F238E27FC236}">
                <a16:creationId xmlns:a16="http://schemas.microsoft.com/office/drawing/2014/main" id="{DDD5BE26-6975-4572-BF31-CDFD7ED99C5D}"/>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retrieval-instruction">
            <a:extLst xmlns:a="http://schemas.openxmlformats.org/drawingml/2006/main">
              <a:ext uri="{FF2B5EF4-FFF2-40B4-BE49-F238E27FC236}">
                <a16:creationId xmlns:a16="http://schemas.microsoft.com/office/drawing/2014/main" id="{5709CA32-AD96-45D4-BE69-346AE2327958}"/>
              </a:ext>
            </a:extLst>
          </p:cNvPr>
          <p:cNvSpPr>
            <a:spLocks xmlns:a="http://schemas.openxmlformats.org/drawingml/2006/main" noGrp="1"/>
          </p:cNvSpPr>
          <p:nvPr/>
        </p:nvSpPr>
        <p:spPr>
          <a:xfrm xmlns:a="http://schemas.openxmlformats.org/drawingml/2006/main">
            <a:off x="685800" y="126682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D8E7DF"/>
                </a:solidFill>
              </a:defRPr>
            </a:pPr>
            <a:r>
              <a:rPr sz="1650" b="0">
                <a:solidFill>
                  <a:srgbClr val="D8E7DF"/>
                </a:solidFill>
              </a:rPr>
              <a:t>Answer silently first. Then justify one answer with a partner.</a:t>
            </a:r>
          </a:p>
        </p:txBody>
      </p:sp>
      <p:sp>
        <p:nvSpPr>
          <p:cNvPr id="5" name="retrieval-line-1">
            <a:extLst xmlns:a="http://schemas.openxmlformats.org/drawingml/2006/main">
              <a:ext uri="{FF2B5EF4-FFF2-40B4-BE49-F238E27FC236}">
                <a16:creationId xmlns:a16="http://schemas.microsoft.com/office/drawing/2014/main" id="{38879919-D3DE-4125-9E95-FC0BA93F043F}"/>
              </a:ext>
            </a:extLst>
          </p:cNvPr>
          <p:cNvSpPr>
            <a:spLocks xmlns:a="http://schemas.openxmlformats.org/drawingml/2006/main" noGrp="1"/>
          </p:cNvSpPr>
          <p:nvPr/>
        </p:nvSpPr>
        <p:spPr>
          <a:xfrm xmlns:a="http://schemas.openxmlformats.org/drawingml/2006/main">
            <a:off x="685800" y="1809750"/>
            <a:ext cx="10820400" cy="781050"/>
          </a:xfrm>
          <a:prstGeom xmlns:a="http://schemas.openxmlformats.org/drawingml/2006/main" prst="roundRect">
            <a:avLst>
              <a:gd name="adj" fmla="val 19512"/>
            </a:avLst>
          </a:prstGeom>
          <a:solidFill xmlns:a="http://schemas.openxmlformats.org/drawingml/2006/main">
            <a:srgbClr val="1D503D"/>
          </a:solidFill>
          <a:ln xmlns:a="http://schemas.openxmlformats.org/drawingml/2006/main" w="9525">
            <a:solidFill>
              <a:srgbClr val="4F7D69"/>
            </a:solidFill>
            <a:prstDash val="solid"/>
          </a:ln>
        </p:spPr>
      </p:sp>
      <p:sp>
        <p:nvSpPr>
          <p:cNvPr id="6" name="retrieval-number-1">
            <a:extLst xmlns:a="http://schemas.openxmlformats.org/drawingml/2006/main">
              <a:ext uri="{FF2B5EF4-FFF2-40B4-BE49-F238E27FC236}">
                <a16:creationId xmlns:a16="http://schemas.microsoft.com/office/drawing/2014/main" id="{7F8D4203-E667-40DC-8B92-10E554534C62}"/>
              </a:ext>
            </a:extLst>
          </p:cNvPr>
          <p:cNvSpPr>
            <a:spLocks xmlns:a="http://schemas.openxmlformats.org/drawingml/2006/main" noGrp="1"/>
          </p:cNvSpPr>
          <p:nvPr/>
        </p:nvSpPr>
        <p:spPr>
          <a:xfrm xmlns:a="http://schemas.openxmlformats.org/drawingml/2006/main">
            <a:off x="895350" y="19907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1</a:t>
            </a:r>
          </a:p>
        </p:txBody>
      </p:sp>
      <p:sp>
        <p:nvSpPr>
          <p:cNvPr id="7" name="retrieval-question-1">
            <a:extLst xmlns:a="http://schemas.openxmlformats.org/drawingml/2006/main">
              <a:ext uri="{FF2B5EF4-FFF2-40B4-BE49-F238E27FC236}">
                <a16:creationId xmlns:a16="http://schemas.microsoft.com/office/drawing/2014/main" id="{C525F4EF-3454-48C9-8B28-8CED87CE6559}"/>
              </a:ext>
            </a:extLst>
          </p:cNvPr>
          <p:cNvSpPr>
            <a:spLocks xmlns:a="http://schemas.openxmlformats.org/drawingml/2006/main" noGrp="1"/>
          </p:cNvSpPr>
          <p:nvPr/>
        </p:nvSpPr>
        <p:spPr>
          <a:xfrm xmlns:a="http://schemas.openxmlformats.org/drawingml/2006/main">
            <a:off x="1524000" y="19621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is a vector graphic mainly built from?</a:t>
            </a:r>
          </a:p>
        </p:txBody>
      </p:sp>
      <p:sp>
        <p:nvSpPr>
          <p:cNvPr id="8" name="retrieval-line-2">
            <a:extLst xmlns:a="http://schemas.openxmlformats.org/drawingml/2006/main">
              <a:ext uri="{FF2B5EF4-FFF2-40B4-BE49-F238E27FC236}">
                <a16:creationId xmlns:a16="http://schemas.microsoft.com/office/drawing/2014/main" id="{B909AB2F-0B05-44C7-9F19-0B6DA48DDD0C}"/>
              </a:ext>
            </a:extLst>
          </p:cNvPr>
          <p:cNvSpPr>
            <a:spLocks xmlns:a="http://schemas.openxmlformats.org/drawingml/2006/main" noGrp="1"/>
          </p:cNvSpPr>
          <p:nvPr/>
        </p:nvSpPr>
        <p:spPr>
          <a:xfrm xmlns:a="http://schemas.openxmlformats.org/drawingml/2006/main">
            <a:off x="685800" y="2800350"/>
            <a:ext cx="10820400" cy="781050"/>
          </a:xfrm>
          <a:prstGeom xmlns:a="http://schemas.openxmlformats.org/drawingml/2006/main" prst="roundRect">
            <a:avLst>
              <a:gd name="adj" fmla="val 19512"/>
            </a:avLst>
          </a:prstGeom>
          <a:solidFill xmlns:a="http://schemas.openxmlformats.org/drawingml/2006/main">
            <a:srgbClr val="245E48"/>
          </a:solidFill>
          <a:ln xmlns:a="http://schemas.openxmlformats.org/drawingml/2006/main" w="9525">
            <a:solidFill>
              <a:srgbClr val="4F7D69"/>
            </a:solidFill>
            <a:prstDash val="solid"/>
          </a:ln>
        </p:spPr>
      </p:sp>
      <p:sp>
        <p:nvSpPr>
          <p:cNvPr id="9" name="retrieval-number-2">
            <a:extLst xmlns:a="http://schemas.openxmlformats.org/drawingml/2006/main">
              <a:ext uri="{FF2B5EF4-FFF2-40B4-BE49-F238E27FC236}">
                <a16:creationId xmlns:a16="http://schemas.microsoft.com/office/drawing/2014/main" id="{AAD48490-2B93-4B62-99A4-CBB226AD4B08}"/>
              </a:ext>
            </a:extLst>
          </p:cNvPr>
          <p:cNvSpPr>
            <a:spLocks xmlns:a="http://schemas.openxmlformats.org/drawingml/2006/main" noGrp="1"/>
          </p:cNvSpPr>
          <p:nvPr/>
        </p:nvSpPr>
        <p:spPr>
          <a:xfrm xmlns:a="http://schemas.openxmlformats.org/drawingml/2006/main">
            <a:off x="895350" y="29813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2</a:t>
            </a:r>
          </a:p>
        </p:txBody>
      </p:sp>
      <p:sp>
        <p:nvSpPr>
          <p:cNvPr id="10" name="retrieval-question-2">
            <a:extLst xmlns:a="http://schemas.openxmlformats.org/drawingml/2006/main">
              <a:ext uri="{FF2B5EF4-FFF2-40B4-BE49-F238E27FC236}">
                <a16:creationId xmlns:a16="http://schemas.microsoft.com/office/drawing/2014/main" id="{220639BB-566F-42A4-A667-850F13A828CC}"/>
              </a:ext>
            </a:extLst>
          </p:cNvPr>
          <p:cNvSpPr>
            <a:spLocks xmlns:a="http://schemas.openxmlformats.org/drawingml/2006/main" noGrp="1"/>
          </p:cNvSpPr>
          <p:nvPr/>
        </p:nvSpPr>
        <p:spPr>
          <a:xfrm xmlns:a="http://schemas.openxmlformats.org/drawingml/2006/main">
            <a:off x="1524000" y="29527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How does a dimension differ from a geometric constraint?</a:t>
            </a:r>
          </a:p>
        </p:txBody>
      </p:sp>
      <p:sp>
        <p:nvSpPr>
          <p:cNvPr id="11" name="retrieval-line-3">
            <a:extLst xmlns:a="http://schemas.openxmlformats.org/drawingml/2006/main">
              <a:ext uri="{FF2B5EF4-FFF2-40B4-BE49-F238E27FC236}">
                <a16:creationId xmlns:a16="http://schemas.microsoft.com/office/drawing/2014/main" id="{C0FF8C17-00D1-431B-8B2C-B2623DB8BCBB}"/>
              </a:ext>
            </a:extLst>
          </p:cNvPr>
          <p:cNvSpPr>
            <a:spLocks xmlns:a="http://schemas.openxmlformats.org/drawingml/2006/main" noGrp="1"/>
          </p:cNvSpPr>
          <p:nvPr/>
        </p:nvSpPr>
        <p:spPr>
          <a:xfrm xmlns:a="http://schemas.openxmlformats.org/drawingml/2006/main">
            <a:off x="685800" y="3790950"/>
            <a:ext cx="10820400" cy="781050"/>
          </a:xfrm>
          <a:prstGeom xmlns:a="http://schemas.openxmlformats.org/drawingml/2006/main" prst="roundRect">
            <a:avLst>
              <a:gd name="adj" fmla="val 19512"/>
            </a:avLst>
          </a:prstGeom>
          <a:solidFill xmlns:a="http://schemas.openxmlformats.org/drawingml/2006/main">
            <a:srgbClr val="1D503D"/>
          </a:solidFill>
          <a:ln xmlns:a="http://schemas.openxmlformats.org/drawingml/2006/main" w="9525">
            <a:solidFill>
              <a:srgbClr val="4F7D69"/>
            </a:solidFill>
            <a:prstDash val="solid"/>
          </a:ln>
        </p:spPr>
      </p:sp>
      <p:sp>
        <p:nvSpPr>
          <p:cNvPr id="12" name="retrieval-number-3">
            <a:extLst xmlns:a="http://schemas.openxmlformats.org/drawingml/2006/main">
              <a:ext uri="{FF2B5EF4-FFF2-40B4-BE49-F238E27FC236}">
                <a16:creationId xmlns:a16="http://schemas.microsoft.com/office/drawing/2014/main" id="{B6C7179B-277F-4A62-A916-16941C7D6788}"/>
              </a:ext>
            </a:extLst>
          </p:cNvPr>
          <p:cNvSpPr>
            <a:spLocks xmlns:a="http://schemas.openxmlformats.org/drawingml/2006/main" noGrp="1"/>
          </p:cNvSpPr>
          <p:nvPr/>
        </p:nvSpPr>
        <p:spPr>
          <a:xfrm xmlns:a="http://schemas.openxmlformats.org/drawingml/2006/main">
            <a:off x="895350" y="39719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3</a:t>
            </a:r>
          </a:p>
        </p:txBody>
      </p:sp>
      <p:sp>
        <p:nvSpPr>
          <p:cNvPr id="13" name="retrieval-question-3">
            <a:extLst xmlns:a="http://schemas.openxmlformats.org/drawingml/2006/main">
              <a:ext uri="{FF2B5EF4-FFF2-40B4-BE49-F238E27FC236}">
                <a16:creationId xmlns:a16="http://schemas.microsoft.com/office/drawing/2014/main" id="{2D66E26C-C33E-4BDD-A4EC-A6281641DC3F}"/>
              </a:ext>
            </a:extLst>
          </p:cNvPr>
          <p:cNvSpPr>
            <a:spLocks xmlns:a="http://schemas.openxmlformats.org/drawingml/2006/main" noGrp="1"/>
          </p:cNvSpPr>
          <p:nvPr/>
        </p:nvSpPr>
        <p:spPr>
          <a:xfrm xmlns:a="http://schemas.openxmlformats.org/drawingml/2006/main">
            <a:off x="1524000" y="39433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makes an annotation explain rather than label?</a:t>
            </a:r>
          </a:p>
        </p:txBody>
      </p:sp>
      <p:sp>
        <p:nvSpPr>
          <p:cNvPr id="14" name="retrieval-line-4">
            <a:extLst xmlns:a="http://schemas.openxmlformats.org/drawingml/2006/main">
              <a:ext uri="{FF2B5EF4-FFF2-40B4-BE49-F238E27FC236}">
                <a16:creationId xmlns:a16="http://schemas.microsoft.com/office/drawing/2014/main" id="{8E1DE0E5-B6FB-4392-BDC0-81BDDB69218A}"/>
              </a:ext>
            </a:extLst>
          </p:cNvPr>
          <p:cNvSpPr>
            <a:spLocks xmlns:a="http://schemas.openxmlformats.org/drawingml/2006/main" noGrp="1"/>
          </p:cNvSpPr>
          <p:nvPr/>
        </p:nvSpPr>
        <p:spPr>
          <a:xfrm xmlns:a="http://schemas.openxmlformats.org/drawingml/2006/main">
            <a:off x="685800" y="4781550"/>
            <a:ext cx="10820400" cy="781050"/>
          </a:xfrm>
          <a:prstGeom xmlns:a="http://schemas.openxmlformats.org/drawingml/2006/main" prst="roundRect">
            <a:avLst>
              <a:gd name="adj" fmla="val 19512"/>
            </a:avLst>
          </a:prstGeom>
          <a:solidFill xmlns:a="http://schemas.openxmlformats.org/drawingml/2006/main">
            <a:srgbClr val="245E48"/>
          </a:solidFill>
          <a:ln xmlns:a="http://schemas.openxmlformats.org/drawingml/2006/main" w="9525">
            <a:solidFill>
              <a:srgbClr val="4F7D69"/>
            </a:solidFill>
            <a:prstDash val="solid"/>
          </a:ln>
        </p:spPr>
      </p:sp>
      <p:sp>
        <p:nvSpPr>
          <p:cNvPr id="15" name="retrieval-number-4">
            <a:extLst xmlns:a="http://schemas.openxmlformats.org/drawingml/2006/main">
              <a:ext uri="{FF2B5EF4-FFF2-40B4-BE49-F238E27FC236}">
                <a16:creationId xmlns:a16="http://schemas.microsoft.com/office/drawing/2014/main" id="{3E7C364B-0832-4DD4-B852-19D7C6FBB01A}"/>
              </a:ext>
            </a:extLst>
          </p:cNvPr>
          <p:cNvSpPr>
            <a:spLocks xmlns:a="http://schemas.openxmlformats.org/drawingml/2006/main" noGrp="1"/>
          </p:cNvSpPr>
          <p:nvPr/>
        </p:nvSpPr>
        <p:spPr>
          <a:xfrm xmlns:a="http://schemas.openxmlformats.org/drawingml/2006/main">
            <a:off x="895350" y="49625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4</a:t>
            </a:r>
          </a:p>
        </p:txBody>
      </p:sp>
      <p:sp>
        <p:nvSpPr>
          <p:cNvPr id="16" name="retrieval-question-4">
            <a:extLst xmlns:a="http://schemas.openxmlformats.org/drawingml/2006/main">
              <a:ext uri="{FF2B5EF4-FFF2-40B4-BE49-F238E27FC236}">
                <a16:creationId xmlns:a16="http://schemas.microsoft.com/office/drawing/2014/main" id="{F1F82DEC-6BBC-4101-98A3-D5940438C403}"/>
              </a:ext>
            </a:extLst>
          </p:cNvPr>
          <p:cNvSpPr>
            <a:spLocks xmlns:a="http://schemas.openxmlformats.org/drawingml/2006/main" noGrp="1"/>
          </p:cNvSpPr>
          <p:nvPr/>
        </p:nvSpPr>
        <p:spPr>
          <a:xfrm xmlns:a="http://schemas.openxmlformats.org/drawingml/2006/main">
            <a:off x="1524000" y="49339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How should a designer use conflicting peer feedback?</a:t>
            </a:r>
          </a:p>
        </p:txBody>
      </p:sp>
      <p:sp>
        <p:nvSpPr>
          <p:cNvPr id="17" name="footer-rule-6">
            <a:extLst xmlns:a="http://schemas.openxmlformats.org/drawingml/2006/main">
              <a:ext uri="{FF2B5EF4-FFF2-40B4-BE49-F238E27FC236}">
                <a16:creationId xmlns:a16="http://schemas.microsoft.com/office/drawing/2014/main" id="{CCBB1440-EBD4-401D-BC0F-4C1C860EE4E2}"/>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5C8774"/>
          </a:solidFill>
          <a:ln xmlns:a="http://schemas.openxmlformats.org/drawingml/2006/main" w="0">
            <a:solidFill>
              <a:srgbClr val="5C8774"/>
            </a:solidFill>
            <a:prstDash val="solid"/>
          </a:ln>
        </p:spPr>
      </p:sp>
      <p:sp>
        <p:nvSpPr>
          <p:cNvPr id="18" name="footer-label-6">
            <a:extLst xmlns:a="http://schemas.openxmlformats.org/drawingml/2006/main">
              <a:ext uri="{FF2B5EF4-FFF2-40B4-BE49-F238E27FC236}">
                <a16:creationId xmlns:a16="http://schemas.microsoft.com/office/drawing/2014/main" id="{52FC86B3-D66E-4F69-8C71-4E5656D66868}"/>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E7DF"/>
                </a:solidFill>
              </a:defRPr>
            </a:pPr>
            <a:r>
              <a:rPr sz="900" b="1">
                <a:solidFill>
                  <a:srgbClr val="D8E7DF"/>
                </a:solidFill>
              </a:rPr>
              <a:t>SWINGING SIGN  •  MODULE 2</a:t>
            </a:r>
          </a:p>
        </p:txBody>
      </p:sp>
      <p:sp>
        <p:nvSpPr>
          <p:cNvPr id="19" name="footer-page-6">
            <a:extLst xmlns:a="http://schemas.openxmlformats.org/drawingml/2006/main">
              <a:ext uri="{FF2B5EF4-FFF2-40B4-BE49-F238E27FC236}">
                <a16:creationId xmlns:a16="http://schemas.microsoft.com/office/drawing/2014/main" id="{2F0AC6CF-E824-47C5-B95C-616AF2DA9679}"/>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D8E7DF"/>
                </a:solidFill>
              </a:defRPr>
            </a:pPr>
            <a:r>
              <a:rPr sz="900" b="1">
                <a:solidFill>
                  <a:srgbClr val="D8E7DF"/>
                </a:solidFill>
              </a:rPr>
              <a:t>6 / 8</a:t>
            </a:r>
          </a:p>
        </p:txBody>
      </p:sp>
    </p:spTree>
    <p:extLst>
      <p:ext uri="{BB962C8B-B14F-4D97-AF65-F5344CB8AC3E}">
        <p14:creationId xmlns:p14="http://schemas.microsoft.com/office/powerpoint/2010/main" val="683405183"/>
      </p:ext>
    </p:extLst>
  </p:cSld>
</p:sld>
</file>

<file path=ppt/slides/slide7.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23" name="accent-7">
            <a:extLst xmlns:a="http://schemas.openxmlformats.org/drawingml/2006/main">
              <a:ext uri="{FF2B5EF4-FFF2-40B4-BE49-F238E27FC236}">
                <a16:creationId xmlns:a16="http://schemas.microsoft.com/office/drawing/2014/main" id="{E633F6C5-D863-49BF-8F9C-13CC04B59FF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7">
            <a:extLst xmlns:a="http://schemas.openxmlformats.org/drawingml/2006/main">
              <a:ext uri="{FF2B5EF4-FFF2-40B4-BE49-F238E27FC236}">
                <a16:creationId xmlns:a16="http://schemas.microsoft.com/office/drawing/2014/main" id="{8DDD382D-B306-419E-9C6F-57E61ED1BD92}"/>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2  •  COMMUNICATE THE DESIGN</a:t>
            </a:r>
          </a:p>
        </p:txBody>
      </p:sp>
      <p:sp>
        <p:nvSpPr>
          <p:cNvPr id="3" name="slide-title-7">
            <a:extLst xmlns:a="http://schemas.openxmlformats.org/drawingml/2006/main">
              <a:ext uri="{FF2B5EF4-FFF2-40B4-BE49-F238E27FC236}">
                <a16:creationId xmlns:a16="http://schemas.microsoft.com/office/drawing/2014/main" id="{94A40B64-7206-40CD-AC4B-170DD70A11D9}"/>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Build one connected explanation</a:t>
            </a:r>
          </a:p>
        </p:txBody>
      </p:sp>
      <p:sp>
        <p:nvSpPr>
          <p:cNvPr id="4" name="guided-question-surface">
            <a:extLst xmlns:a="http://schemas.openxmlformats.org/drawingml/2006/main">
              <a:ext uri="{FF2B5EF4-FFF2-40B4-BE49-F238E27FC236}">
                <a16:creationId xmlns:a16="http://schemas.microsoft.com/office/drawing/2014/main" id="{65F33460-700C-4932-8719-6272D9FEB3DD}"/>
              </a:ext>
            </a:extLst>
          </p:cNvPr>
          <p:cNvSpPr>
            <a:spLocks xmlns:a="http://schemas.openxmlformats.org/drawingml/2006/main" noGrp="1"/>
          </p:cNvSpPr>
          <p:nvPr/>
        </p:nvSpPr>
        <p:spPr>
          <a:xfrm xmlns:a="http://schemas.openxmlformats.org/drawingml/2006/main">
            <a:off x="685800" y="1352550"/>
            <a:ext cx="108204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C8D8CF"/>
            </a:solidFill>
            <a:prstDash val="solid"/>
          </a:ln>
        </p:spPr>
      </p:sp>
      <p:sp>
        <p:nvSpPr>
          <p:cNvPr id="5" name="guided-question-label">
            <a:extLst xmlns:a="http://schemas.openxmlformats.org/drawingml/2006/main">
              <a:ext uri="{FF2B5EF4-FFF2-40B4-BE49-F238E27FC236}">
                <a16:creationId xmlns:a16="http://schemas.microsoft.com/office/drawing/2014/main" id="{8E14D8CD-1C21-4181-9212-43117D918ED9}"/>
              </a:ext>
            </a:extLst>
          </p:cNvPr>
          <p:cNvSpPr>
            <a:spLocks xmlns:a="http://schemas.openxmlformats.org/drawingml/2006/main" noGrp="1"/>
          </p:cNvSpPr>
          <p:nvPr/>
        </p:nvSpPr>
        <p:spPr>
          <a:xfrm xmlns:a="http://schemas.openxmlformats.org/drawingml/2006/main">
            <a:off x="933450" y="15430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THE QUESTION</a:t>
            </a:r>
          </a:p>
        </p:txBody>
      </p:sp>
      <p:sp>
        <p:nvSpPr>
          <p:cNvPr id="6" name="guided-question">
            <a:extLst xmlns:a="http://schemas.openxmlformats.org/drawingml/2006/main">
              <a:ext uri="{FF2B5EF4-FFF2-40B4-BE49-F238E27FC236}">
                <a16:creationId xmlns:a16="http://schemas.microsoft.com/office/drawing/2014/main" id="{E7668482-272F-4480-BB34-DFE359E912A4}"/>
              </a:ext>
            </a:extLst>
          </p:cNvPr>
          <p:cNvSpPr>
            <a:spLocks xmlns:a="http://schemas.openxmlformats.org/drawingml/2006/main" noGrp="1"/>
          </p:cNvSpPr>
          <p:nvPr/>
        </p:nvSpPr>
        <p:spPr>
          <a:xfrm xmlns:a="http://schemas.openxmlformats.org/drawingml/2006/main">
            <a:off x="933450" y="18669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Evaluate a crowded sign concept. Recommend a file-format choice, one Onshape sketch-control action and one legibility revision, then explain how peer evidence would test the change.</a:t>
            </a:r>
          </a:p>
        </p:txBody>
      </p:sp>
      <p:sp>
        <p:nvSpPr>
          <p:cNvPr id="7" name="guided-step-1">
            <a:extLst xmlns:a="http://schemas.openxmlformats.org/drawingml/2006/main">
              <a:ext uri="{FF2B5EF4-FFF2-40B4-BE49-F238E27FC236}">
                <a16:creationId xmlns:a16="http://schemas.microsoft.com/office/drawing/2014/main" id="{DFBDE3FB-0225-411F-AA86-EB854D2F62D8}"/>
              </a:ext>
            </a:extLst>
          </p:cNvPr>
          <p:cNvSpPr>
            <a:spLocks xmlns:a="http://schemas.openxmlformats.org/drawingml/2006/main" noGrp="1"/>
          </p:cNvSpPr>
          <p:nvPr/>
        </p:nvSpPr>
        <p:spPr>
          <a:xfrm xmlns:a="http://schemas.openxmlformats.org/drawingml/2006/main">
            <a:off x="685800" y="2990850"/>
            <a:ext cx="2514600" cy="2095500"/>
          </a:xfrm>
          <a:prstGeom xmlns:a="http://schemas.openxmlformats.org/drawingml/2006/main" prst="roundRect">
            <a:avLst>
              <a:gd name="adj" fmla="val 8182"/>
            </a:avLst>
          </a:prstGeom>
          <a:solidFill xmlns:a="http://schemas.openxmlformats.org/drawingml/2006/main">
            <a:srgbClr val="113F30"/>
          </a:solidFill>
          <a:ln xmlns:a="http://schemas.openxmlformats.org/drawingml/2006/main" w="0">
            <a:solidFill>
              <a:srgbClr val="113F30"/>
            </a:solidFill>
            <a:prstDash val="solid"/>
          </a:ln>
        </p:spPr>
      </p:sp>
      <p:sp>
        <p:nvSpPr>
          <p:cNvPr id="8" name="guided-step-name-1">
            <a:extLst xmlns:a="http://schemas.openxmlformats.org/drawingml/2006/main">
              <a:ext uri="{FF2B5EF4-FFF2-40B4-BE49-F238E27FC236}">
                <a16:creationId xmlns:a16="http://schemas.microsoft.com/office/drawing/2014/main" id="{F4CB9C5F-79D7-409A-B762-433D07D454D9}"/>
              </a:ext>
            </a:extLst>
          </p:cNvPr>
          <p:cNvSpPr>
            <a:spLocks xmlns:a="http://schemas.openxmlformats.org/drawingml/2006/main" noGrp="1"/>
          </p:cNvSpPr>
          <p:nvPr/>
        </p:nvSpPr>
        <p:spPr>
          <a:xfrm xmlns:a="http://schemas.openxmlformats.org/drawingml/2006/main">
            <a:off x="8953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READ</a:t>
            </a:r>
          </a:p>
        </p:txBody>
      </p:sp>
      <p:sp>
        <p:nvSpPr>
          <p:cNvPr id="9" name="guided-step-body-1">
            <a:extLst xmlns:a="http://schemas.openxmlformats.org/drawingml/2006/main">
              <a:ext uri="{FF2B5EF4-FFF2-40B4-BE49-F238E27FC236}">
                <a16:creationId xmlns:a16="http://schemas.microsoft.com/office/drawing/2014/main" id="{51CAAD4B-07FE-4A2E-9375-8C8A0D6C614B}"/>
              </a:ext>
            </a:extLst>
          </p:cNvPr>
          <p:cNvSpPr>
            <a:spLocks xmlns:a="http://schemas.openxmlformats.org/drawingml/2006/main" noGrp="1"/>
          </p:cNvSpPr>
          <p:nvPr/>
        </p:nvSpPr>
        <p:spPr>
          <a:xfrm xmlns:a="http://schemas.openxmlformats.org/drawingml/2006/main">
            <a:off x="8953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identify the communication problem and intended audience.</a:t>
            </a:r>
          </a:p>
        </p:txBody>
      </p:sp>
      <p:sp>
        <p:nvSpPr>
          <p:cNvPr id="10" name="guided-step-2">
            <a:extLst xmlns:a="http://schemas.openxmlformats.org/drawingml/2006/main">
              <a:ext uri="{FF2B5EF4-FFF2-40B4-BE49-F238E27FC236}">
                <a16:creationId xmlns:a16="http://schemas.microsoft.com/office/drawing/2014/main" id="{46B7B802-D250-4F0D-BD7E-9BFE792DE36E}"/>
              </a:ext>
            </a:extLst>
          </p:cNvPr>
          <p:cNvSpPr>
            <a:spLocks xmlns:a="http://schemas.openxmlformats.org/drawingml/2006/main" noGrp="1"/>
          </p:cNvSpPr>
          <p:nvPr/>
        </p:nvSpPr>
        <p:spPr>
          <a:xfrm xmlns:a="http://schemas.openxmlformats.org/drawingml/2006/main">
            <a:off x="3429000" y="2990850"/>
            <a:ext cx="2514600" cy="2095500"/>
          </a:xfrm>
          <a:prstGeom xmlns:a="http://schemas.openxmlformats.org/drawingml/2006/main" prst="roundRect">
            <a:avLst>
              <a:gd name="adj" fmla="val 8182"/>
            </a:avLst>
          </a:prstGeom>
          <a:solidFill xmlns:a="http://schemas.openxmlformats.org/drawingml/2006/main">
            <a:srgbClr val="176046"/>
          </a:solidFill>
          <a:ln xmlns:a="http://schemas.openxmlformats.org/drawingml/2006/main" w="0">
            <a:solidFill>
              <a:srgbClr val="176046"/>
            </a:solidFill>
            <a:prstDash val="solid"/>
          </a:ln>
        </p:spPr>
      </p:sp>
      <p:sp>
        <p:nvSpPr>
          <p:cNvPr id="11" name="guided-step-name-2">
            <a:extLst xmlns:a="http://schemas.openxmlformats.org/drawingml/2006/main">
              <a:ext uri="{FF2B5EF4-FFF2-40B4-BE49-F238E27FC236}">
                <a16:creationId xmlns:a16="http://schemas.microsoft.com/office/drawing/2014/main" id="{1CD6AD41-1A45-4189-9605-FCF2E158AB3B}"/>
              </a:ext>
            </a:extLst>
          </p:cNvPr>
          <p:cNvSpPr>
            <a:spLocks xmlns:a="http://schemas.openxmlformats.org/drawingml/2006/main" noGrp="1"/>
          </p:cNvSpPr>
          <p:nvPr/>
        </p:nvSpPr>
        <p:spPr>
          <a:xfrm xmlns:a="http://schemas.openxmlformats.org/drawingml/2006/main">
            <a:off x="36385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SELECT</a:t>
            </a:r>
          </a:p>
        </p:txBody>
      </p:sp>
      <p:sp>
        <p:nvSpPr>
          <p:cNvPr id="12" name="guided-step-body-2">
            <a:extLst xmlns:a="http://schemas.openxmlformats.org/drawingml/2006/main">
              <a:ext uri="{FF2B5EF4-FFF2-40B4-BE49-F238E27FC236}">
                <a16:creationId xmlns:a16="http://schemas.microsoft.com/office/drawing/2014/main" id="{D93B6EFC-407D-4279-85C6-815FBDEF2568}"/>
              </a:ext>
            </a:extLst>
          </p:cNvPr>
          <p:cNvSpPr>
            <a:spLocks xmlns:a="http://schemas.openxmlformats.org/drawingml/2006/main" noGrp="1"/>
          </p:cNvSpPr>
          <p:nvPr/>
        </p:nvSpPr>
        <p:spPr>
          <a:xfrm xmlns:a="http://schemas.openxmlformats.org/drawingml/2006/main">
            <a:off x="36385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choose relevant image-format, Onshape sketch and legibility ideas.</a:t>
            </a:r>
          </a:p>
        </p:txBody>
      </p:sp>
      <p:sp>
        <p:nvSpPr>
          <p:cNvPr id="13" name="guided-step-3">
            <a:extLst xmlns:a="http://schemas.openxmlformats.org/drawingml/2006/main">
              <a:ext uri="{FF2B5EF4-FFF2-40B4-BE49-F238E27FC236}">
                <a16:creationId xmlns:a16="http://schemas.microsoft.com/office/drawing/2014/main" id="{D86E5187-A74A-4B75-BCCF-DD9C55769D7F}"/>
              </a:ext>
            </a:extLst>
          </p:cNvPr>
          <p:cNvSpPr>
            <a:spLocks xmlns:a="http://schemas.openxmlformats.org/drawingml/2006/main" noGrp="1"/>
          </p:cNvSpPr>
          <p:nvPr/>
        </p:nvSpPr>
        <p:spPr>
          <a:xfrm xmlns:a="http://schemas.openxmlformats.org/drawingml/2006/main">
            <a:off x="6172200" y="2990850"/>
            <a:ext cx="2514600" cy="2095500"/>
          </a:xfrm>
          <a:prstGeom xmlns:a="http://schemas.openxmlformats.org/drawingml/2006/main" prst="roundRect">
            <a:avLst>
              <a:gd name="adj" fmla="val 8182"/>
            </a:avLst>
          </a:prstGeom>
          <a:solidFill xmlns:a="http://schemas.openxmlformats.org/drawingml/2006/main">
            <a:srgbClr val="113F30"/>
          </a:solidFill>
          <a:ln xmlns:a="http://schemas.openxmlformats.org/drawingml/2006/main" w="0">
            <a:solidFill>
              <a:srgbClr val="113F30"/>
            </a:solidFill>
            <a:prstDash val="solid"/>
          </a:ln>
        </p:spPr>
      </p:sp>
      <p:sp>
        <p:nvSpPr>
          <p:cNvPr id="14" name="guided-step-name-3">
            <a:extLst xmlns:a="http://schemas.openxmlformats.org/drawingml/2006/main">
              <a:ext uri="{FF2B5EF4-FFF2-40B4-BE49-F238E27FC236}">
                <a16:creationId xmlns:a16="http://schemas.microsoft.com/office/drawing/2014/main" id="{F1320191-C50A-4B12-9BCA-0BB027557DD4}"/>
              </a:ext>
            </a:extLst>
          </p:cNvPr>
          <p:cNvSpPr>
            <a:spLocks xmlns:a="http://schemas.openxmlformats.org/drawingml/2006/main" noGrp="1"/>
          </p:cNvSpPr>
          <p:nvPr/>
        </p:nvSpPr>
        <p:spPr>
          <a:xfrm xmlns:a="http://schemas.openxmlformats.org/drawingml/2006/main">
            <a:off x="63817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EXPLAIN</a:t>
            </a:r>
          </a:p>
        </p:txBody>
      </p:sp>
      <p:sp>
        <p:nvSpPr>
          <p:cNvPr id="15" name="guided-step-body-3">
            <a:extLst xmlns:a="http://schemas.openxmlformats.org/drawingml/2006/main">
              <a:ext uri="{FF2B5EF4-FFF2-40B4-BE49-F238E27FC236}">
                <a16:creationId xmlns:a16="http://schemas.microsoft.com/office/drawing/2014/main" id="{5543882A-18C8-4725-8FD1-9F7B5537FCE5}"/>
              </a:ext>
            </a:extLst>
          </p:cNvPr>
          <p:cNvSpPr>
            <a:spLocks xmlns:a="http://schemas.openxmlformats.org/drawingml/2006/main" noGrp="1"/>
          </p:cNvSpPr>
          <p:nvPr/>
        </p:nvSpPr>
        <p:spPr>
          <a:xfrm xmlns:a="http://schemas.openxmlformats.org/drawingml/2006/main">
            <a:off x="63817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link each revision to a criterion and user effect.</a:t>
            </a:r>
          </a:p>
        </p:txBody>
      </p:sp>
      <p:sp>
        <p:nvSpPr>
          <p:cNvPr id="16" name="guided-step-4">
            <a:extLst xmlns:a="http://schemas.openxmlformats.org/drawingml/2006/main">
              <a:ext uri="{FF2B5EF4-FFF2-40B4-BE49-F238E27FC236}">
                <a16:creationId xmlns:a16="http://schemas.microsoft.com/office/drawing/2014/main" id="{9B717601-D114-4D7E-BF7F-4CA4131B0547}"/>
              </a:ext>
            </a:extLst>
          </p:cNvPr>
          <p:cNvSpPr>
            <a:spLocks xmlns:a="http://schemas.openxmlformats.org/drawingml/2006/main" noGrp="1"/>
          </p:cNvSpPr>
          <p:nvPr/>
        </p:nvSpPr>
        <p:spPr>
          <a:xfrm xmlns:a="http://schemas.openxmlformats.org/drawingml/2006/main">
            <a:off x="8915400" y="2990850"/>
            <a:ext cx="2514600" cy="2095500"/>
          </a:xfrm>
          <a:prstGeom xmlns:a="http://schemas.openxmlformats.org/drawingml/2006/main" prst="roundRect">
            <a:avLst>
              <a:gd name="adj" fmla="val 8182"/>
            </a:avLst>
          </a:prstGeom>
          <a:solidFill xmlns:a="http://schemas.openxmlformats.org/drawingml/2006/main">
            <a:srgbClr val="176046"/>
          </a:solidFill>
          <a:ln xmlns:a="http://schemas.openxmlformats.org/drawingml/2006/main" w="0">
            <a:solidFill>
              <a:srgbClr val="176046"/>
            </a:solidFill>
            <a:prstDash val="solid"/>
          </a:ln>
        </p:spPr>
      </p:sp>
      <p:sp>
        <p:nvSpPr>
          <p:cNvPr id="17" name="guided-step-name-4">
            <a:extLst xmlns:a="http://schemas.openxmlformats.org/drawingml/2006/main">
              <a:ext uri="{FF2B5EF4-FFF2-40B4-BE49-F238E27FC236}">
                <a16:creationId xmlns:a16="http://schemas.microsoft.com/office/drawing/2014/main" id="{90E32EE1-0020-4C2E-AE43-CC03585949AB}"/>
              </a:ext>
            </a:extLst>
          </p:cNvPr>
          <p:cNvSpPr>
            <a:spLocks xmlns:a="http://schemas.openxmlformats.org/drawingml/2006/main" noGrp="1"/>
          </p:cNvSpPr>
          <p:nvPr/>
        </p:nvSpPr>
        <p:spPr>
          <a:xfrm xmlns:a="http://schemas.openxmlformats.org/drawingml/2006/main">
            <a:off x="91249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CHECK</a:t>
            </a:r>
          </a:p>
        </p:txBody>
      </p:sp>
      <p:sp>
        <p:nvSpPr>
          <p:cNvPr id="18" name="guided-step-body-4">
            <a:extLst xmlns:a="http://schemas.openxmlformats.org/drawingml/2006/main">
              <a:ext uri="{FF2B5EF4-FFF2-40B4-BE49-F238E27FC236}">
                <a16:creationId xmlns:a16="http://schemas.microsoft.com/office/drawing/2014/main" id="{92722BE7-42CF-4547-907A-5AC8188AE2DF}"/>
              </a:ext>
            </a:extLst>
          </p:cNvPr>
          <p:cNvSpPr>
            <a:spLocks xmlns:a="http://schemas.openxmlformats.org/drawingml/2006/main" noGrp="1"/>
          </p:cNvSpPr>
          <p:nvPr/>
        </p:nvSpPr>
        <p:spPr>
          <a:xfrm xmlns:a="http://schemas.openxmlformats.org/drawingml/2006/main">
            <a:off x="91249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show how feedback will confirm or challenge the revision.</a:t>
            </a:r>
          </a:p>
        </p:txBody>
      </p:sp>
      <p:sp>
        <p:nvSpPr>
          <p:cNvPr id="19" name="guided-sentence">
            <a:extLst xmlns:a="http://schemas.openxmlformats.org/drawingml/2006/main">
              <a:ext uri="{FF2B5EF4-FFF2-40B4-BE49-F238E27FC236}">
                <a16:creationId xmlns:a16="http://schemas.microsoft.com/office/drawing/2014/main" id="{4A2FF989-2C4A-4B87-82CC-9D61DCB91B6C}"/>
              </a:ext>
            </a:extLst>
          </p:cNvPr>
          <p:cNvSpPr>
            <a:spLocks xmlns:a="http://schemas.openxmlformats.org/drawingml/2006/main" noGrp="1"/>
          </p:cNvSpPr>
          <p:nvPr/>
        </p:nvSpPr>
        <p:spPr>
          <a:xfrm xmlns:a="http://schemas.openxmlformats.org/drawingml/2006/main">
            <a:off x="685800" y="539115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B84932"/>
                </a:solidFill>
              </a:defRPr>
            </a:pPr>
            <a:r>
              <a:rPr sz="1500" b="1">
                <a:solidFill>
                  <a:srgbClr val="B84932"/>
                </a:solidFill>
              </a:rPr>
              <a:t>Sentence support: The strongest evidence is ___ because ___. This means ___. Before practical work, ___ still needs teacher confirmation.</a:t>
            </a:r>
          </a:p>
        </p:txBody>
      </p:sp>
      <p:sp>
        <p:nvSpPr>
          <p:cNvPr id="20" name="footer-rule-7">
            <a:extLst xmlns:a="http://schemas.openxmlformats.org/drawingml/2006/main">
              <a:ext uri="{FF2B5EF4-FFF2-40B4-BE49-F238E27FC236}">
                <a16:creationId xmlns:a16="http://schemas.microsoft.com/office/drawing/2014/main" id="{E5A72E69-859E-414E-B110-138CC78DDCDD}"/>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21" name="footer-label-7">
            <a:extLst xmlns:a="http://schemas.openxmlformats.org/drawingml/2006/main">
              <a:ext uri="{FF2B5EF4-FFF2-40B4-BE49-F238E27FC236}">
                <a16:creationId xmlns:a16="http://schemas.microsoft.com/office/drawing/2014/main" id="{BD9025E1-7614-4ABA-AE74-16CDDED115B2}"/>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2</a:t>
            </a:r>
          </a:p>
        </p:txBody>
      </p:sp>
      <p:sp>
        <p:nvSpPr>
          <p:cNvPr id="22" name="footer-page-7">
            <a:extLst xmlns:a="http://schemas.openxmlformats.org/drawingml/2006/main">
              <a:ext uri="{FF2B5EF4-FFF2-40B4-BE49-F238E27FC236}">
                <a16:creationId xmlns:a16="http://schemas.microsoft.com/office/drawing/2014/main" id="{5A15C23C-E2FD-47ED-92C3-C3341DEED4CA}"/>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7 / 8</a:t>
            </a:r>
          </a:p>
        </p:txBody>
      </p:sp>
    </p:spTree>
    <p:extLst>
      <p:ext uri="{BB962C8B-B14F-4D97-AF65-F5344CB8AC3E}">
        <p14:creationId xmlns:p14="http://schemas.microsoft.com/office/powerpoint/2010/main" val="888905261"/>
      </p:ext>
    </p:extLst>
  </p:cSld>
</p:sld>
</file>

<file path=ppt/slides/slide8.xml><?xml version="1.0" encoding="utf-8"?>
<p:sld xmlns:p="http://schemas.openxmlformats.org/presentationml/2006/main">
  <p:cSld>
    <p:bg>
      <p:bgPr>
        <a:solidFill xmlns:a="http://schemas.openxmlformats.org/drawingml/2006/main">
          <a:srgbClr val="B84932"/>
        </a:solidFill>
      </p:bgPr>
    </p:bg>
    <p:spTree>
      <p:nvGrpSpPr>
        <p:cNvPr id="1" name=""/>
        <p:cNvGrpSpPr/>
        <p:nvPr/>
      </p:nvGrpSpPr>
      <p:grpSpPr>
        <a:xfrm xmlns:a="http://schemas.openxmlformats.org/drawingml/2006/main"/>
      </p:grpSpPr>
      <p:sp>
        <p:nvSpPr>
          <p:cNvPr id="18" name="exit-accent">
            <a:extLst xmlns:a="http://schemas.openxmlformats.org/drawingml/2006/main">
              <a:ext uri="{FF2B5EF4-FFF2-40B4-BE49-F238E27FC236}">
                <a16:creationId xmlns:a16="http://schemas.microsoft.com/office/drawing/2014/main" id="{2459554F-4CEE-4459-9289-C24436A02CB5}"/>
              </a:ext>
            </a:extLst>
          </p:cNvPr>
          <p:cNvSpPr>
            <a:spLocks xmlns:a="http://schemas.openxmlformats.org/drawingml/2006/main" noGrp="1"/>
          </p:cNvSpPr>
          <p:nvPr/>
        </p:nvSpPr>
        <p:spPr>
          <a:xfrm xmlns:a="http://schemas.openxmlformats.org/drawingml/2006/main">
            <a:off x="685800" y="53340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exit-kicker">
            <a:extLst xmlns:a="http://schemas.openxmlformats.org/drawingml/2006/main">
              <a:ext uri="{FF2B5EF4-FFF2-40B4-BE49-F238E27FC236}">
                <a16:creationId xmlns:a16="http://schemas.microsoft.com/office/drawing/2014/main" id="{E93FB283-BF6D-4A68-B7DB-808CE248BE42}"/>
              </a:ext>
            </a:extLst>
          </p:cNvPr>
          <p:cNvSpPr>
            <a:spLocks xmlns:a="http://schemas.openxmlformats.org/drawingml/2006/main" noGrp="1"/>
          </p:cNvSpPr>
          <p:nvPr/>
        </p:nvSpPr>
        <p:spPr>
          <a:xfrm xmlns:a="http://schemas.openxmlformats.org/drawingml/2006/main">
            <a:off x="685800" y="828675"/>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E6D9"/>
                </a:solidFill>
              </a:defRPr>
            </a:pPr>
            <a:r>
              <a:rPr sz="1125" b="1">
                <a:solidFill>
                  <a:srgbClr val="FFE6D9"/>
                </a:solidFill>
              </a:rPr>
              <a:t>MODULE 2  •  EXIT EVIDENCE</a:t>
            </a:r>
          </a:p>
        </p:txBody>
      </p:sp>
      <p:sp>
        <p:nvSpPr>
          <p:cNvPr id="3" name="exit-title">
            <a:extLst xmlns:a="http://schemas.openxmlformats.org/drawingml/2006/main">
              <a:ext uri="{FF2B5EF4-FFF2-40B4-BE49-F238E27FC236}">
                <a16:creationId xmlns:a16="http://schemas.microsoft.com/office/drawing/2014/main" id="{4FF454A2-4421-40CC-978D-4304E848107F}"/>
              </a:ext>
            </a:extLst>
          </p:cNvPr>
          <p:cNvSpPr>
            <a:spLocks xmlns:a="http://schemas.openxmlformats.org/drawingml/2006/main" noGrp="1"/>
          </p:cNvSpPr>
          <p:nvPr/>
        </p:nvSpPr>
        <p:spPr>
          <a:xfrm xmlns:a="http://schemas.openxmlformats.org/drawingml/2006/main">
            <a:off x="685800" y="1219200"/>
            <a:ext cx="714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you pack up…</a:t>
            </a:r>
          </a:p>
        </p:txBody>
      </p:sp>
      <p:sp>
        <p:nvSpPr>
          <p:cNvPr id="4" name="exit-row-1">
            <a:extLst xmlns:a="http://schemas.openxmlformats.org/drawingml/2006/main">
              <a:ext uri="{FF2B5EF4-FFF2-40B4-BE49-F238E27FC236}">
                <a16:creationId xmlns:a16="http://schemas.microsoft.com/office/drawing/2014/main" id="{91BCBF6A-D156-4E1E-BD69-C913F2B3399D}"/>
              </a:ext>
            </a:extLst>
          </p:cNvPr>
          <p:cNvSpPr>
            <a:spLocks xmlns:a="http://schemas.openxmlformats.org/drawingml/2006/main" noGrp="1"/>
          </p:cNvSpPr>
          <p:nvPr/>
        </p:nvSpPr>
        <p:spPr>
          <a:xfrm xmlns:a="http://schemas.openxmlformats.org/drawingml/2006/main">
            <a:off x="685800" y="219075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5" name="exit-number-1">
            <a:extLst xmlns:a="http://schemas.openxmlformats.org/drawingml/2006/main">
              <a:ext uri="{FF2B5EF4-FFF2-40B4-BE49-F238E27FC236}">
                <a16:creationId xmlns:a16="http://schemas.microsoft.com/office/drawing/2014/main" id="{FF7919E8-B2D7-457D-8813-82B2E0E1940E}"/>
              </a:ext>
            </a:extLst>
          </p:cNvPr>
          <p:cNvSpPr>
            <a:spLocks xmlns:a="http://schemas.openxmlformats.org/drawingml/2006/main" noGrp="1"/>
          </p:cNvSpPr>
          <p:nvPr/>
        </p:nvSpPr>
        <p:spPr>
          <a:xfrm xmlns:a="http://schemas.openxmlformats.org/drawingml/2006/main">
            <a:off x="895350" y="23431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1</a:t>
            </a:r>
          </a:p>
        </p:txBody>
      </p:sp>
      <p:sp>
        <p:nvSpPr>
          <p:cNvPr id="6" name="exit-prompt-1">
            <a:extLst xmlns:a="http://schemas.openxmlformats.org/drawingml/2006/main">
              <a:ext uri="{FF2B5EF4-FFF2-40B4-BE49-F238E27FC236}">
                <a16:creationId xmlns:a16="http://schemas.microsoft.com/office/drawing/2014/main" id="{F6CA56A8-177B-4CA7-9B13-418530033716}"/>
              </a:ext>
            </a:extLst>
          </p:cNvPr>
          <p:cNvSpPr>
            <a:spLocks xmlns:a="http://schemas.openxmlformats.org/drawingml/2006/main" noGrp="1"/>
          </p:cNvSpPr>
          <p:nvPr/>
        </p:nvSpPr>
        <p:spPr>
          <a:xfrm xmlns:a="http://schemas.openxmlformats.org/drawingml/2006/main">
            <a:off x="1466850" y="233362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idea I can now explain is…</a:t>
            </a:r>
          </a:p>
        </p:txBody>
      </p:sp>
      <p:sp>
        <p:nvSpPr>
          <p:cNvPr id="7" name="exit-row-2">
            <a:extLst xmlns:a="http://schemas.openxmlformats.org/drawingml/2006/main">
              <a:ext uri="{FF2B5EF4-FFF2-40B4-BE49-F238E27FC236}">
                <a16:creationId xmlns:a16="http://schemas.microsoft.com/office/drawing/2014/main" id="{3C5CCD5C-9811-4F9A-A345-B16AD770F3ED}"/>
              </a:ext>
            </a:extLst>
          </p:cNvPr>
          <p:cNvSpPr>
            <a:spLocks xmlns:a="http://schemas.openxmlformats.org/drawingml/2006/main" noGrp="1"/>
          </p:cNvSpPr>
          <p:nvPr/>
        </p:nvSpPr>
        <p:spPr>
          <a:xfrm xmlns:a="http://schemas.openxmlformats.org/drawingml/2006/main">
            <a:off x="685800" y="308610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8" name="exit-number-2">
            <a:extLst xmlns:a="http://schemas.openxmlformats.org/drawingml/2006/main">
              <a:ext uri="{FF2B5EF4-FFF2-40B4-BE49-F238E27FC236}">
                <a16:creationId xmlns:a16="http://schemas.microsoft.com/office/drawing/2014/main" id="{D8D33F5C-1BD6-49E1-A5C1-05C6F1067162}"/>
              </a:ext>
            </a:extLst>
          </p:cNvPr>
          <p:cNvSpPr>
            <a:spLocks xmlns:a="http://schemas.openxmlformats.org/drawingml/2006/main" noGrp="1"/>
          </p:cNvSpPr>
          <p:nvPr/>
        </p:nvSpPr>
        <p:spPr>
          <a:xfrm xmlns:a="http://schemas.openxmlformats.org/drawingml/2006/main">
            <a:off x="895350" y="3238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2</a:t>
            </a:r>
          </a:p>
        </p:txBody>
      </p:sp>
      <p:sp>
        <p:nvSpPr>
          <p:cNvPr id="9" name="exit-prompt-2">
            <a:extLst xmlns:a="http://schemas.openxmlformats.org/drawingml/2006/main">
              <a:ext uri="{FF2B5EF4-FFF2-40B4-BE49-F238E27FC236}">
                <a16:creationId xmlns:a16="http://schemas.microsoft.com/office/drawing/2014/main" id="{6DFBC5B1-6497-448D-9F7F-603F2768E513}"/>
              </a:ext>
            </a:extLst>
          </p:cNvPr>
          <p:cNvSpPr>
            <a:spLocks xmlns:a="http://schemas.openxmlformats.org/drawingml/2006/main" noGrp="1"/>
          </p:cNvSpPr>
          <p:nvPr/>
        </p:nvSpPr>
        <p:spPr>
          <a:xfrm xmlns:a="http://schemas.openxmlformats.org/drawingml/2006/main">
            <a:off x="1466850" y="322897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design or production decision this changes is…</a:t>
            </a:r>
          </a:p>
        </p:txBody>
      </p:sp>
      <p:sp>
        <p:nvSpPr>
          <p:cNvPr id="10" name="exit-row-3">
            <a:extLst xmlns:a="http://schemas.openxmlformats.org/drawingml/2006/main">
              <a:ext uri="{FF2B5EF4-FFF2-40B4-BE49-F238E27FC236}">
                <a16:creationId xmlns:a16="http://schemas.microsoft.com/office/drawing/2014/main" id="{05A8B075-893D-488B-8F9F-2E96F271A87B}"/>
              </a:ext>
            </a:extLst>
          </p:cNvPr>
          <p:cNvSpPr>
            <a:spLocks xmlns:a="http://schemas.openxmlformats.org/drawingml/2006/main" noGrp="1"/>
          </p:cNvSpPr>
          <p:nvPr/>
        </p:nvSpPr>
        <p:spPr>
          <a:xfrm xmlns:a="http://schemas.openxmlformats.org/drawingml/2006/main">
            <a:off x="685800" y="398145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11" name="exit-number-3">
            <a:extLst xmlns:a="http://schemas.openxmlformats.org/drawingml/2006/main">
              <a:ext uri="{FF2B5EF4-FFF2-40B4-BE49-F238E27FC236}">
                <a16:creationId xmlns:a16="http://schemas.microsoft.com/office/drawing/2014/main" id="{E75081D3-CC6F-4950-93F3-60B2C4643D0B}"/>
              </a:ext>
            </a:extLst>
          </p:cNvPr>
          <p:cNvSpPr>
            <a:spLocks xmlns:a="http://schemas.openxmlformats.org/drawingml/2006/main" noGrp="1"/>
          </p:cNvSpPr>
          <p:nvPr/>
        </p:nvSpPr>
        <p:spPr>
          <a:xfrm xmlns:a="http://schemas.openxmlformats.org/drawingml/2006/main">
            <a:off x="895350" y="41338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3</a:t>
            </a:r>
          </a:p>
        </p:txBody>
      </p:sp>
      <p:sp>
        <p:nvSpPr>
          <p:cNvPr id="12" name="exit-prompt-3">
            <a:extLst xmlns:a="http://schemas.openxmlformats.org/drawingml/2006/main">
              <a:ext uri="{FF2B5EF4-FFF2-40B4-BE49-F238E27FC236}">
                <a16:creationId xmlns:a16="http://schemas.microsoft.com/office/drawing/2014/main" id="{CE36630E-B09D-4A7C-8936-9BE0C4553233}"/>
              </a:ext>
            </a:extLst>
          </p:cNvPr>
          <p:cNvSpPr>
            <a:spLocks xmlns:a="http://schemas.openxmlformats.org/drawingml/2006/main" noGrp="1"/>
          </p:cNvSpPr>
          <p:nvPr/>
        </p:nvSpPr>
        <p:spPr>
          <a:xfrm xmlns:a="http://schemas.openxmlformats.org/drawingml/2006/main">
            <a:off x="1466850" y="412432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question I still need answered is…</a:t>
            </a:r>
          </a:p>
        </p:txBody>
      </p:sp>
      <p:sp>
        <p:nvSpPr>
          <p:cNvPr id="13" name="exit-evidence-circle">
            <a:extLst xmlns:a="http://schemas.openxmlformats.org/drawingml/2006/main">
              <a:ext uri="{FF2B5EF4-FFF2-40B4-BE49-F238E27FC236}">
                <a16:creationId xmlns:a16="http://schemas.microsoft.com/office/drawing/2014/main" id="{0BCD4642-26EE-4269-A3BD-46A13465F42D}"/>
              </a:ext>
            </a:extLst>
          </p:cNvPr>
          <p:cNvSpPr>
            <a:spLocks xmlns:a="http://schemas.openxmlformats.org/drawingml/2006/main" noGrp="1"/>
          </p:cNvSpPr>
          <p:nvPr/>
        </p:nvSpPr>
        <p:spPr>
          <a:xfrm xmlns:a="http://schemas.openxmlformats.org/drawingml/2006/main">
            <a:off x="9525000" y="2476500"/>
            <a:ext cx="1600200" cy="16002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4" name="exit-evidence-label">
            <a:extLst xmlns:a="http://schemas.openxmlformats.org/drawingml/2006/main">
              <a:ext uri="{FF2B5EF4-FFF2-40B4-BE49-F238E27FC236}">
                <a16:creationId xmlns:a16="http://schemas.microsoft.com/office/drawing/2014/main" id="{47FCF75E-5F54-4EBD-B18C-452C841DB65D}"/>
              </a:ext>
            </a:extLst>
          </p:cNvPr>
          <p:cNvSpPr>
            <a:spLocks xmlns:a="http://schemas.openxmlformats.org/drawingml/2006/main" noGrp="1"/>
          </p:cNvSpPr>
          <p:nvPr/>
        </p:nvSpPr>
        <p:spPr>
          <a:xfrm xmlns:a="http://schemas.openxmlformats.org/drawingml/2006/main">
            <a:off x="9744075" y="2819400"/>
            <a:ext cx="11620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13F30"/>
                </a:solidFill>
              </a:defRPr>
            </a:pPr>
            <a:r>
              <a:rPr sz="1725" b="1">
                <a:solidFill>
                  <a:srgbClr val="113F30"/>
                </a:solidFill>
              </a:rPr>
              <a:t>SAVE</a:t>
            </a:r>
          </a:p>
          <a:p xmlns:a="http://schemas.openxmlformats.org/drawingml/2006/main">
            <a:pPr algn="ctr">
              <a:defRPr sz="1725" b="1">
                <a:solidFill>
                  <a:srgbClr val="113F30"/>
                </a:solidFill>
              </a:defRPr>
            </a:pPr>
            <a:r>
              <a:rPr sz="1725" b="1">
                <a:solidFill>
                  <a:srgbClr val="113F30"/>
                </a:solidFill>
              </a:rPr>
              <a:t>YOUR</a:t>
            </a:r>
          </a:p>
          <a:p xmlns:a="http://schemas.openxmlformats.org/drawingml/2006/main">
            <a:pPr algn="ctr">
              <a:defRPr sz="1725" b="1">
                <a:solidFill>
                  <a:srgbClr val="113F30"/>
                </a:solidFill>
              </a:defRPr>
            </a:pPr>
            <a:r>
              <a:rPr sz="1725" b="1">
                <a:solidFill>
                  <a:srgbClr val="113F30"/>
                </a:solidFill>
              </a:rPr>
              <a:t>EVIDENCE</a:t>
            </a:r>
          </a:p>
        </p:txBody>
      </p:sp>
      <p:sp>
        <p:nvSpPr>
          <p:cNvPr id="15" name="exit-folio">
            <a:extLst xmlns:a="http://schemas.openxmlformats.org/drawingml/2006/main">
              <a:ext uri="{FF2B5EF4-FFF2-40B4-BE49-F238E27FC236}">
                <a16:creationId xmlns:a16="http://schemas.microsoft.com/office/drawing/2014/main" id="{3AAF7720-CBC2-4489-AF11-B811C854FDCF}"/>
              </a:ext>
            </a:extLst>
          </p:cNvPr>
          <p:cNvSpPr>
            <a:spLocks xmlns:a="http://schemas.openxmlformats.org/drawingml/2006/main" noGrp="1"/>
          </p:cNvSpPr>
          <p:nvPr/>
        </p:nvSpPr>
        <p:spPr>
          <a:xfrm xmlns:a="http://schemas.openxmlformats.org/drawingml/2006/main">
            <a:off x="685800" y="521017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My folio cards 4–5: Concept options; Final proposal and annotations.</a:t>
            </a:r>
          </a:p>
        </p:txBody>
      </p:sp>
      <p:sp>
        <p:nvSpPr>
          <p:cNvPr id="16" name="exit-next">
            <a:extLst xmlns:a="http://schemas.openxmlformats.org/drawingml/2006/main">
              <a:ext uri="{FF2B5EF4-FFF2-40B4-BE49-F238E27FC236}">
                <a16:creationId xmlns:a16="http://schemas.microsoft.com/office/drawing/2014/main" id="{F825798D-1D02-4486-ABE4-E5069EDD01B2}"/>
              </a:ext>
            </a:extLst>
          </p:cNvPr>
          <p:cNvSpPr>
            <a:spLocks xmlns:a="http://schemas.openxmlformats.org/drawingml/2006/main" noGrp="1"/>
          </p:cNvSpPr>
          <p:nvPr/>
        </p:nvSpPr>
        <p:spPr>
          <a:xfrm xmlns:a="http://schemas.openxmlformats.org/drawingml/2006/main">
            <a:off x="685800" y="581025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E6D9"/>
                </a:solidFill>
              </a:defRPr>
            </a:pPr>
            <a:r>
              <a:rPr sz="1425" b="0">
                <a:solidFill>
                  <a:srgbClr val="FFE6D9"/>
                </a:solidFill>
              </a:rPr>
              <a:t>Next: turn the developed concept into a resource-aware proposal for teacher approval.</a:t>
            </a:r>
          </a:p>
        </p:txBody>
      </p:sp>
      <p:sp>
        <p:nvSpPr>
          <p:cNvPr id="17" name="exit-page">
            <a:extLst xmlns:a="http://schemas.openxmlformats.org/drawingml/2006/main">
              <a:ext uri="{FF2B5EF4-FFF2-40B4-BE49-F238E27FC236}">
                <a16:creationId xmlns:a16="http://schemas.microsoft.com/office/drawing/2014/main" id="{6B5DF69E-6D38-41B2-8C62-90080A03BBCA}"/>
              </a:ext>
            </a:extLst>
          </p:cNvPr>
          <p:cNvSpPr>
            <a:spLocks xmlns:a="http://schemas.openxmlformats.org/drawingml/2006/main" noGrp="1"/>
          </p:cNvSpPr>
          <p:nvPr/>
        </p:nvSpPr>
        <p:spPr>
          <a:xfrm xmlns:a="http://schemas.openxmlformats.org/drawingml/2006/main">
            <a:off x="10744200" y="641985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E6D9"/>
                </a:solidFill>
              </a:defRPr>
            </a:pPr>
            <a:r>
              <a:rPr sz="900" b="1">
                <a:solidFill>
                  <a:srgbClr val="FFE6D9"/>
                </a:solidFill>
              </a:rPr>
              <a:t>8 / 8</a:t>
            </a:r>
          </a:p>
        </p:txBody>
      </p:sp>
    </p:spTree>
    <p:extLst>
      <p:ext uri="{BB962C8B-B14F-4D97-AF65-F5344CB8AC3E}">
        <p14:creationId xmlns:p14="http://schemas.microsoft.com/office/powerpoint/2010/main" val="1365848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2026-08-31T23:37:09.7730000Z</dcterms:created>
  <dcterms:modified xsi:type="dcterms:W3CDTF">2026-08-31T23:37:09.7730000Z</dcterms:modified>
</coreProperties>
</file>