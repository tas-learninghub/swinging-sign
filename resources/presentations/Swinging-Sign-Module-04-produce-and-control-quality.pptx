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135e7c1b6854fc5" /><Relationship Type="http://schemas.openxmlformats.org/officeDocument/2006/relationships/extended-properties" Target="/docProps/app.xml" Id="R16ac636958044c7d" /><Relationship Type="http://schemas.openxmlformats.org/officeDocument/2006/relationships/officeDocument" Target="/ppt/presentation.xml" Id="Re573c9ef209c4911" /></Relationships>
</file>

<file path=ppt/presentation.xml><?xml version="1.0" encoding="utf-8"?>
<p:presentation xmlns:p="http://schemas.openxmlformats.org/presentationml/2006/main">
  <p:sldMasterIdLst>
    <p:sldMasterId xmlns:r="http://schemas.openxmlformats.org/officeDocument/2006/relationships" id="2147483648" r:id="Re3437b868125402a"/>
  </p:sldMasterIdLst>
  <p:notesMasterIdLst>
    <p:notesMasterId xmlns:r="http://schemas.openxmlformats.org/officeDocument/2006/relationships" r:id="Rb494a2109c1f4e1b"/>
  </p:notesMasterIdLst>
  <p:sldIdLst>
    <p:sldId xmlns:r="http://schemas.openxmlformats.org/officeDocument/2006/relationships" id="256" r:id="Rfdf8c447c18449a2"/>
    <p:sldId xmlns:r="http://schemas.openxmlformats.org/officeDocument/2006/relationships" id="257" r:id="R0c5a28746de149fe"/>
    <p:sldId xmlns:r="http://schemas.openxmlformats.org/officeDocument/2006/relationships" id="258" r:id="R85b032a0939240c8"/>
    <p:sldId xmlns:r="http://schemas.openxmlformats.org/officeDocument/2006/relationships" id="259" r:id="Rd65023c3185b4aaf"/>
    <p:sldId xmlns:r="http://schemas.openxmlformats.org/officeDocument/2006/relationships" id="260" r:id="Rac0ffa09b5f641b0"/>
    <p:sldId xmlns:r="http://schemas.openxmlformats.org/officeDocument/2006/relationships" id="261" r:id="R8efb18f929544d30"/>
    <p:sldId xmlns:r="http://schemas.openxmlformats.org/officeDocument/2006/relationships" id="262" r:id="Rfcc6088e2db5445b"/>
    <p:sldId xmlns:r="http://schemas.openxmlformats.org/officeDocument/2006/relationships" id="263" r:id="R9246b3414daf4d1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0465b6ca4f84fa3" /><Relationship Type="http://schemas.openxmlformats.org/officeDocument/2006/relationships/slideMaster" Target="/ppt/slideMasters/slideMaster1.xml" Id="Re3437b868125402a" /><Relationship Type="http://schemas.openxmlformats.org/officeDocument/2006/relationships/notesMaster" Target="/ppt/notesMasters/notesMaster1.xml" Id="Rb494a2109c1f4e1b" /><Relationship Type="http://schemas.openxmlformats.org/officeDocument/2006/relationships/presProps" Target="/ppt/presProps.xml" Id="R078acbf9c5fe4aee" /><Relationship Type="http://schemas.openxmlformats.org/officeDocument/2006/relationships/tableStyles" Target="/ppt/tableStyles.xml" Id="R59fbd3d3728f4bed" /><Relationship Type="http://schemas.openxmlformats.org/officeDocument/2006/relationships/slide" Target="/ppt/slides/slide1.xml" Id="Rfdf8c447c18449a2" /><Relationship Type="http://schemas.openxmlformats.org/officeDocument/2006/relationships/slide" Target="/ppt/slides/slide2.xml" Id="R0c5a28746de149fe" /><Relationship Type="http://schemas.openxmlformats.org/officeDocument/2006/relationships/slide" Target="/ppt/slides/slide3.xml" Id="R85b032a0939240c8" /><Relationship Type="http://schemas.openxmlformats.org/officeDocument/2006/relationships/slide" Target="/ppt/slides/slide4.xml" Id="Rd65023c3185b4aaf" /><Relationship Type="http://schemas.openxmlformats.org/officeDocument/2006/relationships/slide" Target="/ppt/slides/slide5.xml" Id="Rac0ffa09b5f641b0" /><Relationship Type="http://schemas.openxmlformats.org/officeDocument/2006/relationships/slide" Target="/ppt/slides/slide6.xml" Id="R8efb18f929544d30" /><Relationship Type="http://schemas.openxmlformats.org/officeDocument/2006/relationships/slide" Target="/ppt/slides/slide7.xml" Id="Rfcc6088e2db5445b" /><Relationship Type="http://schemas.openxmlformats.org/officeDocument/2006/relationships/slide" Target="/ppt/slides/slide8.xml" Id="R9246b3414daf4d1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c2d9ef9eb53476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3c0612fcc2e460b" /><Relationship Type="http://schemas.openxmlformats.org/officeDocument/2006/relationships/notesMaster" Target="/ppt/notesMasters/notesMaster1.xml" Id="R07ed710ea4ea4624" /></Relationships>
</file>

<file path=ppt/notesSlides/_rels/notesSlide2.xml.rels>&#65279;<?xml version="1.0" encoding="utf-8"?><Relationships xmlns="http://schemas.openxmlformats.org/package/2006/relationships"><Relationship Type="http://schemas.openxmlformats.org/officeDocument/2006/relationships/slide" Target="/ppt/slides/slide2.xml" Id="Rfbfaa4242de343ef" /><Relationship Type="http://schemas.openxmlformats.org/officeDocument/2006/relationships/notesMaster" Target="/ppt/notesMasters/notesMaster1.xml" Id="R6913b612d3e244c6" /></Relationships>
</file>

<file path=ppt/notesSlides/_rels/notesSlide3.xml.rels>&#65279;<?xml version="1.0" encoding="utf-8"?><Relationships xmlns="http://schemas.openxmlformats.org/package/2006/relationships"><Relationship Type="http://schemas.openxmlformats.org/officeDocument/2006/relationships/slide" Target="/ppt/slides/slide3.xml" Id="R5cfe78bc23b44c12" /><Relationship Type="http://schemas.openxmlformats.org/officeDocument/2006/relationships/notesMaster" Target="/ppt/notesMasters/notesMaster1.xml" Id="Rb6088e2b53194c9d" /></Relationships>
</file>

<file path=ppt/notesSlides/_rels/notesSlide4.xml.rels>&#65279;<?xml version="1.0" encoding="utf-8"?><Relationships xmlns="http://schemas.openxmlformats.org/package/2006/relationships"><Relationship Type="http://schemas.openxmlformats.org/officeDocument/2006/relationships/slide" Target="/ppt/slides/slide4.xml" Id="R5cbe10fc32404349" /><Relationship Type="http://schemas.openxmlformats.org/officeDocument/2006/relationships/notesMaster" Target="/ppt/notesMasters/notesMaster1.xml" Id="R23d806153de142f1" /></Relationships>
</file>

<file path=ppt/notesSlides/_rels/notesSlide5.xml.rels>&#65279;<?xml version="1.0" encoding="utf-8"?><Relationships xmlns="http://schemas.openxmlformats.org/package/2006/relationships"><Relationship Type="http://schemas.openxmlformats.org/officeDocument/2006/relationships/slide" Target="/ppt/slides/slide5.xml" Id="Red934c5bbc4c4f1e" /><Relationship Type="http://schemas.openxmlformats.org/officeDocument/2006/relationships/notesMaster" Target="/ppt/notesMasters/notesMaster1.xml" Id="Rda2ab37ed3254cc8" /></Relationships>
</file>

<file path=ppt/notesSlides/_rels/notesSlide6.xml.rels>&#65279;<?xml version="1.0" encoding="utf-8"?><Relationships xmlns="http://schemas.openxmlformats.org/package/2006/relationships"><Relationship Type="http://schemas.openxmlformats.org/officeDocument/2006/relationships/slide" Target="/ppt/slides/slide6.xml" Id="R7b1aae69669049c8" /><Relationship Type="http://schemas.openxmlformats.org/officeDocument/2006/relationships/notesMaster" Target="/ppt/notesMasters/notesMaster1.xml" Id="Re1c9a9ee075f4c79" /></Relationships>
</file>

<file path=ppt/notesSlides/_rels/notesSlide7.xml.rels>&#65279;<?xml version="1.0" encoding="utf-8"?><Relationships xmlns="http://schemas.openxmlformats.org/package/2006/relationships"><Relationship Type="http://schemas.openxmlformats.org/officeDocument/2006/relationships/slide" Target="/ppt/slides/slide7.xml" Id="R49d4e04ecc914fc1" /><Relationship Type="http://schemas.openxmlformats.org/officeDocument/2006/relationships/notesMaster" Target="/ppt/notesMasters/notesMaster1.xml" Id="R4f08729eb801455e" /></Relationships>
</file>

<file path=ppt/notesSlides/_rels/notesSlide8.xml.rels>&#65279;<?xml version="1.0" encoding="utf-8"?><Relationships xmlns="http://schemas.openxmlformats.org/package/2006/relationships"><Relationship Type="http://schemas.openxmlformats.org/officeDocument/2006/relationships/slide" Target="/ppt/slides/slide8.xml" Id="R97cab41c74e74fec" /><Relationship Type="http://schemas.openxmlformats.org/officeDocument/2006/relationships/notesMaster" Target="/ppt/notesMasters/notesMaster1.xml" Id="R8d0bba0603264ae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establish why Module 4 matters and connect it to the student's approved project pathway.</a:t>
            </a:r>
          </a:p>
          <a:p xmlns:a="http://schemas.openxmlformats.org/drawingml/2006/main">
            <a:r>
              <a:t>Say: Understand production as an authorised sequence where quality, resources and evidence are controlled together.</a:t>
            </a:r>
          </a:p>
          <a:p xmlns:a="http://schemas.openxmlformats.org/drawingml/2006/main">
            <a:r>
              <a:t>Prompt: Which word in the outcome names the decision students will make or explain?</a:t>
            </a:r>
          </a:p>
          <a:p xmlns:a="http://schemas.openxmlformats.org/drawingml/2006/main">
            <a:r>
              <a:t>Transition: The next slide maps the three ideas that build that decision.</a:t>
            </a:r>
          </a:p>
          <a:p xmlns:a="http://schemas.openxmlformats.org/drawingml/2006/main">
            <a:r>
              <a:t/>
            </a:r>
          </a:p>
          <a:p xmlns:a="http://schemas.openxmlformats.org/drawingml/2006/main">
            <a:r>
              <a:t>Local procedure boundary: This deck teaches design and production thinking only. Before any practical action, follow the current teacher-approved plan, demonstration, risk controls, materials, tools, process and authorisation.</a:t>
            </a:r>
          </a:p>
          <a:p xmlns:a="http://schemas.openxmlformats.org/drawingml/2006/main">
            <a:r>
              <a:t/>
            </a:r>
          </a:p>
          <a:p xmlns:a="http://schemas.openxmlformats.org/drawingml/2006/main">
            <a:r>
              <a:t>[Sources]</a:t>
            </a:r>
          </a:p>
          <a:p xmlns:a="http://schemas.openxmlformats.org/drawingml/2006/main">
            <a:r>
              <a:t>- NSW Curriculum, Technology 7–8 (2023), overview: https://curriculum.nsw.edu.au/learning-areas/tas/technology-7-8-2023/overview/course</a:t>
            </a:r>
          </a:p>
          <a:p xmlns:a="http://schemas.openxmlformats.org/drawingml/2006/main">
            <a:r>
              <a:t>- NSW Curriculum, Technology 7–8 (2023), outcomes: https://curriculum.nsw.edu.au/learning-areas/tas/technology-7-8-2023/outcomes</a:t>
            </a:r>
          </a:p>
          <a:p xmlns:a="http://schemas.openxmlformats.org/drawingml/2006/main">
            <a:r>
              <a:t>- NSW Curriculum, Technology 7–8 (2023), Stage 4 content: https://curriculum.nsw.edu.au/learning-areas/tas/technology-7-8-2023/content/stage-4/fadc5a8620</a:t>
            </a:r>
          </a:p>
          <a:p xmlns:a="http://schemas.openxmlformats.org/drawingml/2006/main">
            <a:r>
              <a:t>- Teacher-authored five-week unit guide supplied privately for this build; no private link embedded.</a:t>
            </a:r>
          </a:p>
          <a:p xmlns:a="http://schemas.openxmlformats.org/drawingml/2006/main">
            <a:r>
              <a:t>- Original generated course visual: outputs/swinging-sign-course-site/assets/teaching/module-04-overview.png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preview the three named sections as one connected learning progression.</a:t>
            </a:r>
          </a:p>
          <a:p xmlns:a="http://schemas.openxmlformats.org/drawingml/2006/main">
            <a:r>
              <a:t>Warm-up prompt: Retrieval: what evidence should be ready at a production approval hold point?</a:t>
            </a:r>
          </a:p>
          <a:p xmlns:a="http://schemas.openxmlformats.org/drawingml/2006/main">
            <a:r>
              <a:t>Invite a silent answer first, then take two contrasting responses. Do not resolve every detail yet.</a:t>
            </a:r>
          </a:p>
          <a:p xmlns:a="http://schemas.openxmlformats.org/drawingml/2006/main">
            <a:r>
              <a:t>Transition: Move from the route map into the first idea and ask students to listen for evidence they can reuse later.</a:t>
            </a:r>
          </a:p>
          <a:p xmlns:a="http://schemas.openxmlformats.org/drawingml/2006/main">
            <a:r>
              <a:t/>
            </a:r>
          </a:p>
          <a:p xmlns:a="http://schemas.openxmlformats.org/drawingml/2006/main">
            <a:r>
              <a:t>Local procedure boundary: This deck teaches design and production thinking only. Before any practical action, follow the current teacher-approved plan, demonstration, risk controls, materials, tools, process and authorisation.</a:t>
            </a:r>
          </a:p>
          <a:p xmlns:a="http://schemas.openxmlformats.org/drawingml/2006/main">
            <a:r>
              <a:t/>
            </a:r>
          </a:p>
          <a:p xmlns:a="http://schemas.openxmlformats.org/drawingml/2006/main">
            <a:r>
              <a:t>[Sources]</a:t>
            </a:r>
          </a:p>
          <a:p xmlns:a="http://schemas.openxmlformats.org/drawingml/2006/main">
            <a:r>
              <a:t>- NSW Curriculum, Technology 7–8 (2023), overview: https://curriculum.nsw.edu.au/learning-areas/tas/technology-7-8-2023/overview/course</a:t>
            </a:r>
          </a:p>
          <a:p xmlns:a="http://schemas.openxmlformats.org/drawingml/2006/main">
            <a:r>
              <a:t>- NSW Curriculum, Technology 7–8 (2023), outcomes: https://curriculum.nsw.edu.au/learning-areas/tas/technology-7-8-2023/outcomes</a:t>
            </a:r>
          </a:p>
          <a:p xmlns:a="http://schemas.openxmlformats.org/drawingml/2006/main">
            <a:r>
              <a:t>- NSW Curriculum, Technology 7–8 (2023), Stage 4 content: https://curriculum.nsw.edu.au/learning-areas/tas/technology-7-8-2023/content/stage-4/fadc5a8620</a:t>
            </a:r>
          </a:p>
          <a:p xmlns:a="http://schemas.openxmlformats.org/drawingml/2006/main">
            <a:r>
              <a:t>- Teacher-authored five-week unit guide supplied privately for this build; no private link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teach production sequence and authorisation as part of the module's connected decision-making sequence.</a:t>
            </a:r>
          </a:p>
          <a:p xmlns:a="http://schemas.openxmlformats.org/drawingml/2006/main">
            <a:r>
              <a:t>Key explanation: A production sequence explains dependencies: what must be known, checked or completed before the next stage. Hold points protect quality and safety before material is committed or an unexpected result is carried forward. Approval belongs to a defined state and next action. Changes must be recorded and may need fresh authorisation.</a:t>
            </a:r>
          </a:p>
          <a:p xmlns:a="http://schemas.openxmlformats.org/drawingml/2006/main">
            <a:r>
              <a:t>Prompt to the room: Place broad production stages in order and mark where evidence and teacher authorisation are needed.</a:t>
            </a:r>
          </a:p>
          <a:p xmlns:a="http://schemas.openxmlformats.org/drawingml/2006/main">
            <a:r>
              <a:t>Likely misconception: One early approval does not authorise every later practical stage.</a:t>
            </a:r>
          </a:p>
          <a:p xmlns:a="http://schemas.openxmlformats.org/drawingml/2006/main">
            <a:r>
              <a:t>Transition: Ask students to keep one precise term or relationship for the retrieval slide.</a:t>
            </a:r>
          </a:p>
          <a:p xmlns:a="http://schemas.openxmlformats.org/drawingml/2006/main">
            <a:r>
              <a:t/>
            </a:r>
          </a:p>
          <a:p xmlns:a="http://schemas.openxmlformats.org/drawingml/2006/main">
            <a:r>
              <a:t>Local procedure boundary: This is a planning sequence, not a machine procedure. Operate only under current local instruction and authorisation.</a:t>
            </a:r>
          </a:p>
          <a:p xmlns:a="http://schemas.openxmlformats.org/drawingml/2006/main">
            <a:r>
              <a:t/>
            </a:r>
          </a:p>
          <a:p xmlns:a="http://schemas.openxmlformats.org/drawingml/2006/main">
            <a:r>
              <a:t>[Sources]</a:t>
            </a:r>
          </a:p>
          <a:p xmlns:a="http://schemas.openxmlformats.org/drawingml/2006/main">
            <a:r>
              <a:t>- NSW Curriculum, Technology 7–8 (2023), overview: https://curriculum.nsw.edu.au/learning-areas/tas/technology-7-8-2023/overview/course</a:t>
            </a:r>
          </a:p>
          <a:p xmlns:a="http://schemas.openxmlformats.org/drawingml/2006/main">
            <a:r>
              <a:t>- NSW Curriculum, Technology 7–8 (2023), outcomes: https://curriculum.nsw.edu.au/learning-areas/tas/technology-7-8-2023/outcomes</a:t>
            </a:r>
          </a:p>
          <a:p xmlns:a="http://schemas.openxmlformats.org/drawingml/2006/main">
            <a:r>
              <a:t>- NSW Curriculum, Technology 7–8 (2023), Stage 4 content: https://curriculum.nsw.edu.au/learning-areas/tas/technology-7-8-2023/content/stage-4/fadc5a8620</a:t>
            </a:r>
          </a:p>
          <a:p xmlns:a="http://schemas.openxmlformats.org/drawingml/2006/main">
            <a:r>
              <a:t>- Teacher-authored five-week unit guide supplied privately for this build; no private link embedded.</a:t>
            </a:r>
          </a:p>
          <a:p xmlns:a="http://schemas.openxmlformats.org/drawingml/2006/main">
            <a:r>
              <a:t>- Original generated course visual: outputs/swinging-sign-course-site/assets/teaching/m04s01-production-sequence-evidence.png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teach edges, finishing and quality as part of the module's connected decision-making sequence.</a:t>
            </a:r>
          </a:p>
          <a:p xmlns:a="http://schemas.openxmlformats.org/drawingml/2006/main">
            <a:r>
              <a:t>Key explanation: Quality is the degree to which the result meets approved criteria — not whether someone simply likes it. Record edge and surface conditions neutrally. A photograph cannot confirm that an edge is safe to handle. Use an inspect → decide → authorise → reinspect loop; do not improvise a correction method.</a:t>
            </a:r>
          </a:p>
          <a:p xmlns:a="http://schemas.openxmlformats.org/drawingml/2006/main">
            <a:r>
              <a:t>Prompt to the room: Rewrite ‘the edge is bad’ as an observable, checkable quality statement.</a:t>
            </a:r>
          </a:p>
          <a:p xmlns:a="http://schemas.openxmlformats.org/drawingml/2006/main">
            <a:r>
              <a:t>Likely misconception: Looking acceptable in a photograph does not prove safe condition.</a:t>
            </a:r>
          </a:p>
          <a:p xmlns:a="http://schemas.openxmlformats.org/drawingml/2006/main">
            <a:r>
              <a:t>Transition: Ask students to keep one precise term or relationship for the retrieval slide.</a:t>
            </a:r>
          </a:p>
          <a:p xmlns:a="http://schemas.openxmlformats.org/drawingml/2006/main">
            <a:r>
              <a:t/>
            </a:r>
          </a:p>
          <a:p xmlns:a="http://schemas.openxmlformats.org/drawingml/2006/main">
            <a:r>
              <a:t>Local procedure boundary: The teacher controls handling, inspection and any practical improvement method.</a:t>
            </a:r>
          </a:p>
          <a:p xmlns:a="http://schemas.openxmlformats.org/drawingml/2006/main">
            <a:r>
              <a:t/>
            </a:r>
          </a:p>
          <a:p xmlns:a="http://schemas.openxmlformats.org/drawingml/2006/main">
            <a:r>
              <a:t>[Sources]</a:t>
            </a:r>
          </a:p>
          <a:p xmlns:a="http://schemas.openxmlformats.org/drawingml/2006/main">
            <a:r>
              <a:t>- NSW Curriculum, Technology 7–8 (2023), overview: https://curriculum.nsw.edu.au/learning-areas/tas/technology-7-8-2023/overview/course</a:t>
            </a:r>
          </a:p>
          <a:p xmlns:a="http://schemas.openxmlformats.org/drawingml/2006/main">
            <a:r>
              <a:t>- NSW Curriculum, Technology 7–8 (2023), outcomes: https://curriculum.nsw.edu.au/learning-areas/tas/technology-7-8-2023/outcomes</a:t>
            </a:r>
          </a:p>
          <a:p xmlns:a="http://schemas.openxmlformats.org/drawingml/2006/main">
            <a:r>
              <a:t>- NSW Curriculum, Technology 7–8 (2023), Stage 4 content: https://curriculum.nsw.edu.au/learning-areas/tas/technology-7-8-2023/content/stage-4/fadc5a8620</a:t>
            </a:r>
          </a:p>
          <a:p xmlns:a="http://schemas.openxmlformats.org/drawingml/2006/main">
            <a:r>
              <a:t>- Teacher-authored five-week unit guide supplied privately for this build; no private link embedded.</a:t>
            </a:r>
          </a:p>
          <a:p xmlns:a="http://schemas.openxmlformats.org/drawingml/2006/main">
            <a:r>
              <a:t>- Original generated course visual: outputs/swinging-sign-course-site/assets/teaching/m04s02-edge-quality.png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teach nesting, offcuts and process evidence as part of the module's connected decision-making sequence.</a:t>
            </a:r>
          </a:p>
          <a:p xmlns:a="http://schemas.openxmlformats.org/drawingml/2006/main">
            <a:r>
              <a:t>Key explanation: Compare planned and actual material use to locate avoidable waste, changed conditions and useful offcuts. An offcut is not automatically rubbish or safe to reuse; identity, form, condition and the local system matter. Keep purposeful evidence: the decision, observable result, reason for any difference and one checkable improvement.</a:t>
            </a:r>
          </a:p>
          <a:p xmlns:a="http://schemas.openxmlformats.org/drawingml/2006/main">
            <a:r>
              <a:t>Prompt to the room: Choose the strongest evidence set for explaining a plan-to-result difference and justify your choice.</a:t>
            </a:r>
          </a:p>
          <a:p xmlns:a="http://schemas.openxmlformats.org/drawingml/2006/main">
            <a:r>
              <a:t>Likely misconception: Offcut value and safe handling cannot be assumed from size alone.</a:t>
            </a:r>
          </a:p>
          <a:p xmlns:a="http://schemas.openxmlformats.org/drawingml/2006/main">
            <a:r>
              <a:t>Transition: Ask students to keep one precise term or relationship for the retrieval slide.</a:t>
            </a:r>
          </a:p>
          <a:p xmlns:a="http://schemas.openxmlformats.org/drawingml/2006/main">
            <a:r>
              <a:t/>
            </a:r>
          </a:p>
          <a:p xmlns:a="http://schemas.openxmlformats.org/drawingml/2006/main">
            <a:r>
              <a:t>Local procedure boundary: Route all offcuts and waste through the teacher's current local system.</a:t>
            </a:r>
          </a:p>
          <a:p xmlns:a="http://schemas.openxmlformats.org/drawingml/2006/main">
            <a:r>
              <a:t/>
            </a:r>
          </a:p>
          <a:p xmlns:a="http://schemas.openxmlformats.org/drawingml/2006/main">
            <a:r>
              <a:t>[Sources]</a:t>
            </a:r>
          </a:p>
          <a:p xmlns:a="http://schemas.openxmlformats.org/drawingml/2006/main">
            <a:r>
              <a:t>- NSW Curriculum, Technology 7–8 (2023), overview: https://curriculum.nsw.edu.au/learning-areas/tas/technology-7-8-2023/overview/course</a:t>
            </a:r>
          </a:p>
          <a:p xmlns:a="http://schemas.openxmlformats.org/drawingml/2006/main">
            <a:r>
              <a:t>- NSW Curriculum, Technology 7–8 (2023), outcomes: https://curriculum.nsw.edu.au/learning-areas/tas/technology-7-8-2023/outcomes</a:t>
            </a:r>
          </a:p>
          <a:p xmlns:a="http://schemas.openxmlformats.org/drawingml/2006/main">
            <a:r>
              <a:t>- NSW Curriculum, Technology 7–8 (2023), Stage 4 content: https://curriculum.nsw.edu.au/learning-areas/tas/technology-7-8-2023/content/stage-4/fadc5a8620</a:t>
            </a:r>
          </a:p>
          <a:p xmlns:a="http://schemas.openxmlformats.org/drawingml/2006/main">
            <a:r>
              <a:t>- Teacher-authored five-week unit guide supplied privately for this build; no private link embedded.</a:t>
            </a:r>
          </a:p>
          <a:p xmlns:a="http://schemas.openxmlformats.org/drawingml/2006/main">
            <a:r>
              <a:t>- Original generated course visual: outputs/swinging-sign-course-site/assets/teaching/m04s03-offcuts-process-evidence.png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retrieve all three taught ideas before students construct a longer response.</a:t>
            </a:r>
          </a:p>
          <a:p xmlns:a="http://schemas.openxmlformats.org/drawingml/2006/main">
            <a:r>
              <a:t>Routine: 45 seconds silent thinking, one partner explanation, then sample reasoning from the room.</a:t>
            </a:r>
          </a:p>
          <a:p xmlns:a="http://schemas.openxmlformats.org/drawingml/2006/main">
            <a:r>
              <a:t>Question 1: What makes a production sequence more than a task list?</a:t>
            </a:r>
          </a:p>
          <a:p xmlns:a="http://schemas.openxmlformats.org/drawingml/2006/main">
            <a:r>
              <a:t>Question 2: Why do hold points occur after production has begun?</a:t>
            </a:r>
          </a:p>
          <a:p xmlns:a="http://schemas.openxmlformats.org/drawingml/2006/main">
            <a:r>
              <a:t>Question 3: What makes a quality statement checkable?</a:t>
            </a:r>
          </a:p>
          <a:p xmlns:a="http://schemas.openxmlformats.org/drawingml/2006/main">
            <a:r>
              <a:t>Question 4: What should process evidence explain about a plan-to-result difference?</a:t>
            </a:r>
          </a:p>
          <a:p xmlns:a="http://schemas.openxmlformats.org/drawingml/2006/main">
            <a:r>
              <a:t>Listen for unsupported practical claims. Redirect students to evidence and Teacher to confirm where needed.</a:t>
            </a:r>
          </a:p>
          <a:p xmlns:a="http://schemas.openxmlformats.org/drawingml/2006/main">
            <a:r>
              <a:t/>
            </a:r>
          </a:p>
          <a:p xmlns:a="http://schemas.openxmlformats.org/drawingml/2006/main">
            <a:r>
              <a:t>Local procedure boundary: This deck teaches design and production thinking only. Before any practical action, follow the current teacher-approved plan, demonstration, risk controls, materials, tools, process and authorisation.</a:t>
            </a:r>
          </a:p>
          <a:p xmlns:a="http://schemas.openxmlformats.org/drawingml/2006/main">
            <a:r>
              <a:t/>
            </a:r>
          </a:p>
          <a:p xmlns:a="http://schemas.openxmlformats.org/drawingml/2006/main">
            <a:r>
              <a:t>[Sources]</a:t>
            </a:r>
          </a:p>
          <a:p xmlns:a="http://schemas.openxmlformats.org/drawingml/2006/main">
            <a:r>
              <a:t>- NSW Curriculum, Technology 7–8 (2023), overview: https://curriculum.nsw.edu.au/learning-areas/tas/technology-7-8-2023/overview/course</a:t>
            </a:r>
          </a:p>
          <a:p xmlns:a="http://schemas.openxmlformats.org/drawingml/2006/main">
            <a:r>
              <a:t>- NSW Curriculum, Technology 7–8 (2023), outcomes: https://curriculum.nsw.edu.au/learning-areas/tas/technology-7-8-2023/outcomes</a:t>
            </a:r>
          </a:p>
          <a:p xmlns:a="http://schemas.openxmlformats.org/drawingml/2006/main">
            <a:r>
              <a:t>- NSW Curriculum, Technology 7–8 (2023), Stage 4 content: https://curriculum.nsw.edu.au/learning-areas/tas/technology-7-8-2023/content/stage-4/fadc5a8620</a:t>
            </a:r>
          </a:p>
          <a:p xmlns:a="http://schemas.openxmlformats.org/drawingml/2006/main">
            <a:r>
              <a:t>- Teacher-authored five-week unit guide supplied privately for this build; no private link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scaffold a higher-order response that joins evidence from all three module sections.</a:t>
            </a:r>
          </a:p>
          <a:p xmlns:a="http://schemas.openxmlformats.org/drawingml/2006/main">
            <a:r>
              <a:t>Read the question aloud: A fictional result differs from its plan. Explain the next controlled decision using production dependencies, quality evidence, offcut handling and a teacher-authorised hold point.</a:t>
            </a:r>
          </a:p>
          <a:p xmlns:a="http://schemas.openxmlformats.org/drawingml/2006/main">
            <a:r>
              <a:t>Scaffold: Read: identify the planned state, actual state and difference. Select: choose the quality criterion and evidence that matter. Explain: connect the difference to resources, safety or quality. Check: name the hold point and wait for the authorised next action.</a:t>
            </a:r>
          </a:p>
          <a:p xmlns:a="http://schemas.openxmlformats.org/drawingml/2006/main">
            <a:r>
              <a:t>Model only the first connection, then release students to complete their own explanation.</a:t>
            </a:r>
          </a:p>
          <a:p xmlns:a="http://schemas.openxmlformats.org/drawingml/2006/main">
            <a:r>
              <a:t>Success check: accurate concepts, explicit evidence, a justified decision and honest treatment of unconfirmed local facts.</a:t>
            </a:r>
          </a:p>
          <a:p xmlns:a="http://schemas.openxmlformats.org/drawingml/2006/main">
            <a:r>
              <a:t/>
            </a:r>
          </a:p>
          <a:p xmlns:a="http://schemas.openxmlformats.org/drawingml/2006/main">
            <a:r>
              <a:t>Local procedure boundary: This deck teaches design and production thinking only. Before any practical action, follow the current teacher-approved plan, demonstration, risk controls, materials, tools, process and authorisation.</a:t>
            </a:r>
          </a:p>
          <a:p xmlns:a="http://schemas.openxmlformats.org/drawingml/2006/main">
            <a:r>
              <a:t/>
            </a:r>
          </a:p>
          <a:p xmlns:a="http://schemas.openxmlformats.org/drawingml/2006/main">
            <a:r>
              <a:t>[Sources]</a:t>
            </a:r>
          </a:p>
          <a:p xmlns:a="http://schemas.openxmlformats.org/drawingml/2006/main">
            <a:r>
              <a:t>- NSW Curriculum, Technology 7–8 (2023), overview: https://curriculum.nsw.edu.au/learning-areas/tas/technology-7-8-2023/overview/course</a:t>
            </a:r>
          </a:p>
          <a:p xmlns:a="http://schemas.openxmlformats.org/drawingml/2006/main">
            <a:r>
              <a:t>- NSW Curriculum, Technology 7–8 (2023), outcomes: https://curriculum.nsw.edu.au/learning-areas/tas/technology-7-8-2023/outcomes</a:t>
            </a:r>
          </a:p>
          <a:p xmlns:a="http://schemas.openxmlformats.org/drawingml/2006/main">
            <a:r>
              <a:t>- NSW Curriculum, Technology 7–8 (2023), Stage 4 content: https://curriculum.nsw.edu.au/learning-areas/tas/technology-7-8-2023/content/stage-4/fadc5a8620</a:t>
            </a:r>
          </a:p>
          <a:p xmlns:a="http://schemas.openxmlformats.org/drawingml/2006/main">
            <a:r>
              <a:t>- Teacher-authored five-week unit guide supplied privately for this build; no private link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convert the lesson into immediate, retrievable evidence and make the next step explicit.</a:t>
            </a:r>
          </a:p>
          <a:p xmlns:a="http://schemas.openxmlformats.org/drawingml/2006/main">
            <a:r>
              <a:t>Give students quiet time to complete all three prompts before sharing.</a:t>
            </a:r>
          </a:p>
          <a:p xmlns:a="http://schemas.openxmlformats.org/drawingml/2006/main">
            <a:r>
              <a:t>Evidence destination: My folio cards 8–9: Process record; Quality evidence.</a:t>
            </a:r>
          </a:p>
          <a:p xmlns:a="http://schemas.openxmlformats.org/drawingml/2006/main">
            <a:r>
              <a:t>Next step: Next: finish, test and evaluate the product as one evidence-backed system.</a:t>
            </a:r>
          </a:p>
          <a:p xmlns:a="http://schemas.openxmlformats.org/drawingml/2006/main">
            <a:r>
              <a:t>Saving to the browser or exporting a folio is not formal submission. Follow the teacher's current submission direction.</a:t>
            </a:r>
          </a:p>
          <a:p xmlns:a="http://schemas.openxmlformats.org/drawingml/2006/main">
            <a:r>
              <a:t/>
            </a:r>
          </a:p>
          <a:p xmlns:a="http://schemas.openxmlformats.org/drawingml/2006/main">
            <a:r>
              <a:t>Local procedure boundary: This deck teaches design and production thinking only. Before any practical action, follow the current teacher-approved plan, demonstration, risk controls, materials, tools, process and authorisation.</a:t>
            </a:r>
          </a:p>
          <a:p xmlns:a="http://schemas.openxmlformats.org/drawingml/2006/main">
            <a:r>
              <a:t/>
            </a:r>
          </a:p>
          <a:p xmlns:a="http://schemas.openxmlformats.org/drawingml/2006/main">
            <a:r>
              <a:t>[Sources]</a:t>
            </a:r>
          </a:p>
          <a:p xmlns:a="http://schemas.openxmlformats.org/drawingml/2006/main">
            <a:r>
              <a:t>- NSW Curriculum, Technology 7–8 (2023), overview: https://curriculum.nsw.edu.au/learning-areas/tas/technology-7-8-2023/overview/course</a:t>
            </a:r>
          </a:p>
          <a:p xmlns:a="http://schemas.openxmlformats.org/drawingml/2006/main">
            <a:r>
              <a:t>- NSW Curriculum, Technology 7–8 (2023), outcomes: https://curriculum.nsw.edu.au/learning-areas/tas/technology-7-8-2023/outcomes</a:t>
            </a:r>
          </a:p>
          <a:p xmlns:a="http://schemas.openxmlformats.org/drawingml/2006/main">
            <a:r>
              <a:t>- NSW Curriculum, Technology 7–8 (2023), Stage 4 content: https://curriculum.nsw.edu.au/learning-areas/tas/technology-7-8-2023/content/stage-4/fadc5a8620</a:t>
            </a:r>
          </a:p>
          <a:p xmlns:a="http://schemas.openxmlformats.org/drawingml/2006/main">
            <a:r>
              <a:t>- Teacher-authored five-week unit guide supplied privately for this build; no private link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a2d412d490d4cf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d2209dc76cb494d" /><Relationship Type="http://schemas.openxmlformats.org/officeDocument/2006/relationships/slideLayout" Target="/ppt/slideLayouts/slideLayout1.xml" Id="R2693a1619791402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693a1619791402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77c2ea4cd3d44c8" /><Relationship Type="http://schemas.openxmlformats.org/officeDocument/2006/relationships/image" Target="/ppt/media/image.png" Id="R795b235907a04ae4" /><Relationship Type="http://schemas.openxmlformats.org/officeDocument/2006/relationships/notesSlide" Target="/ppt/notesSlides/notesSlide1.xml" Id="R8454f34bce8242a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906d99eb4874626" /><Relationship Type="http://schemas.openxmlformats.org/officeDocument/2006/relationships/notesSlide" Target="/ppt/notesSlides/notesSlide2.xml" Id="Re189f0018db74da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8a41da7c9004804" /><Relationship Type="http://schemas.openxmlformats.org/officeDocument/2006/relationships/image" Target="/ppt/media/image2.png" Id="R6a6695855c3a4d96" /><Relationship Type="http://schemas.openxmlformats.org/officeDocument/2006/relationships/notesSlide" Target="/ppt/notesSlides/notesSlide3.xml" Id="Rb11efb8f76d5412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00bb471fa5145a2" /><Relationship Type="http://schemas.openxmlformats.org/officeDocument/2006/relationships/image" Target="/ppt/media/image3.png" Id="R2728a8647d804b94" /><Relationship Type="http://schemas.openxmlformats.org/officeDocument/2006/relationships/notesSlide" Target="/ppt/notesSlides/notesSlide4.xml" Id="Rcadbfa431b56404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343ce79ef7c4756" /><Relationship Type="http://schemas.openxmlformats.org/officeDocument/2006/relationships/image" Target="/ppt/media/image4.png" Id="R4f4bdc50c7184b48" /><Relationship Type="http://schemas.openxmlformats.org/officeDocument/2006/relationships/notesSlide" Target="/ppt/notesSlides/notesSlide5.xml" Id="R66a46484c55e40b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71d770d0c7846a2" /><Relationship Type="http://schemas.openxmlformats.org/officeDocument/2006/relationships/notesSlide" Target="/ppt/notesSlides/notesSlide6.xml" Id="Re41e99bffc834e4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6020a152e0d4e6c" /><Relationship Type="http://schemas.openxmlformats.org/officeDocument/2006/relationships/notesSlide" Target="/ppt/notesSlides/notesSlide7.xml" Id="R64d1c6a596c44a2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f92ded5f87f4211" /><Relationship Type="http://schemas.openxmlformats.org/officeDocument/2006/relationships/notesSlide" Target="/ppt/notesSlides/notesSlide8.xml" Id="R2e4651974e9744ee" /></Relationships>
</file>

<file path=ppt/slides/slide1.xml><?xml version="1.0" encoding="utf-8"?>
<p:sld xmlns:p="http://schemas.openxmlformats.org/presentationml/2006/main">
  <p:cSld>
    <p:bg>
      <p:bgPr>
        <a:solidFill xmlns:a="http://schemas.openxmlformats.org/drawingml/2006/main">
          <a:srgbClr val="113F30"/>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95b235907a04ae4"/>
          <a:srcRect xmlns:a="http://schemas.openxmlformats.org/drawingml/2006/main" l="23345" t="0" r="23345" b="0"/>
          <a:stretch xmlns:a="http://schemas.openxmlformats.org/drawingml/2006/main">
            <a:fillRect l="0" t="0" r="0" b="0"/>
          </a:stretch>
        </p:blipFill>
        <p:spPr>
          <a:xfrm xmlns:a="http://schemas.openxmlformats.org/drawingml/2006/main">
            <a:off x="5695950" y="0"/>
            <a:ext cx="6496050" cy="6858000"/>
          </a:xfrm>
          <a:prstGeom xmlns:a="http://schemas.openxmlformats.org/drawingml/2006/main" prst="roundRect">
            <a:avLst>
              <a:gd name="adj" fmla="val 2639"/>
            </a:avLst>
          </a:prstGeom>
        </p:spPr>
      </p:pic>
      <p:sp>
        <p:nvSpPr>
          <p:cNvPr id="2" name="title-accent">
            <a:extLst xmlns:a="http://schemas.openxmlformats.org/drawingml/2006/main">
              <a:ext uri="{FF2B5EF4-FFF2-40B4-BE49-F238E27FC236}">
                <a16:creationId xmlns:a16="http://schemas.microsoft.com/office/drawing/2014/main" id="{DDE59365-0225-4F01-9C17-3A9AF70C994A}"/>
              </a:ext>
            </a:extLst>
          </p:cNvPr>
          <p:cNvSpPr>
            <a:spLocks xmlns:a="http://schemas.openxmlformats.org/drawingml/2006/main" noGrp="1"/>
          </p:cNvSpPr>
          <p:nvPr/>
        </p:nvSpPr>
        <p:spPr>
          <a:xfrm xmlns:a="http://schemas.openxmlformats.org/drawingml/2006/main">
            <a:off x="685800" y="723900"/>
            <a:ext cx="800100" cy="76200"/>
          </a:xfrm>
          <a:prstGeom xmlns:a="http://schemas.openxmlformats.org/drawingml/2006/main" prst="rect">
            <a:avLst/>
          </a:prstGeom>
          <a:solidFill xmlns:a="http://schemas.openxmlformats.org/drawingml/2006/main">
            <a:srgbClr val="E7AD31"/>
          </a:solidFill>
          <a:ln xmlns:a="http://schemas.openxmlformats.org/drawingml/2006/main" w="0">
            <a:solidFill>
              <a:srgbClr val="E7AD31"/>
            </a:solidFill>
            <a:prstDash val="solid"/>
          </a:ln>
        </p:spPr>
      </p:sp>
      <p:sp>
        <p:nvSpPr>
          <p:cNvPr id="3" name="title-kicker">
            <a:extLst xmlns:a="http://schemas.openxmlformats.org/drawingml/2006/main">
              <a:ext uri="{FF2B5EF4-FFF2-40B4-BE49-F238E27FC236}">
                <a16:creationId xmlns:a16="http://schemas.microsoft.com/office/drawing/2014/main" id="{0B6292B1-8C02-4FAE-8B7F-5D3F47829BFD}"/>
              </a:ext>
            </a:extLst>
          </p:cNvPr>
          <p:cNvSpPr>
            <a:spLocks xmlns:a="http://schemas.openxmlformats.org/drawingml/2006/main" noGrp="1"/>
          </p:cNvSpPr>
          <p:nvPr/>
        </p:nvSpPr>
        <p:spPr>
          <a:xfrm xmlns:a="http://schemas.openxmlformats.org/drawingml/2006/main">
            <a:off x="685800" y="1028700"/>
            <a:ext cx="447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5E7DE"/>
                </a:solidFill>
              </a:defRPr>
            </a:pPr>
            <a:r>
              <a:rPr sz="1200" b="1">
                <a:solidFill>
                  <a:srgbClr val="D5E7DE"/>
                </a:solidFill>
              </a:rPr>
              <a:t>MODULE 4  •  STAGE 4 TECHNOLOGY</a:t>
            </a:r>
          </a:p>
        </p:txBody>
      </p:sp>
      <p:sp>
        <p:nvSpPr>
          <p:cNvPr id="4" name="deck-title">
            <a:extLst xmlns:a="http://schemas.openxmlformats.org/drawingml/2006/main">
              <a:ext uri="{FF2B5EF4-FFF2-40B4-BE49-F238E27FC236}">
                <a16:creationId xmlns:a16="http://schemas.microsoft.com/office/drawing/2014/main" id="{98C6BB3C-5DAD-4C1A-B87F-EBC4AA6E9C7E}"/>
              </a:ext>
            </a:extLst>
          </p:cNvPr>
          <p:cNvSpPr>
            <a:spLocks xmlns:a="http://schemas.openxmlformats.org/drawingml/2006/main" noGrp="1"/>
          </p:cNvSpPr>
          <p:nvPr/>
        </p:nvSpPr>
        <p:spPr>
          <a:xfrm xmlns:a="http://schemas.openxmlformats.org/drawingml/2006/main">
            <a:off x="685800" y="2000250"/>
            <a:ext cx="4476750" cy="1638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900" b="1">
                <a:solidFill>
                  <a:srgbClr val="FFFFFF"/>
                </a:solidFill>
              </a:defRPr>
            </a:pPr>
            <a:r>
              <a:rPr sz="3900" b="1">
                <a:solidFill>
                  <a:srgbClr val="FFFFFF"/>
                </a:solidFill>
              </a:rPr>
              <a:t>Produce and control quality</a:t>
            </a:r>
          </a:p>
        </p:txBody>
      </p:sp>
      <p:sp>
        <p:nvSpPr>
          <p:cNvPr id="5" name="deck-outcome">
            <a:extLst xmlns:a="http://schemas.openxmlformats.org/drawingml/2006/main">
              <a:ext uri="{FF2B5EF4-FFF2-40B4-BE49-F238E27FC236}">
                <a16:creationId xmlns:a16="http://schemas.microsoft.com/office/drawing/2014/main" id="{195E505B-EAC8-4E12-ADF9-4FE0950E6924}"/>
              </a:ext>
            </a:extLst>
          </p:cNvPr>
          <p:cNvSpPr>
            <a:spLocks xmlns:a="http://schemas.openxmlformats.org/drawingml/2006/main" noGrp="1"/>
          </p:cNvSpPr>
          <p:nvPr/>
        </p:nvSpPr>
        <p:spPr>
          <a:xfrm xmlns:a="http://schemas.openxmlformats.org/drawingml/2006/main">
            <a:off x="685800" y="3943350"/>
            <a:ext cx="41719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E8F3ED"/>
                </a:solidFill>
              </a:defRPr>
            </a:pPr>
            <a:r>
              <a:rPr sz="1725" b="0">
                <a:solidFill>
                  <a:srgbClr val="E8F3ED"/>
                </a:solidFill>
              </a:rPr>
              <a:t>Understand production as an authorised sequence where quality, resources and evidence are controlled together.</a:t>
            </a:r>
          </a:p>
        </p:txBody>
      </p:sp>
      <p:sp>
        <p:nvSpPr>
          <p:cNvPr id="6" name="title-course">
            <a:extLst xmlns:a="http://schemas.openxmlformats.org/drawingml/2006/main">
              <a:ext uri="{FF2B5EF4-FFF2-40B4-BE49-F238E27FC236}">
                <a16:creationId xmlns:a16="http://schemas.microsoft.com/office/drawing/2014/main" id="{05F1E116-6A89-4FBE-ABE8-7A693AC9CA4B}"/>
              </a:ext>
            </a:extLst>
          </p:cNvPr>
          <p:cNvSpPr>
            <a:spLocks xmlns:a="http://schemas.openxmlformats.org/drawingml/2006/main" noGrp="1"/>
          </p:cNvSpPr>
          <p:nvPr/>
        </p:nvSpPr>
        <p:spPr>
          <a:xfrm xmlns:a="http://schemas.openxmlformats.org/drawingml/2006/main">
            <a:off x="685800" y="609600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FD6CA"/>
                </a:solidFill>
              </a:defRPr>
            </a:pPr>
            <a:r>
              <a:rPr sz="1050" b="1">
                <a:solidFill>
                  <a:srgbClr val="BFD6CA"/>
                </a:solidFill>
              </a:rPr>
              <a:t>Swinging Sign  •  Materials and production processes</a:t>
            </a:r>
          </a:p>
        </p:txBody>
      </p:sp>
    </p:spTree>
    <p:extLst>
      <p:ext uri="{BB962C8B-B14F-4D97-AF65-F5344CB8AC3E}">
        <p14:creationId xmlns:p14="http://schemas.microsoft.com/office/powerpoint/2010/main" val="366186459"/>
      </p:ext>
    </p:extLst>
  </p:cSld>
</p:sld>
</file>

<file path=ppt/slides/slide2.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9" name="accent-2">
            <a:extLst xmlns:a="http://schemas.openxmlformats.org/drawingml/2006/main">
              <a:ext uri="{FF2B5EF4-FFF2-40B4-BE49-F238E27FC236}">
                <a16:creationId xmlns:a16="http://schemas.microsoft.com/office/drawing/2014/main" id="{1626D31D-AEA8-4FE1-B148-A7CF8C205B4A}"/>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E7AD31"/>
          </a:solidFill>
          <a:ln xmlns:a="http://schemas.openxmlformats.org/drawingml/2006/main" w="0">
            <a:solidFill>
              <a:srgbClr val="E7AD31"/>
            </a:solidFill>
            <a:prstDash val="solid"/>
          </a:ln>
        </p:spPr>
      </p:sp>
      <p:sp>
        <p:nvSpPr>
          <p:cNvPr id="2" name="module-kicker-2">
            <a:extLst xmlns:a="http://schemas.openxmlformats.org/drawingml/2006/main">
              <a:ext uri="{FF2B5EF4-FFF2-40B4-BE49-F238E27FC236}">
                <a16:creationId xmlns:a16="http://schemas.microsoft.com/office/drawing/2014/main" id="{6F31BA99-4C1A-4D95-92C4-F56FE320D06C}"/>
              </a:ext>
            </a:extLst>
          </p:cNvPr>
          <p:cNvSpPr>
            <a:spLocks xmlns:a="http://schemas.openxmlformats.org/drawingml/2006/main" noGrp="1"/>
          </p:cNvSpPr>
          <p:nvPr/>
        </p:nvSpPr>
        <p:spPr>
          <a:xfrm xmlns:a="http://schemas.openxmlformats.org/drawingml/2006/main">
            <a:off x="685800" y="2667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84932"/>
                </a:solidFill>
              </a:defRPr>
            </a:pPr>
            <a:r>
              <a:rPr sz="1050" b="1">
                <a:solidFill>
                  <a:srgbClr val="B84932"/>
                </a:solidFill>
              </a:rPr>
              <a:t>MODULE 4  •  PRODUCE AND CONTROL QUALITY</a:t>
            </a:r>
          </a:p>
        </p:txBody>
      </p:sp>
      <p:sp>
        <p:nvSpPr>
          <p:cNvPr id="3" name="slide-title-2">
            <a:extLst xmlns:a="http://schemas.openxmlformats.org/drawingml/2006/main">
              <a:ext uri="{FF2B5EF4-FFF2-40B4-BE49-F238E27FC236}">
                <a16:creationId xmlns:a16="http://schemas.microsoft.com/office/drawing/2014/main" id="{0D6C5E0F-ED40-42F1-BF8E-D03238E04EE2}"/>
              </a:ext>
            </a:extLst>
          </p:cNvPr>
          <p:cNvSpPr>
            <a:spLocks xmlns:a="http://schemas.openxmlformats.org/drawingml/2006/main" noGrp="1"/>
          </p:cNvSpPr>
          <p:nvPr/>
        </p:nvSpPr>
        <p:spPr>
          <a:xfrm xmlns:a="http://schemas.openxmlformats.org/drawingml/2006/main">
            <a:off x="685800" y="590550"/>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13F30"/>
                </a:solidFill>
              </a:defRPr>
            </a:pPr>
            <a:r>
              <a:rPr sz="2850" b="1">
                <a:solidFill>
                  <a:srgbClr val="113F30"/>
                </a:solidFill>
              </a:rPr>
              <a:t>Three control loops keep practical work safe, traceable and useful</a:t>
            </a:r>
          </a:p>
        </p:txBody>
      </p:sp>
      <p:sp>
        <p:nvSpPr>
          <p:cNvPr id="4" name="map-number-1">
            <a:extLst xmlns:a="http://schemas.openxmlformats.org/drawingml/2006/main">
              <a:ext uri="{FF2B5EF4-FFF2-40B4-BE49-F238E27FC236}">
                <a16:creationId xmlns:a16="http://schemas.microsoft.com/office/drawing/2014/main" id="{2B32BBCD-55EB-428B-9C86-37489ACF867E}"/>
              </a:ext>
            </a:extLst>
          </p:cNvPr>
          <p:cNvSpPr>
            <a:spLocks xmlns:a="http://schemas.openxmlformats.org/drawingml/2006/main" noGrp="1"/>
          </p:cNvSpPr>
          <p:nvPr/>
        </p:nvSpPr>
        <p:spPr>
          <a:xfrm xmlns:a="http://schemas.openxmlformats.org/drawingml/2006/main">
            <a:off x="819150" y="1676400"/>
            <a:ext cx="685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900" b="1">
                <a:solidFill>
                  <a:srgbClr val="E7AD31"/>
                </a:solidFill>
              </a:defRPr>
            </a:pPr>
            <a:r>
              <a:rPr sz="3900" b="1">
                <a:solidFill>
                  <a:srgbClr val="E7AD31"/>
                </a:solidFill>
              </a:rPr>
              <a:t>1</a:t>
            </a:r>
          </a:p>
        </p:txBody>
      </p:sp>
      <p:sp>
        <p:nvSpPr>
          <p:cNvPr id="5" name="map-title-1">
            <a:extLst xmlns:a="http://schemas.openxmlformats.org/drawingml/2006/main">
              <a:ext uri="{FF2B5EF4-FFF2-40B4-BE49-F238E27FC236}">
                <a16:creationId xmlns:a16="http://schemas.microsoft.com/office/drawing/2014/main" id="{F225EAB4-069F-4241-B0F9-0E590BF39927}"/>
              </a:ext>
            </a:extLst>
          </p:cNvPr>
          <p:cNvSpPr>
            <a:spLocks xmlns:a="http://schemas.openxmlformats.org/drawingml/2006/main" noGrp="1"/>
          </p:cNvSpPr>
          <p:nvPr/>
        </p:nvSpPr>
        <p:spPr>
          <a:xfrm xmlns:a="http://schemas.openxmlformats.org/drawingml/2006/main">
            <a:off x="1543050" y="1695450"/>
            <a:ext cx="25241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13F30"/>
                </a:solidFill>
              </a:defRPr>
            </a:pPr>
            <a:r>
              <a:rPr sz="1875" b="1">
                <a:solidFill>
                  <a:srgbClr val="113F30"/>
                </a:solidFill>
              </a:rPr>
              <a:t>Production sequence and authorisation</a:t>
            </a:r>
          </a:p>
        </p:txBody>
      </p:sp>
      <p:sp>
        <p:nvSpPr>
          <p:cNvPr id="6" name="map-action-1">
            <a:extLst xmlns:a="http://schemas.openxmlformats.org/drawingml/2006/main">
              <a:ext uri="{FF2B5EF4-FFF2-40B4-BE49-F238E27FC236}">
                <a16:creationId xmlns:a16="http://schemas.microsoft.com/office/drawing/2014/main" id="{94BE9611-D7B9-478B-9351-F06DCBBDB336}"/>
              </a:ext>
            </a:extLst>
          </p:cNvPr>
          <p:cNvSpPr>
            <a:spLocks xmlns:a="http://schemas.openxmlformats.org/drawingml/2006/main" noGrp="1"/>
          </p:cNvSpPr>
          <p:nvPr/>
        </p:nvSpPr>
        <p:spPr>
          <a:xfrm xmlns:a="http://schemas.openxmlformats.org/drawingml/2006/main">
            <a:off x="819150" y="2647950"/>
            <a:ext cx="29146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F2A25"/>
                </a:solidFill>
              </a:defRPr>
            </a:pPr>
            <a:r>
              <a:rPr sz="1425" b="0">
                <a:solidFill>
                  <a:srgbClr val="1F2A25"/>
                </a:solidFill>
              </a:rPr>
              <a:t>Place broad production stages in order and mark where evidence and teacher authorisation are needed.</a:t>
            </a:r>
          </a:p>
        </p:txBody>
      </p:sp>
      <p:sp>
        <p:nvSpPr>
          <p:cNvPr id="7" name="map-number-2">
            <a:extLst xmlns:a="http://schemas.openxmlformats.org/drawingml/2006/main">
              <a:ext uri="{FF2B5EF4-FFF2-40B4-BE49-F238E27FC236}">
                <a16:creationId xmlns:a16="http://schemas.microsoft.com/office/drawing/2014/main" id="{FE22C2F3-5A7E-4FC5-8164-19B23D684F72}"/>
              </a:ext>
            </a:extLst>
          </p:cNvPr>
          <p:cNvSpPr>
            <a:spLocks xmlns:a="http://schemas.openxmlformats.org/drawingml/2006/main" noGrp="1"/>
          </p:cNvSpPr>
          <p:nvPr/>
        </p:nvSpPr>
        <p:spPr>
          <a:xfrm xmlns:a="http://schemas.openxmlformats.org/drawingml/2006/main">
            <a:off x="4248150" y="1676400"/>
            <a:ext cx="685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900" b="1">
                <a:solidFill>
                  <a:srgbClr val="E7AD31"/>
                </a:solidFill>
              </a:defRPr>
            </a:pPr>
            <a:r>
              <a:rPr sz="3900" b="1">
                <a:solidFill>
                  <a:srgbClr val="E7AD31"/>
                </a:solidFill>
              </a:rPr>
              <a:t>2</a:t>
            </a:r>
          </a:p>
        </p:txBody>
      </p:sp>
      <p:sp>
        <p:nvSpPr>
          <p:cNvPr id="8" name="map-title-2">
            <a:extLst xmlns:a="http://schemas.openxmlformats.org/drawingml/2006/main">
              <a:ext uri="{FF2B5EF4-FFF2-40B4-BE49-F238E27FC236}">
                <a16:creationId xmlns:a16="http://schemas.microsoft.com/office/drawing/2014/main" id="{21659706-DCD8-4DF6-AA61-2B2FD1F877CA}"/>
              </a:ext>
            </a:extLst>
          </p:cNvPr>
          <p:cNvSpPr>
            <a:spLocks xmlns:a="http://schemas.openxmlformats.org/drawingml/2006/main" noGrp="1"/>
          </p:cNvSpPr>
          <p:nvPr/>
        </p:nvSpPr>
        <p:spPr>
          <a:xfrm xmlns:a="http://schemas.openxmlformats.org/drawingml/2006/main">
            <a:off x="4972050" y="1695450"/>
            <a:ext cx="25241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13F30"/>
                </a:solidFill>
              </a:defRPr>
            </a:pPr>
            <a:r>
              <a:rPr sz="1875" b="1">
                <a:solidFill>
                  <a:srgbClr val="113F30"/>
                </a:solidFill>
              </a:rPr>
              <a:t>Edges, finishing and quality</a:t>
            </a:r>
          </a:p>
        </p:txBody>
      </p:sp>
      <p:sp>
        <p:nvSpPr>
          <p:cNvPr id="9" name="map-action-2">
            <a:extLst xmlns:a="http://schemas.openxmlformats.org/drawingml/2006/main">
              <a:ext uri="{FF2B5EF4-FFF2-40B4-BE49-F238E27FC236}">
                <a16:creationId xmlns:a16="http://schemas.microsoft.com/office/drawing/2014/main" id="{6F1FF2F0-EEEE-472C-A12D-D5E98214BAC0}"/>
              </a:ext>
            </a:extLst>
          </p:cNvPr>
          <p:cNvSpPr>
            <a:spLocks xmlns:a="http://schemas.openxmlformats.org/drawingml/2006/main" noGrp="1"/>
          </p:cNvSpPr>
          <p:nvPr/>
        </p:nvSpPr>
        <p:spPr>
          <a:xfrm xmlns:a="http://schemas.openxmlformats.org/drawingml/2006/main">
            <a:off x="4248150" y="2647950"/>
            <a:ext cx="29146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F2A25"/>
                </a:solidFill>
              </a:defRPr>
            </a:pPr>
            <a:r>
              <a:rPr sz="1425" b="0">
                <a:solidFill>
                  <a:srgbClr val="1F2A25"/>
                </a:solidFill>
              </a:rPr>
              <a:t>Rewrite ‘the edge is bad’ as an observable, checkable quality statement.</a:t>
            </a:r>
          </a:p>
        </p:txBody>
      </p:sp>
      <p:sp>
        <p:nvSpPr>
          <p:cNvPr id="10" name="map-number-3">
            <a:extLst xmlns:a="http://schemas.openxmlformats.org/drawingml/2006/main">
              <a:ext uri="{FF2B5EF4-FFF2-40B4-BE49-F238E27FC236}">
                <a16:creationId xmlns:a16="http://schemas.microsoft.com/office/drawing/2014/main" id="{AD626FD0-3170-41B5-A7E8-4382F6E0FCEE}"/>
              </a:ext>
            </a:extLst>
          </p:cNvPr>
          <p:cNvSpPr>
            <a:spLocks xmlns:a="http://schemas.openxmlformats.org/drawingml/2006/main" noGrp="1"/>
          </p:cNvSpPr>
          <p:nvPr/>
        </p:nvSpPr>
        <p:spPr>
          <a:xfrm xmlns:a="http://schemas.openxmlformats.org/drawingml/2006/main">
            <a:off x="7677150" y="1676400"/>
            <a:ext cx="685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900" b="1">
                <a:solidFill>
                  <a:srgbClr val="E7AD31"/>
                </a:solidFill>
              </a:defRPr>
            </a:pPr>
            <a:r>
              <a:rPr sz="3900" b="1">
                <a:solidFill>
                  <a:srgbClr val="E7AD31"/>
                </a:solidFill>
              </a:rPr>
              <a:t>3</a:t>
            </a:r>
          </a:p>
        </p:txBody>
      </p:sp>
      <p:sp>
        <p:nvSpPr>
          <p:cNvPr id="11" name="map-title-3">
            <a:extLst xmlns:a="http://schemas.openxmlformats.org/drawingml/2006/main">
              <a:ext uri="{FF2B5EF4-FFF2-40B4-BE49-F238E27FC236}">
                <a16:creationId xmlns:a16="http://schemas.microsoft.com/office/drawing/2014/main" id="{BBB7C9A4-E9DB-400E-8B63-3CB444CB45A7}"/>
              </a:ext>
            </a:extLst>
          </p:cNvPr>
          <p:cNvSpPr>
            <a:spLocks xmlns:a="http://schemas.openxmlformats.org/drawingml/2006/main" noGrp="1"/>
          </p:cNvSpPr>
          <p:nvPr/>
        </p:nvSpPr>
        <p:spPr>
          <a:xfrm xmlns:a="http://schemas.openxmlformats.org/drawingml/2006/main">
            <a:off x="8401050" y="1695450"/>
            <a:ext cx="25241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13F30"/>
                </a:solidFill>
              </a:defRPr>
            </a:pPr>
            <a:r>
              <a:rPr sz="1875" b="1">
                <a:solidFill>
                  <a:srgbClr val="113F30"/>
                </a:solidFill>
              </a:rPr>
              <a:t>Nesting, offcuts and process evidence</a:t>
            </a:r>
          </a:p>
        </p:txBody>
      </p:sp>
      <p:sp>
        <p:nvSpPr>
          <p:cNvPr id="12" name="map-action-3">
            <a:extLst xmlns:a="http://schemas.openxmlformats.org/drawingml/2006/main">
              <a:ext uri="{FF2B5EF4-FFF2-40B4-BE49-F238E27FC236}">
                <a16:creationId xmlns:a16="http://schemas.microsoft.com/office/drawing/2014/main" id="{D4938BFE-E9D1-46DF-A9F6-E3E62928B0D7}"/>
              </a:ext>
            </a:extLst>
          </p:cNvPr>
          <p:cNvSpPr>
            <a:spLocks xmlns:a="http://schemas.openxmlformats.org/drawingml/2006/main" noGrp="1"/>
          </p:cNvSpPr>
          <p:nvPr/>
        </p:nvSpPr>
        <p:spPr>
          <a:xfrm xmlns:a="http://schemas.openxmlformats.org/drawingml/2006/main">
            <a:off x="7677150" y="2647950"/>
            <a:ext cx="29146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F2A25"/>
                </a:solidFill>
              </a:defRPr>
            </a:pPr>
            <a:r>
              <a:rPr sz="1425" b="0">
                <a:solidFill>
                  <a:srgbClr val="1F2A25"/>
                </a:solidFill>
              </a:rPr>
              <a:t>Choose the strongest evidence set for explaining a plan-to-result difference and justify your choice.</a:t>
            </a:r>
          </a:p>
        </p:txBody>
      </p:sp>
      <p:sp>
        <p:nvSpPr>
          <p:cNvPr id="13" name="warm-up-band">
            <a:extLst xmlns:a="http://schemas.openxmlformats.org/drawingml/2006/main">
              <a:ext uri="{FF2B5EF4-FFF2-40B4-BE49-F238E27FC236}">
                <a16:creationId xmlns:a16="http://schemas.microsoft.com/office/drawing/2014/main" id="{9DB83117-2DF0-430E-8EC8-88AC6050638C}"/>
              </a:ext>
            </a:extLst>
          </p:cNvPr>
          <p:cNvSpPr>
            <a:spLocks xmlns:a="http://schemas.openxmlformats.org/drawingml/2006/main" noGrp="1"/>
          </p:cNvSpPr>
          <p:nvPr/>
        </p:nvSpPr>
        <p:spPr>
          <a:xfrm xmlns:a="http://schemas.openxmlformats.org/drawingml/2006/main">
            <a:off x="685800" y="4629150"/>
            <a:ext cx="10820400" cy="1257300"/>
          </a:xfrm>
          <a:prstGeom xmlns:a="http://schemas.openxmlformats.org/drawingml/2006/main" prst="roundRect">
            <a:avLst>
              <a:gd name="adj" fmla="val 15152"/>
            </a:avLst>
          </a:prstGeom>
          <a:solidFill xmlns:a="http://schemas.openxmlformats.org/drawingml/2006/main">
            <a:srgbClr val="E8F3ED"/>
          </a:solidFill>
          <a:ln xmlns:a="http://schemas.openxmlformats.org/drawingml/2006/main" w="9525">
            <a:solidFill>
              <a:srgbClr val="C8D8CF"/>
            </a:solidFill>
            <a:prstDash val="solid"/>
          </a:ln>
        </p:spPr>
      </p:sp>
      <p:sp>
        <p:nvSpPr>
          <p:cNvPr id="14" name="warm-up-label">
            <a:extLst xmlns:a="http://schemas.openxmlformats.org/drawingml/2006/main">
              <a:ext uri="{FF2B5EF4-FFF2-40B4-BE49-F238E27FC236}">
                <a16:creationId xmlns:a16="http://schemas.microsoft.com/office/drawing/2014/main" id="{9215D898-31C1-499A-A120-6E6BE5B471DA}"/>
              </a:ext>
            </a:extLst>
          </p:cNvPr>
          <p:cNvSpPr>
            <a:spLocks xmlns:a="http://schemas.openxmlformats.org/drawingml/2006/main" noGrp="1"/>
          </p:cNvSpPr>
          <p:nvPr/>
        </p:nvSpPr>
        <p:spPr>
          <a:xfrm xmlns:a="http://schemas.openxmlformats.org/drawingml/2006/main">
            <a:off x="990600" y="4876800"/>
            <a:ext cx="2590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84932"/>
                </a:solidFill>
              </a:defRPr>
            </a:pPr>
            <a:r>
              <a:rPr sz="1125" b="1">
                <a:solidFill>
                  <a:srgbClr val="B84932"/>
                </a:solidFill>
              </a:rPr>
              <a:t>RETRIEVAL WARM-UP</a:t>
            </a:r>
          </a:p>
        </p:txBody>
      </p:sp>
      <p:sp>
        <p:nvSpPr>
          <p:cNvPr id="15" name="warm-up-question">
            <a:extLst xmlns:a="http://schemas.openxmlformats.org/drawingml/2006/main">
              <a:ext uri="{FF2B5EF4-FFF2-40B4-BE49-F238E27FC236}">
                <a16:creationId xmlns:a16="http://schemas.microsoft.com/office/drawing/2014/main" id="{22DAAED9-23E6-4C0C-A3BD-442F6CA07FB5}"/>
              </a:ext>
            </a:extLst>
          </p:cNvPr>
          <p:cNvSpPr>
            <a:spLocks xmlns:a="http://schemas.openxmlformats.org/drawingml/2006/main" noGrp="1"/>
          </p:cNvSpPr>
          <p:nvPr/>
        </p:nvSpPr>
        <p:spPr>
          <a:xfrm xmlns:a="http://schemas.openxmlformats.org/drawingml/2006/main">
            <a:off x="990600" y="5219700"/>
            <a:ext cx="9791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13F30"/>
                </a:solidFill>
              </a:defRPr>
            </a:pPr>
            <a:r>
              <a:rPr sz="1950" b="1">
                <a:solidFill>
                  <a:srgbClr val="113F30"/>
                </a:solidFill>
              </a:rPr>
              <a:t>Retrieval: what evidence should be ready at a production approval hold point?</a:t>
            </a:r>
          </a:p>
        </p:txBody>
      </p:sp>
      <p:sp>
        <p:nvSpPr>
          <p:cNvPr id="16" name="footer-rule-2">
            <a:extLst xmlns:a="http://schemas.openxmlformats.org/drawingml/2006/main">
              <a:ext uri="{FF2B5EF4-FFF2-40B4-BE49-F238E27FC236}">
                <a16:creationId xmlns:a16="http://schemas.microsoft.com/office/drawing/2014/main" id="{C538FDC4-D60D-4F34-96AD-CB8797D28164}"/>
              </a:ext>
            </a:extLst>
          </p:cNvPr>
          <p:cNvSpPr>
            <a:spLocks xmlns:a="http://schemas.openxmlformats.org/drawingml/2006/main" noGrp="1"/>
          </p:cNvSpPr>
          <p:nvPr/>
        </p:nvSpPr>
        <p:spPr>
          <a:xfrm xmlns:a="http://schemas.openxmlformats.org/drawingml/2006/main">
            <a:off x="685800" y="6486525"/>
            <a:ext cx="10820400" cy="19050"/>
          </a:xfrm>
          <a:prstGeom xmlns:a="http://schemas.openxmlformats.org/drawingml/2006/main" prst="rect">
            <a:avLst/>
          </a:prstGeom>
          <a:solidFill xmlns:a="http://schemas.openxmlformats.org/drawingml/2006/main">
            <a:srgbClr val="C8D8CF"/>
          </a:solidFill>
          <a:ln xmlns:a="http://schemas.openxmlformats.org/drawingml/2006/main" w="0">
            <a:solidFill>
              <a:srgbClr val="C8D8CF"/>
            </a:solidFill>
            <a:prstDash val="solid"/>
          </a:ln>
        </p:spPr>
      </p:sp>
      <p:sp>
        <p:nvSpPr>
          <p:cNvPr id="17" name="footer-label-2">
            <a:extLst xmlns:a="http://schemas.openxmlformats.org/drawingml/2006/main">
              <a:ext uri="{FF2B5EF4-FFF2-40B4-BE49-F238E27FC236}">
                <a16:creationId xmlns:a16="http://schemas.microsoft.com/office/drawing/2014/main" id="{EC26F4E3-247B-48E9-BBBB-823C570E0A80}"/>
              </a:ext>
            </a:extLst>
          </p:cNvPr>
          <p:cNvSpPr>
            <a:spLocks xmlns:a="http://schemas.openxmlformats.org/drawingml/2006/main" noGrp="1"/>
          </p:cNvSpPr>
          <p:nvPr/>
        </p:nvSpPr>
        <p:spPr>
          <a:xfrm xmlns:a="http://schemas.openxmlformats.org/drawingml/2006/main">
            <a:off x="685800" y="6562725"/>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4645D"/>
                </a:solidFill>
              </a:defRPr>
            </a:pPr>
            <a:r>
              <a:rPr sz="900" b="1">
                <a:solidFill>
                  <a:srgbClr val="54645D"/>
                </a:solidFill>
              </a:rPr>
              <a:t>SWINGING SIGN  •  MODULE 4</a:t>
            </a:r>
          </a:p>
        </p:txBody>
      </p:sp>
      <p:sp>
        <p:nvSpPr>
          <p:cNvPr id="18" name="footer-page-2">
            <a:extLst xmlns:a="http://schemas.openxmlformats.org/drawingml/2006/main">
              <a:ext uri="{FF2B5EF4-FFF2-40B4-BE49-F238E27FC236}">
                <a16:creationId xmlns:a16="http://schemas.microsoft.com/office/drawing/2014/main" id="{1DAB46A6-C084-44BE-A873-A2C8E0DF8B86}"/>
              </a:ext>
            </a:extLst>
          </p:cNvPr>
          <p:cNvSpPr>
            <a:spLocks xmlns:a="http://schemas.openxmlformats.org/drawingml/2006/main" noGrp="1"/>
          </p:cNvSpPr>
          <p:nvPr/>
        </p:nvSpPr>
        <p:spPr>
          <a:xfrm xmlns:a="http://schemas.openxmlformats.org/drawingml/2006/main">
            <a:off x="10763250" y="6562725"/>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4645D"/>
                </a:solidFill>
              </a:defRPr>
            </a:pPr>
            <a:r>
              <a:rPr sz="900" b="1">
                <a:solidFill>
                  <a:srgbClr val="54645D"/>
                </a:solidFill>
              </a:rPr>
              <a:t>2 / 8</a:t>
            </a:r>
          </a:p>
        </p:txBody>
      </p:sp>
    </p:spTree>
    <p:extLst>
      <p:ext uri="{BB962C8B-B14F-4D97-AF65-F5344CB8AC3E}">
        <p14:creationId xmlns:p14="http://schemas.microsoft.com/office/powerpoint/2010/main" val="741919165"/>
      </p:ext>
    </p:extLst>
  </p:cSld>
</p:sld>
</file>

<file path=ppt/slides/slide3.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9" name="accent-3">
            <a:extLst xmlns:a="http://schemas.openxmlformats.org/drawingml/2006/main">
              <a:ext uri="{FF2B5EF4-FFF2-40B4-BE49-F238E27FC236}">
                <a16:creationId xmlns:a16="http://schemas.microsoft.com/office/drawing/2014/main" id="{97118BB0-C0A3-47F5-A74E-78E8FA88FFF6}"/>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E7AD31"/>
          </a:solidFill>
          <a:ln xmlns:a="http://schemas.openxmlformats.org/drawingml/2006/main" w="0">
            <a:solidFill>
              <a:srgbClr val="E7AD31"/>
            </a:solidFill>
            <a:prstDash val="solid"/>
          </a:ln>
        </p:spPr>
      </p:sp>
      <p:sp>
        <p:nvSpPr>
          <p:cNvPr id="2" name="module-kicker-3">
            <a:extLst xmlns:a="http://schemas.openxmlformats.org/drawingml/2006/main">
              <a:ext uri="{FF2B5EF4-FFF2-40B4-BE49-F238E27FC236}">
                <a16:creationId xmlns:a16="http://schemas.microsoft.com/office/drawing/2014/main" id="{F7F08E15-0977-4356-B876-B5DD1B54F58D}"/>
              </a:ext>
            </a:extLst>
          </p:cNvPr>
          <p:cNvSpPr>
            <a:spLocks xmlns:a="http://schemas.openxmlformats.org/drawingml/2006/main" noGrp="1"/>
          </p:cNvSpPr>
          <p:nvPr/>
        </p:nvSpPr>
        <p:spPr>
          <a:xfrm xmlns:a="http://schemas.openxmlformats.org/drawingml/2006/main">
            <a:off x="685800" y="2667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84932"/>
                </a:solidFill>
              </a:defRPr>
            </a:pPr>
            <a:r>
              <a:rPr sz="1050" b="1">
                <a:solidFill>
                  <a:srgbClr val="B84932"/>
                </a:solidFill>
              </a:rPr>
              <a:t>MODULE 4  •  PRODUCE AND CONTROL QUALITY</a:t>
            </a:r>
          </a:p>
        </p:txBody>
      </p:sp>
      <p:sp>
        <p:nvSpPr>
          <p:cNvPr id="3" name="slide-title-3">
            <a:extLst xmlns:a="http://schemas.openxmlformats.org/drawingml/2006/main">
              <a:ext uri="{FF2B5EF4-FFF2-40B4-BE49-F238E27FC236}">
                <a16:creationId xmlns:a16="http://schemas.microsoft.com/office/drawing/2014/main" id="{3870AD8B-AF43-44FD-A69A-375870C34832}"/>
              </a:ext>
            </a:extLst>
          </p:cNvPr>
          <p:cNvSpPr>
            <a:spLocks xmlns:a="http://schemas.openxmlformats.org/drawingml/2006/main" noGrp="1"/>
          </p:cNvSpPr>
          <p:nvPr/>
        </p:nvSpPr>
        <p:spPr>
          <a:xfrm xmlns:a="http://schemas.openxmlformats.org/drawingml/2006/main">
            <a:off x="685800" y="590550"/>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13F30"/>
                </a:solidFill>
              </a:defRPr>
            </a:pPr>
            <a:r>
              <a:rPr sz="2850" b="1">
                <a:solidFill>
                  <a:srgbClr val="113F30"/>
                </a:solidFill>
              </a:rPr>
              <a:t>Production is a sequence of authorised decisions</a:t>
            </a:r>
          </a:p>
        </p:txBody>
      </p:sp>
      <p:sp>
        <p:nvSpPr>
          <p:cNvPr id="4" name="section-name-3">
            <a:extLst xmlns:a="http://schemas.openxmlformats.org/drawingml/2006/main">
              <a:ext uri="{FF2B5EF4-FFF2-40B4-BE49-F238E27FC236}">
                <a16:creationId xmlns:a16="http://schemas.microsoft.com/office/drawing/2014/main" id="{739165C3-9D47-4379-8CB6-01A6257DAA3D}"/>
              </a:ext>
            </a:extLst>
          </p:cNvPr>
          <p:cNvSpPr>
            <a:spLocks xmlns:a="http://schemas.openxmlformats.org/drawingml/2006/main" noGrp="1"/>
          </p:cNvSpPr>
          <p:nvPr/>
        </p:nvSpPr>
        <p:spPr>
          <a:xfrm xmlns:a="http://schemas.openxmlformats.org/drawingml/2006/main">
            <a:off x="685800" y="1285875"/>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84932"/>
                </a:solidFill>
              </a:defRPr>
            </a:pPr>
            <a:r>
              <a:rPr sz="1050" b="1">
                <a:solidFill>
                  <a:srgbClr val="B84932"/>
                </a:solidFill>
              </a:rPr>
              <a:t>PRODUCTION SEQUENCE AND AUTHORISATION</a:t>
            </a:r>
          </a:p>
        </p:txBody>
      </p:sp>
      <p:sp>
        <p:nvSpPr>
          <p:cNvPr id="5" name="s3-mark-1">
            <a:extLst xmlns:a="http://schemas.openxmlformats.org/drawingml/2006/main">
              <a:ext uri="{FF2B5EF4-FFF2-40B4-BE49-F238E27FC236}">
                <a16:creationId xmlns:a16="http://schemas.microsoft.com/office/drawing/2014/main" id="{33C8C164-431C-4574-BD77-95A2108EF5D6}"/>
              </a:ext>
            </a:extLst>
          </p:cNvPr>
          <p:cNvSpPr>
            <a:spLocks xmlns:a="http://schemas.openxmlformats.org/drawingml/2006/main" noGrp="1"/>
          </p:cNvSpPr>
          <p:nvPr/>
        </p:nvSpPr>
        <p:spPr>
          <a:xfrm xmlns:a="http://schemas.openxmlformats.org/drawingml/2006/main">
            <a:off x="685800" y="1790700"/>
            <a:ext cx="114300" cy="114300"/>
          </a:xfrm>
          <a:prstGeom xmlns:a="http://schemas.openxmlformats.org/drawingml/2006/main" prst="roundRect">
            <a:avLst>
              <a:gd name="adj" fmla="val 50000"/>
            </a:avLst>
          </a:prstGeom>
          <a:solidFill xmlns:a="http://schemas.openxmlformats.org/drawingml/2006/main">
            <a:srgbClr val="E7AD31"/>
          </a:solidFill>
          <a:ln xmlns:a="http://schemas.openxmlformats.org/drawingml/2006/main" w="0">
            <a:solidFill>
              <a:srgbClr val="E7AD31"/>
            </a:solidFill>
            <a:prstDash val="solid"/>
          </a:ln>
        </p:spPr>
      </p:sp>
      <p:sp>
        <p:nvSpPr>
          <p:cNvPr id="6" name="s3-text-1">
            <a:extLst xmlns:a="http://schemas.openxmlformats.org/drawingml/2006/main">
              <a:ext uri="{FF2B5EF4-FFF2-40B4-BE49-F238E27FC236}">
                <a16:creationId xmlns:a16="http://schemas.microsoft.com/office/drawing/2014/main" id="{687F0E21-C28E-4FD8-9767-DBC3F02257CA}"/>
              </a:ext>
            </a:extLst>
          </p:cNvPr>
          <p:cNvSpPr>
            <a:spLocks xmlns:a="http://schemas.openxmlformats.org/drawingml/2006/main" noGrp="1"/>
          </p:cNvSpPr>
          <p:nvPr/>
        </p:nvSpPr>
        <p:spPr>
          <a:xfrm xmlns:a="http://schemas.openxmlformats.org/drawingml/2006/main">
            <a:off x="952500" y="1714500"/>
            <a:ext cx="3905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1F2A25"/>
                </a:solidFill>
              </a:defRPr>
            </a:pPr>
            <a:r>
              <a:rPr sz="1575" b="0">
                <a:solidFill>
                  <a:srgbClr val="1F2A25"/>
                </a:solidFill>
              </a:rPr>
              <a:t>A production sequence explains dependencies: what must be known, checked or completed before the next stage.</a:t>
            </a:r>
          </a:p>
        </p:txBody>
      </p:sp>
      <p:sp>
        <p:nvSpPr>
          <p:cNvPr id="7" name="s3-mark-2">
            <a:extLst xmlns:a="http://schemas.openxmlformats.org/drawingml/2006/main">
              <a:ext uri="{FF2B5EF4-FFF2-40B4-BE49-F238E27FC236}">
                <a16:creationId xmlns:a16="http://schemas.microsoft.com/office/drawing/2014/main" id="{44D7A421-2B27-45DD-9AEC-E62490F1BB37}"/>
              </a:ext>
            </a:extLst>
          </p:cNvPr>
          <p:cNvSpPr>
            <a:spLocks xmlns:a="http://schemas.openxmlformats.org/drawingml/2006/main" noGrp="1"/>
          </p:cNvSpPr>
          <p:nvPr/>
        </p:nvSpPr>
        <p:spPr>
          <a:xfrm xmlns:a="http://schemas.openxmlformats.org/drawingml/2006/main">
            <a:off x="685800" y="2781300"/>
            <a:ext cx="114300" cy="114300"/>
          </a:xfrm>
          <a:prstGeom xmlns:a="http://schemas.openxmlformats.org/drawingml/2006/main" prst="roundRect">
            <a:avLst>
              <a:gd name="adj" fmla="val 50000"/>
            </a:avLst>
          </a:prstGeom>
          <a:solidFill xmlns:a="http://schemas.openxmlformats.org/drawingml/2006/main">
            <a:srgbClr val="E7AD31"/>
          </a:solidFill>
          <a:ln xmlns:a="http://schemas.openxmlformats.org/drawingml/2006/main" w="0">
            <a:solidFill>
              <a:srgbClr val="E7AD31"/>
            </a:solidFill>
            <a:prstDash val="solid"/>
          </a:ln>
        </p:spPr>
      </p:sp>
      <p:sp>
        <p:nvSpPr>
          <p:cNvPr id="8" name="s3-text-2">
            <a:extLst xmlns:a="http://schemas.openxmlformats.org/drawingml/2006/main">
              <a:ext uri="{FF2B5EF4-FFF2-40B4-BE49-F238E27FC236}">
                <a16:creationId xmlns:a16="http://schemas.microsoft.com/office/drawing/2014/main" id="{89904326-E568-41D7-971B-AC5A2A80509E}"/>
              </a:ext>
            </a:extLst>
          </p:cNvPr>
          <p:cNvSpPr>
            <a:spLocks xmlns:a="http://schemas.openxmlformats.org/drawingml/2006/main" noGrp="1"/>
          </p:cNvSpPr>
          <p:nvPr/>
        </p:nvSpPr>
        <p:spPr>
          <a:xfrm xmlns:a="http://schemas.openxmlformats.org/drawingml/2006/main">
            <a:off x="952500" y="2705100"/>
            <a:ext cx="3905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1F2A25"/>
                </a:solidFill>
              </a:defRPr>
            </a:pPr>
            <a:r>
              <a:rPr sz="1575" b="0">
                <a:solidFill>
                  <a:srgbClr val="1F2A25"/>
                </a:solidFill>
              </a:rPr>
              <a:t>Hold points protect quality and safety before material is committed or an unexpected result is carried forward.</a:t>
            </a:r>
          </a:p>
        </p:txBody>
      </p:sp>
      <p:sp>
        <p:nvSpPr>
          <p:cNvPr id="9" name="s3-mark-3">
            <a:extLst xmlns:a="http://schemas.openxmlformats.org/drawingml/2006/main">
              <a:ext uri="{FF2B5EF4-FFF2-40B4-BE49-F238E27FC236}">
                <a16:creationId xmlns:a16="http://schemas.microsoft.com/office/drawing/2014/main" id="{560BCB3C-5CD7-4530-883A-FB8256B1FA68}"/>
              </a:ext>
            </a:extLst>
          </p:cNvPr>
          <p:cNvSpPr>
            <a:spLocks xmlns:a="http://schemas.openxmlformats.org/drawingml/2006/main" noGrp="1"/>
          </p:cNvSpPr>
          <p:nvPr/>
        </p:nvSpPr>
        <p:spPr>
          <a:xfrm xmlns:a="http://schemas.openxmlformats.org/drawingml/2006/main">
            <a:off x="685800" y="3771900"/>
            <a:ext cx="114300" cy="114300"/>
          </a:xfrm>
          <a:prstGeom xmlns:a="http://schemas.openxmlformats.org/drawingml/2006/main" prst="roundRect">
            <a:avLst>
              <a:gd name="adj" fmla="val 50000"/>
            </a:avLst>
          </a:prstGeom>
          <a:solidFill xmlns:a="http://schemas.openxmlformats.org/drawingml/2006/main">
            <a:srgbClr val="E7AD31"/>
          </a:solidFill>
          <a:ln xmlns:a="http://schemas.openxmlformats.org/drawingml/2006/main" w="0">
            <a:solidFill>
              <a:srgbClr val="E7AD31"/>
            </a:solidFill>
            <a:prstDash val="solid"/>
          </a:ln>
        </p:spPr>
      </p:sp>
      <p:sp>
        <p:nvSpPr>
          <p:cNvPr id="10" name="s3-text-3">
            <a:extLst xmlns:a="http://schemas.openxmlformats.org/drawingml/2006/main">
              <a:ext uri="{FF2B5EF4-FFF2-40B4-BE49-F238E27FC236}">
                <a16:creationId xmlns:a16="http://schemas.microsoft.com/office/drawing/2014/main" id="{E00FCBDF-CFEC-420F-8619-CE3D5A844016}"/>
              </a:ext>
            </a:extLst>
          </p:cNvPr>
          <p:cNvSpPr>
            <a:spLocks xmlns:a="http://schemas.openxmlformats.org/drawingml/2006/main" noGrp="1"/>
          </p:cNvSpPr>
          <p:nvPr/>
        </p:nvSpPr>
        <p:spPr>
          <a:xfrm xmlns:a="http://schemas.openxmlformats.org/drawingml/2006/main">
            <a:off x="952500" y="3695700"/>
            <a:ext cx="3905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1F2A25"/>
                </a:solidFill>
              </a:defRPr>
            </a:pPr>
            <a:r>
              <a:rPr sz="1575" b="0">
                <a:solidFill>
                  <a:srgbClr val="1F2A25"/>
                </a:solidFill>
              </a:rPr>
              <a:t>Approval belongs to a defined state and next action. Changes must be recorded and may need fresh authorisation.</a:t>
            </a:r>
          </a:p>
        </p:txBody>
      </p:sp>
      <p:sp>
        <p:nvSpPr>
          <p:cNvPr id="11" name="prompt-band-3">
            <a:extLst xmlns:a="http://schemas.openxmlformats.org/drawingml/2006/main">
              <a:ext uri="{FF2B5EF4-FFF2-40B4-BE49-F238E27FC236}">
                <a16:creationId xmlns:a16="http://schemas.microsoft.com/office/drawing/2014/main" id="{439F23CE-8241-4F35-82BC-3F80C7B6ED2A}"/>
              </a:ext>
            </a:extLst>
          </p:cNvPr>
          <p:cNvSpPr>
            <a:spLocks xmlns:a="http://schemas.openxmlformats.org/drawingml/2006/main" noGrp="1"/>
          </p:cNvSpPr>
          <p:nvPr/>
        </p:nvSpPr>
        <p:spPr>
          <a:xfrm xmlns:a="http://schemas.openxmlformats.org/drawingml/2006/main">
            <a:off x="685800" y="4724400"/>
            <a:ext cx="4171950" cy="1257300"/>
          </a:xfrm>
          <a:prstGeom xmlns:a="http://schemas.openxmlformats.org/drawingml/2006/main" prst="roundRect">
            <a:avLst>
              <a:gd name="adj" fmla="val 12121"/>
            </a:avLst>
          </a:prstGeom>
          <a:solidFill xmlns:a="http://schemas.openxmlformats.org/drawingml/2006/main">
            <a:srgbClr val="E8F3ED"/>
          </a:solidFill>
          <a:ln xmlns:a="http://schemas.openxmlformats.org/drawingml/2006/main" w="9525">
            <a:solidFill>
              <a:srgbClr val="C8D8CF"/>
            </a:solidFill>
            <a:prstDash val="solid"/>
          </a:ln>
        </p:spPr>
      </p:sp>
      <p:sp>
        <p:nvSpPr>
          <p:cNvPr id="12" name="prompt-label-3">
            <a:extLst xmlns:a="http://schemas.openxmlformats.org/drawingml/2006/main">
              <a:ext uri="{FF2B5EF4-FFF2-40B4-BE49-F238E27FC236}">
                <a16:creationId xmlns:a16="http://schemas.microsoft.com/office/drawing/2014/main" id="{B71C2EAB-EF49-49C8-96E2-C19F4A09B1E1}"/>
              </a:ext>
            </a:extLst>
          </p:cNvPr>
          <p:cNvSpPr>
            <a:spLocks xmlns:a="http://schemas.openxmlformats.org/drawingml/2006/main" noGrp="1"/>
          </p:cNvSpPr>
          <p:nvPr/>
        </p:nvSpPr>
        <p:spPr>
          <a:xfrm xmlns:a="http://schemas.openxmlformats.org/drawingml/2006/main">
            <a:off x="895350" y="4857750"/>
            <a:ext cx="123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84932"/>
                </a:solidFill>
              </a:defRPr>
            </a:pPr>
            <a:r>
              <a:rPr sz="1050" b="1">
                <a:solidFill>
                  <a:srgbClr val="B84932"/>
                </a:solidFill>
              </a:rPr>
              <a:t>APPLY IT</a:t>
            </a:r>
          </a:p>
        </p:txBody>
      </p:sp>
      <p:sp>
        <p:nvSpPr>
          <p:cNvPr id="13" name="prompt-3">
            <a:extLst xmlns:a="http://schemas.openxmlformats.org/drawingml/2006/main">
              <a:ext uri="{FF2B5EF4-FFF2-40B4-BE49-F238E27FC236}">
                <a16:creationId xmlns:a16="http://schemas.microsoft.com/office/drawing/2014/main" id="{CD645F93-F884-436D-8792-D948AED94C3E}"/>
              </a:ext>
            </a:extLst>
          </p:cNvPr>
          <p:cNvSpPr>
            <a:spLocks xmlns:a="http://schemas.openxmlformats.org/drawingml/2006/main" noGrp="1"/>
          </p:cNvSpPr>
          <p:nvPr/>
        </p:nvSpPr>
        <p:spPr>
          <a:xfrm xmlns:a="http://schemas.openxmlformats.org/drawingml/2006/main">
            <a:off x="895350" y="5143500"/>
            <a:ext cx="3714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13F30"/>
                </a:solidFill>
              </a:defRPr>
            </a:pPr>
            <a:r>
              <a:rPr sz="1350" b="1">
                <a:solidFill>
                  <a:srgbClr val="113F30"/>
                </a:solidFill>
              </a:rPr>
              <a:t>Place broad production stages in order and mark where evidence and teacher authorisation are needed.</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6a6695855c3a4d96"/>
          <a:srcRect xmlns:a="http://schemas.openxmlformats.org/drawingml/2006/main" l="226" t="0" r="226" b="0"/>
          <a:stretch xmlns:a="http://schemas.openxmlformats.org/drawingml/2006/main">
            <a:fillRect l="0" t="0" r="0" b="0"/>
          </a:stretch>
        </p:blipFill>
        <p:spPr>
          <a:xfrm xmlns:a="http://schemas.openxmlformats.org/drawingml/2006/main">
            <a:off x="5219700" y="1447800"/>
            <a:ext cx="6286500" cy="4210050"/>
          </a:xfrm>
          <a:prstGeom xmlns:a="http://schemas.openxmlformats.org/drawingml/2006/main" prst="roundRect">
            <a:avLst>
              <a:gd name="adj" fmla="val 4072"/>
            </a:avLst>
          </a:prstGeom>
        </p:spPr>
      </p:pic>
      <p:sp>
        <p:nvSpPr>
          <p:cNvPr id="15" name="caption-3">
            <a:extLst xmlns:a="http://schemas.openxmlformats.org/drawingml/2006/main">
              <a:ext uri="{FF2B5EF4-FFF2-40B4-BE49-F238E27FC236}">
                <a16:creationId xmlns:a16="http://schemas.microsoft.com/office/drawing/2014/main" id="{BDE05712-A492-4A2D-A64B-D5FD2F0771B7}"/>
              </a:ext>
            </a:extLst>
          </p:cNvPr>
          <p:cNvSpPr>
            <a:spLocks xmlns:a="http://schemas.openxmlformats.org/drawingml/2006/main" noGrp="1"/>
          </p:cNvSpPr>
          <p:nvPr/>
        </p:nvSpPr>
        <p:spPr>
          <a:xfrm xmlns:a="http://schemas.openxmlformats.org/drawingml/2006/main">
            <a:off x="5334000" y="5772150"/>
            <a:ext cx="605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4645D"/>
                </a:solidFill>
              </a:defRPr>
            </a:pPr>
            <a:r>
              <a:rPr sz="1275" b="0">
                <a:solidFill>
                  <a:srgbClr val="54645D"/>
                </a:solidFill>
              </a:rPr>
              <a:t>A sound sequence follows dependencies and pauses at decision points.</a:t>
            </a:r>
          </a:p>
        </p:txBody>
      </p:sp>
      <p:sp>
        <p:nvSpPr>
          <p:cNvPr id="16" name="footer-rule-3">
            <a:extLst xmlns:a="http://schemas.openxmlformats.org/drawingml/2006/main">
              <a:ext uri="{FF2B5EF4-FFF2-40B4-BE49-F238E27FC236}">
                <a16:creationId xmlns:a16="http://schemas.microsoft.com/office/drawing/2014/main" id="{470A4151-6457-4A64-ADA0-438C8A0FC1BA}"/>
              </a:ext>
            </a:extLst>
          </p:cNvPr>
          <p:cNvSpPr>
            <a:spLocks xmlns:a="http://schemas.openxmlformats.org/drawingml/2006/main" noGrp="1"/>
          </p:cNvSpPr>
          <p:nvPr/>
        </p:nvSpPr>
        <p:spPr>
          <a:xfrm xmlns:a="http://schemas.openxmlformats.org/drawingml/2006/main">
            <a:off x="685800" y="6486525"/>
            <a:ext cx="10820400" cy="19050"/>
          </a:xfrm>
          <a:prstGeom xmlns:a="http://schemas.openxmlformats.org/drawingml/2006/main" prst="rect">
            <a:avLst/>
          </a:prstGeom>
          <a:solidFill xmlns:a="http://schemas.openxmlformats.org/drawingml/2006/main">
            <a:srgbClr val="C8D8CF"/>
          </a:solidFill>
          <a:ln xmlns:a="http://schemas.openxmlformats.org/drawingml/2006/main" w="0">
            <a:solidFill>
              <a:srgbClr val="C8D8CF"/>
            </a:solidFill>
            <a:prstDash val="solid"/>
          </a:ln>
        </p:spPr>
      </p:sp>
      <p:sp>
        <p:nvSpPr>
          <p:cNvPr id="17" name="footer-label-3">
            <a:extLst xmlns:a="http://schemas.openxmlformats.org/drawingml/2006/main">
              <a:ext uri="{FF2B5EF4-FFF2-40B4-BE49-F238E27FC236}">
                <a16:creationId xmlns:a16="http://schemas.microsoft.com/office/drawing/2014/main" id="{BABC810C-8463-4416-B984-C37DE2DB9C20}"/>
              </a:ext>
            </a:extLst>
          </p:cNvPr>
          <p:cNvSpPr>
            <a:spLocks xmlns:a="http://schemas.openxmlformats.org/drawingml/2006/main" noGrp="1"/>
          </p:cNvSpPr>
          <p:nvPr/>
        </p:nvSpPr>
        <p:spPr>
          <a:xfrm xmlns:a="http://schemas.openxmlformats.org/drawingml/2006/main">
            <a:off x="685800" y="6562725"/>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4645D"/>
                </a:solidFill>
              </a:defRPr>
            </a:pPr>
            <a:r>
              <a:rPr sz="900" b="1">
                <a:solidFill>
                  <a:srgbClr val="54645D"/>
                </a:solidFill>
              </a:rPr>
              <a:t>SWINGING SIGN  •  MODULE 4</a:t>
            </a:r>
          </a:p>
        </p:txBody>
      </p:sp>
      <p:sp>
        <p:nvSpPr>
          <p:cNvPr id="18" name="footer-page-3">
            <a:extLst xmlns:a="http://schemas.openxmlformats.org/drawingml/2006/main">
              <a:ext uri="{FF2B5EF4-FFF2-40B4-BE49-F238E27FC236}">
                <a16:creationId xmlns:a16="http://schemas.microsoft.com/office/drawing/2014/main" id="{36854B8A-D60E-4F2E-BEC5-C2BB6202E439}"/>
              </a:ext>
            </a:extLst>
          </p:cNvPr>
          <p:cNvSpPr>
            <a:spLocks xmlns:a="http://schemas.openxmlformats.org/drawingml/2006/main" noGrp="1"/>
          </p:cNvSpPr>
          <p:nvPr/>
        </p:nvSpPr>
        <p:spPr>
          <a:xfrm xmlns:a="http://schemas.openxmlformats.org/drawingml/2006/main">
            <a:off x="10763250" y="6562725"/>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4645D"/>
                </a:solidFill>
              </a:defRPr>
            </a:pPr>
            <a:r>
              <a:rPr sz="900" b="1">
                <a:solidFill>
                  <a:srgbClr val="54645D"/>
                </a:solidFill>
              </a:rPr>
              <a:t>3 / 8</a:t>
            </a:r>
          </a:p>
        </p:txBody>
      </p:sp>
    </p:spTree>
    <p:extLst>
      <p:ext uri="{BB962C8B-B14F-4D97-AF65-F5344CB8AC3E}">
        <p14:creationId xmlns:p14="http://schemas.microsoft.com/office/powerpoint/2010/main" val="108717439"/>
      </p:ext>
    </p:extLst>
  </p:cSld>
</p:sld>
</file>

<file path=ppt/slides/slide4.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9" name="accent-4">
            <a:extLst xmlns:a="http://schemas.openxmlformats.org/drawingml/2006/main">
              <a:ext uri="{FF2B5EF4-FFF2-40B4-BE49-F238E27FC236}">
                <a16:creationId xmlns:a16="http://schemas.microsoft.com/office/drawing/2014/main" id="{B3F0116B-3F3E-4CD4-9610-9E876BDFE865}"/>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E7AD31"/>
          </a:solidFill>
          <a:ln xmlns:a="http://schemas.openxmlformats.org/drawingml/2006/main" w="0">
            <a:solidFill>
              <a:srgbClr val="E7AD31"/>
            </a:solidFill>
            <a:prstDash val="solid"/>
          </a:ln>
        </p:spPr>
      </p:sp>
      <p:sp>
        <p:nvSpPr>
          <p:cNvPr id="2" name="module-kicker-4">
            <a:extLst xmlns:a="http://schemas.openxmlformats.org/drawingml/2006/main">
              <a:ext uri="{FF2B5EF4-FFF2-40B4-BE49-F238E27FC236}">
                <a16:creationId xmlns:a16="http://schemas.microsoft.com/office/drawing/2014/main" id="{CA55325C-2F0B-401D-B100-DBAE2A14CAA0}"/>
              </a:ext>
            </a:extLst>
          </p:cNvPr>
          <p:cNvSpPr>
            <a:spLocks xmlns:a="http://schemas.openxmlformats.org/drawingml/2006/main" noGrp="1"/>
          </p:cNvSpPr>
          <p:nvPr/>
        </p:nvSpPr>
        <p:spPr>
          <a:xfrm xmlns:a="http://schemas.openxmlformats.org/drawingml/2006/main">
            <a:off x="685800" y="2667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84932"/>
                </a:solidFill>
              </a:defRPr>
            </a:pPr>
            <a:r>
              <a:rPr sz="1050" b="1">
                <a:solidFill>
                  <a:srgbClr val="B84932"/>
                </a:solidFill>
              </a:rPr>
              <a:t>MODULE 4  •  PRODUCE AND CONTROL QUALITY</a:t>
            </a:r>
          </a:p>
        </p:txBody>
      </p:sp>
      <p:sp>
        <p:nvSpPr>
          <p:cNvPr id="3" name="slide-title-4">
            <a:extLst xmlns:a="http://schemas.openxmlformats.org/drawingml/2006/main">
              <a:ext uri="{FF2B5EF4-FFF2-40B4-BE49-F238E27FC236}">
                <a16:creationId xmlns:a16="http://schemas.microsoft.com/office/drawing/2014/main" id="{E34EFA70-A993-421A-B280-3B8A5635B4D1}"/>
              </a:ext>
            </a:extLst>
          </p:cNvPr>
          <p:cNvSpPr>
            <a:spLocks xmlns:a="http://schemas.openxmlformats.org/drawingml/2006/main" noGrp="1"/>
          </p:cNvSpPr>
          <p:nvPr/>
        </p:nvSpPr>
        <p:spPr>
          <a:xfrm xmlns:a="http://schemas.openxmlformats.org/drawingml/2006/main">
            <a:off x="685800" y="590550"/>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13F30"/>
                </a:solidFill>
              </a:defRPr>
            </a:pPr>
            <a:r>
              <a:rPr sz="2850" b="1">
                <a:solidFill>
                  <a:srgbClr val="113F30"/>
                </a:solidFill>
              </a:rPr>
              <a:t>Quality turns opinion into checkable evidence</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2728a8647d804b94"/>
          <a:srcRect xmlns:a="http://schemas.openxmlformats.org/drawingml/2006/main" l="2338" t="0" r="2338" b="0"/>
          <a:stretch xmlns:a="http://schemas.openxmlformats.org/drawingml/2006/main">
            <a:fillRect l="0" t="0" r="0" b="0"/>
          </a:stretch>
        </p:blipFill>
        <p:spPr>
          <a:xfrm xmlns:a="http://schemas.openxmlformats.org/drawingml/2006/main">
            <a:off x="685800" y="1447800"/>
            <a:ext cx="6019800" cy="4210050"/>
          </a:xfrm>
          <a:prstGeom xmlns:a="http://schemas.openxmlformats.org/drawingml/2006/main" prst="roundRect">
            <a:avLst>
              <a:gd name="adj" fmla="val 4072"/>
            </a:avLst>
          </a:prstGeom>
        </p:spPr>
      </p:pic>
      <p:sp>
        <p:nvSpPr>
          <p:cNvPr id="5" name="caption-4">
            <a:extLst xmlns:a="http://schemas.openxmlformats.org/drawingml/2006/main">
              <a:ext uri="{FF2B5EF4-FFF2-40B4-BE49-F238E27FC236}">
                <a16:creationId xmlns:a16="http://schemas.microsoft.com/office/drawing/2014/main" id="{DF60826D-F0BD-4CF8-BB19-0ABB1922C7CC}"/>
              </a:ext>
            </a:extLst>
          </p:cNvPr>
          <p:cNvSpPr>
            <a:spLocks xmlns:a="http://schemas.openxmlformats.org/drawingml/2006/main" noGrp="1"/>
          </p:cNvSpPr>
          <p:nvPr/>
        </p:nvSpPr>
        <p:spPr>
          <a:xfrm xmlns:a="http://schemas.openxmlformats.org/drawingml/2006/main">
            <a:off x="800100" y="5772150"/>
            <a:ext cx="5791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4645D"/>
                </a:solidFill>
              </a:defRPr>
            </a:pPr>
            <a:r>
              <a:rPr sz="1275" b="0">
                <a:solidFill>
                  <a:srgbClr val="54645D"/>
                </a:solidFill>
              </a:rPr>
              <a:t>Describe observable condition, compare with criteria, then seek the authorised next action.</a:t>
            </a:r>
          </a:p>
        </p:txBody>
      </p:sp>
      <p:sp>
        <p:nvSpPr>
          <p:cNvPr id="6" name="section-name-4">
            <a:extLst xmlns:a="http://schemas.openxmlformats.org/drawingml/2006/main">
              <a:ext uri="{FF2B5EF4-FFF2-40B4-BE49-F238E27FC236}">
                <a16:creationId xmlns:a16="http://schemas.microsoft.com/office/drawing/2014/main" id="{6EB2E6AA-025F-4219-9270-196A40DF975E}"/>
              </a:ext>
            </a:extLst>
          </p:cNvPr>
          <p:cNvSpPr>
            <a:spLocks xmlns:a="http://schemas.openxmlformats.org/drawingml/2006/main" noGrp="1"/>
          </p:cNvSpPr>
          <p:nvPr/>
        </p:nvSpPr>
        <p:spPr>
          <a:xfrm xmlns:a="http://schemas.openxmlformats.org/drawingml/2006/main">
            <a:off x="7105650" y="1438275"/>
            <a:ext cx="440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84932"/>
                </a:solidFill>
              </a:defRPr>
            </a:pPr>
            <a:r>
              <a:rPr sz="1050" b="1">
                <a:solidFill>
                  <a:srgbClr val="B84932"/>
                </a:solidFill>
              </a:rPr>
              <a:t>EDGES, FINISHING AND QUALITY</a:t>
            </a:r>
          </a:p>
        </p:txBody>
      </p:sp>
      <p:sp>
        <p:nvSpPr>
          <p:cNvPr id="7" name="s4-mark-1">
            <a:extLst xmlns:a="http://schemas.openxmlformats.org/drawingml/2006/main">
              <a:ext uri="{FF2B5EF4-FFF2-40B4-BE49-F238E27FC236}">
                <a16:creationId xmlns:a16="http://schemas.microsoft.com/office/drawing/2014/main" id="{DB784611-601B-4387-ABB6-C73DBB89E664}"/>
              </a:ext>
            </a:extLst>
          </p:cNvPr>
          <p:cNvSpPr>
            <a:spLocks xmlns:a="http://schemas.openxmlformats.org/drawingml/2006/main" noGrp="1"/>
          </p:cNvSpPr>
          <p:nvPr/>
        </p:nvSpPr>
        <p:spPr>
          <a:xfrm xmlns:a="http://schemas.openxmlformats.org/drawingml/2006/main">
            <a:off x="7105650" y="1885950"/>
            <a:ext cx="114300" cy="114300"/>
          </a:xfrm>
          <a:prstGeom xmlns:a="http://schemas.openxmlformats.org/drawingml/2006/main" prst="roundRect">
            <a:avLst>
              <a:gd name="adj" fmla="val 50000"/>
            </a:avLst>
          </a:prstGeom>
          <a:solidFill xmlns:a="http://schemas.openxmlformats.org/drawingml/2006/main">
            <a:srgbClr val="E7AD31"/>
          </a:solidFill>
          <a:ln xmlns:a="http://schemas.openxmlformats.org/drawingml/2006/main" w="0">
            <a:solidFill>
              <a:srgbClr val="E7AD31"/>
            </a:solidFill>
            <a:prstDash val="solid"/>
          </a:ln>
        </p:spPr>
      </p:sp>
      <p:sp>
        <p:nvSpPr>
          <p:cNvPr id="8" name="s4-text-1">
            <a:extLst xmlns:a="http://schemas.openxmlformats.org/drawingml/2006/main">
              <a:ext uri="{FF2B5EF4-FFF2-40B4-BE49-F238E27FC236}">
                <a16:creationId xmlns:a16="http://schemas.microsoft.com/office/drawing/2014/main" id="{97827E3E-085F-497A-B86B-AD0F71D1EC0A}"/>
              </a:ext>
            </a:extLst>
          </p:cNvPr>
          <p:cNvSpPr>
            <a:spLocks xmlns:a="http://schemas.openxmlformats.org/drawingml/2006/main" noGrp="1"/>
          </p:cNvSpPr>
          <p:nvPr/>
        </p:nvSpPr>
        <p:spPr>
          <a:xfrm xmlns:a="http://schemas.openxmlformats.org/drawingml/2006/main">
            <a:off x="7372350" y="1809750"/>
            <a:ext cx="413385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1F2A25"/>
                </a:solidFill>
              </a:defRPr>
            </a:pPr>
            <a:r>
              <a:rPr sz="1575" b="0">
                <a:solidFill>
                  <a:srgbClr val="1F2A25"/>
                </a:solidFill>
              </a:rPr>
              <a:t>Quality is the degree to which the result meets approved criteria — not whether someone simply likes it.</a:t>
            </a:r>
          </a:p>
        </p:txBody>
      </p:sp>
      <p:sp>
        <p:nvSpPr>
          <p:cNvPr id="9" name="s4-mark-2">
            <a:extLst xmlns:a="http://schemas.openxmlformats.org/drawingml/2006/main">
              <a:ext uri="{FF2B5EF4-FFF2-40B4-BE49-F238E27FC236}">
                <a16:creationId xmlns:a16="http://schemas.microsoft.com/office/drawing/2014/main" id="{875D532B-8A3E-4C31-81B9-43CB0181BF5D}"/>
              </a:ext>
            </a:extLst>
          </p:cNvPr>
          <p:cNvSpPr>
            <a:spLocks xmlns:a="http://schemas.openxmlformats.org/drawingml/2006/main" noGrp="1"/>
          </p:cNvSpPr>
          <p:nvPr/>
        </p:nvSpPr>
        <p:spPr>
          <a:xfrm xmlns:a="http://schemas.openxmlformats.org/drawingml/2006/main">
            <a:off x="7105650" y="2867025"/>
            <a:ext cx="114300" cy="114300"/>
          </a:xfrm>
          <a:prstGeom xmlns:a="http://schemas.openxmlformats.org/drawingml/2006/main" prst="roundRect">
            <a:avLst>
              <a:gd name="adj" fmla="val 50000"/>
            </a:avLst>
          </a:prstGeom>
          <a:solidFill xmlns:a="http://schemas.openxmlformats.org/drawingml/2006/main">
            <a:srgbClr val="E7AD31"/>
          </a:solidFill>
          <a:ln xmlns:a="http://schemas.openxmlformats.org/drawingml/2006/main" w="0">
            <a:solidFill>
              <a:srgbClr val="E7AD31"/>
            </a:solidFill>
            <a:prstDash val="solid"/>
          </a:ln>
        </p:spPr>
      </p:sp>
      <p:sp>
        <p:nvSpPr>
          <p:cNvPr id="10" name="s4-text-2">
            <a:extLst xmlns:a="http://schemas.openxmlformats.org/drawingml/2006/main">
              <a:ext uri="{FF2B5EF4-FFF2-40B4-BE49-F238E27FC236}">
                <a16:creationId xmlns:a16="http://schemas.microsoft.com/office/drawing/2014/main" id="{6C2CEF39-F9A4-4850-942D-810B5CA7F911}"/>
              </a:ext>
            </a:extLst>
          </p:cNvPr>
          <p:cNvSpPr>
            <a:spLocks xmlns:a="http://schemas.openxmlformats.org/drawingml/2006/main" noGrp="1"/>
          </p:cNvSpPr>
          <p:nvPr/>
        </p:nvSpPr>
        <p:spPr>
          <a:xfrm xmlns:a="http://schemas.openxmlformats.org/drawingml/2006/main">
            <a:off x="7372350" y="2790825"/>
            <a:ext cx="413385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1F2A25"/>
                </a:solidFill>
              </a:defRPr>
            </a:pPr>
            <a:r>
              <a:rPr sz="1575" b="0">
                <a:solidFill>
                  <a:srgbClr val="1F2A25"/>
                </a:solidFill>
              </a:rPr>
              <a:t>Record edge and surface conditions neutrally. A photograph cannot confirm that an edge is safe to handle.</a:t>
            </a:r>
          </a:p>
        </p:txBody>
      </p:sp>
      <p:sp>
        <p:nvSpPr>
          <p:cNvPr id="11" name="s4-mark-3">
            <a:extLst xmlns:a="http://schemas.openxmlformats.org/drawingml/2006/main">
              <a:ext uri="{FF2B5EF4-FFF2-40B4-BE49-F238E27FC236}">
                <a16:creationId xmlns:a16="http://schemas.microsoft.com/office/drawing/2014/main" id="{B7F0B816-34D3-4121-BF60-F3F75EEC32E8}"/>
              </a:ext>
            </a:extLst>
          </p:cNvPr>
          <p:cNvSpPr>
            <a:spLocks xmlns:a="http://schemas.openxmlformats.org/drawingml/2006/main" noGrp="1"/>
          </p:cNvSpPr>
          <p:nvPr/>
        </p:nvSpPr>
        <p:spPr>
          <a:xfrm xmlns:a="http://schemas.openxmlformats.org/drawingml/2006/main">
            <a:off x="7105650" y="3848100"/>
            <a:ext cx="114300" cy="114300"/>
          </a:xfrm>
          <a:prstGeom xmlns:a="http://schemas.openxmlformats.org/drawingml/2006/main" prst="roundRect">
            <a:avLst>
              <a:gd name="adj" fmla="val 50000"/>
            </a:avLst>
          </a:prstGeom>
          <a:solidFill xmlns:a="http://schemas.openxmlformats.org/drawingml/2006/main">
            <a:srgbClr val="E7AD31"/>
          </a:solidFill>
          <a:ln xmlns:a="http://schemas.openxmlformats.org/drawingml/2006/main" w="0">
            <a:solidFill>
              <a:srgbClr val="E7AD31"/>
            </a:solidFill>
            <a:prstDash val="solid"/>
          </a:ln>
        </p:spPr>
      </p:sp>
      <p:sp>
        <p:nvSpPr>
          <p:cNvPr id="12" name="s4-text-3">
            <a:extLst xmlns:a="http://schemas.openxmlformats.org/drawingml/2006/main">
              <a:ext uri="{FF2B5EF4-FFF2-40B4-BE49-F238E27FC236}">
                <a16:creationId xmlns:a16="http://schemas.microsoft.com/office/drawing/2014/main" id="{8CE9B962-964A-4DE3-BCD5-4F83D374368B}"/>
              </a:ext>
            </a:extLst>
          </p:cNvPr>
          <p:cNvSpPr>
            <a:spLocks xmlns:a="http://schemas.openxmlformats.org/drawingml/2006/main" noGrp="1"/>
          </p:cNvSpPr>
          <p:nvPr/>
        </p:nvSpPr>
        <p:spPr>
          <a:xfrm xmlns:a="http://schemas.openxmlformats.org/drawingml/2006/main">
            <a:off x="7372350" y="3771900"/>
            <a:ext cx="413385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1F2A25"/>
                </a:solidFill>
              </a:defRPr>
            </a:pPr>
            <a:r>
              <a:rPr sz="1575" b="0">
                <a:solidFill>
                  <a:srgbClr val="1F2A25"/>
                </a:solidFill>
              </a:rPr>
              <a:t>Use an inspect → decide → authorise → reinspect loop; do not improvise a correction method.</a:t>
            </a:r>
          </a:p>
        </p:txBody>
      </p:sp>
      <p:sp>
        <p:nvSpPr>
          <p:cNvPr id="13" name="prompt-band-4">
            <a:extLst xmlns:a="http://schemas.openxmlformats.org/drawingml/2006/main">
              <a:ext uri="{FF2B5EF4-FFF2-40B4-BE49-F238E27FC236}">
                <a16:creationId xmlns:a16="http://schemas.microsoft.com/office/drawing/2014/main" id="{69742902-04E7-4287-8B0D-7BBE2D16A44F}"/>
              </a:ext>
            </a:extLst>
          </p:cNvPr>
          <p:cNvSpPr>
            <a:spLocks xmlns:a="http://schemas.openxmlformats.org/drawingml/2006/main" noGrp="1"/>
          </p:cNvSpPr>
          <p:nvPr/>
        </p:nvSpPr>
        <p:spPr>
          <a:xfrm xmlns:a="http://schemas.openxmlformats.org/drawingml/2006/main">
            <a:off x="7105650" y="4762500"/>
            <a:ext cx="4400550" cy="1219200"/>
          </a:xfrm>
          <a:prstGeom xmlns:a="http://schemas.openxmlformats.org/drawingml/2006/main" prst="roundRect">
            <a:avLst>
              <a:gd name="adj" fmla="val 12500"/>
            </a:avLst>
          </a:prstGeom>
          <a:solidFill xmlns:a="http://schemas.openxmlformats.org/drawingml/2006/main">
            <a:srgbClr val="E8F3ED"/>
          </a:solidFill>
          <a:ln xmlns:a="http://schemas.openxmlformats.org/drawingml/2006/main" w="9525">
            <a:solidFill>
              <a:srgbClr val="C8D8CF"/>
            </a:solidFill>
            <a:prstDash val="solid"/>
          </a:ln>
        </p:spPr>
      </p:sp>
      <p:sp>
        <p:nvSpPr>
          <p:cNvPr id="14" name="prompt-label-4">
            <a:extLst xmlns:a="http://schemas.openxmlformats.org/drawingml/2006/main">
              <a:ext uri="{FF2B5EF4-FFF2-40B4-BE49-F238E27FC236}">
                <a16:creationId xmlns:a16="http://schemas.microsoft.com/office/drawing/2014/main" id="{E42AE431-61EC-4D3C-B58E-1CF7749C4733}"/>
              </a:ext>
            </a:extLst>
          </p:cNvPr>
          <p:cNvSpPr>
            <a:spLocks xmlns:a="http://schemas.openxmlformats.org/drawingml/2006/main" noGrp="1"/>
          </p:cNvSpPr>
          <p:nvPr/>
        </p:nvSpPr>
        <p:spPr>
          <a:xfrm xmlns:a="http://schemas.openxmlformats.org/drawingml/2006/main">
            <a:off x="7315200" y="4905375"/>
            <a:ext cx="123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84932"/>
                </a:solidFill>
              </a:defRPr>
            </a:pPr>
            <a:r>
              <a:rPr sz="1050" b="1">
                <a:solidFill>
                  <a:srgbClr val="B84932"/>
                </a:solidFill>
              </a:rPr>
              <a:t>APPLY IT</a:t>
            </a:r>
          </a:p>
        </p:txBody>
      </p:sp>
      <p:sp>
        <p:nvSpPr>
          <p:cNvPr id="15" name="prompt-4">
            <a:extLst xmlns:a="http://schemas.openxmlformats.org/drawingml/2006/main">
              <a:ext uri="{FF2B5EF4-FFF2-40B4-BE49-F238E27FC236}">
                <a16:creationId xmlns:a16="http://schemas.microsoft.com/office/drawing/2014/main" id="{B5E70295-4CEF-4B91-8593-E58EA56E3186}"/>
              </a:ext>
            </a:extLst>
          </p:cNvPr>
          <p:cNvSpPr>
            <a:spLocks xmlns:a="http://schemas.openxmlformats.org/drawingml/2006/main" noGrp="1"/>
          </p:cNvSpPr>
          <p:nvPr/>
        </p:nvSpPr>
        <p:spPr>
          <a:xfrm xmlns:a="http://schemas.openxmlformats.org/drawingml/2006/main">
            <a:off x="7315200" y="5191125"/>
            <a:ext cx="3943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13F30"/>
                </a:solidFill>
              </a:defRPr>
            </a:pPr>
            <a:r>
              <a:rPr sz="1350" b="1">
                <a:solidFill>
                  <a:srgbClr val="113F30"/>
                </a:solidFill>
              </a:rPr>
              <a:t>Rewrite ‘the edge is bad’ as an observable, checkable quality statement.</a:t>
            </a:r>
          </a:p>
        </p:txBody>
      </p:sp>
      <p:sp>
        <p:nvSpPr>
          <p:cNvPr id="16" name="footer-rule-4">
            <a:extLst xmlns:a="http://schemas.openxmlformats.org/drawingml/2006/main">
              <a:ext uri="{FF2B5EF4-FFF2-40B4-BE49-F238E27FC236}">
                <a16:creationId xmlns:a16="http://schemas.microsoft.com/office/drawing/2014/main" id="{CA71BE51-E697-44AA-8834-D3FE870DEFDD}"/>
              </a:ext>
            </a:extLst>
          </p:cNvPr>
          <p:cNvSpPr>
            <a:spLocks xmlns:a="http://schemas.openxmlformats.org/drawingml/2006/main" noGrp="1"/>
          </p:cNvSpPr>
          <p:nvPr/>
        </p:nvSpPr>
        <p:spPr>
          <a:xfrm xmlns:a="http://schemas.openxmlformats.org/drawingml/2006/main">
            <a:off x="685800" y="6486525"/>
            <a:ext cx="10820400" cy="19050"/>
          </a:xfrm>
          <a:prstGeom xmlns:a="http://schemas.openxmlformats.org/drawingml/2006/main" prst="rect">
            <a:avLst/>
          </a:prstGeom>
          <a:solidFill xmlns:a="http://schemas.openxmlformats.org/drawingml/2006/main">
            <a:srgbClr val="C8D8CF"/>
          </a:solidFill>
          <a:ln xmlns:a="http://schemas.openxmlformats.org/drawingml/2006/main" w="0">
            <a:solidFill>
              <a:srgbClr val="C8D8CF"/>
            </a:solidFill>
            <a:prstDash val="solid"/>
          </a:ln>
        </p:spPr>
      </p:sp>
      <p:sp>
        <p:nvSpPr>
          <p:cNvPr id="17" name="footer-label-4">
            <a:extLst xmlns:a="http://schemas.openxmlformats.org/drawingml/2006/main">
              <a:ext uri="{FF2B5EF4-FFF2-40B4-BE49-F238E27FC236}">
                <a16:creationId xmlns:a16="http://schemas.microsoft.com/office/drawing/2014/main" id="{2C8B0E7E-824C-4101-8909-0AA835A2FD98}"/>
              </a:ext>
            </a:extLst>
          </p:cNvPr>
          <p:cNvSpPr>
            <a:spLocks xmlns:a="http://schemas.openxmlformats.org/drawingml/2006/main" noGrp="1"/>
          </p:cNvSpPr>
          <p:nvPr/>
        </p:nvSpPr>
        <p:spPr>
          <a:xfrm xmlns:a="http://schemas.openxmlformats.org/drawingml/2006/main">
            <a:off x="685800" y="6562725"/>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4645D"/>
                </a:solidFill>
              </a:defRPr>
            </a:pPr>
            <a:r>
              <a:rPr sz="900" b="1">
                <a:solidFill>
                  <a:srgbClr val="54645D"/>
                </a:solidFill>
              </a:rPr>
              <a:t>SWINGING SIGN  •  MODULE 4</a:t>
            </a:r>
          </a:p>
        </p:txBody>
      </p:sp>
      <p:sp>
        <p:nvSpPr>
          <p:cNvPr id="18" name="footer-page-4">
            <a:extLst xmlns:a="http://schemas.openxmlformats.org/drawingml/2006/main">
              <a:ext uri="{FF2B5EF4-FFF2-40B4-BE49-F238E27FC236}">
                <a16:creationId xmlns:a16="http://schemas.microsoft.com/office/drawing/2014/main" id="{DE54EC4F-1140-4A3C-8B4E-844C4F7A202A}"/>
              </a:ext>
            </a:extLst>
          </p:cNvPr>
          <p:cNvSpPr>
            <a:spLocks xmlns:a="http://schemas.openxmlformats.org/drawingml/2006/main" noGrp="1"/>
          </p:cNvSpPr>
          <p:nvPr/>
        </p:nvSpPr>
        <p:spPr>
          <a:xfrm xmlns:a="http://schemas.openxmlformats.org/drawingml/2006/main">
            <a:off x="10763250" y="6562725"/>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4645D"/>
                </a:solidFill>
              </a:defRPr>
            </a:pPr>
            <a:r>
              <a:rPr sz="900" b="1">
                <a:solidFill>
                  <a:srgbClr val="54645D"/>
                </a:solidFill>
              </a:rPr>
              <a:t>4 / 8</a:t>
            </a:r>
          </a:p>
        </p:txBody>
      </p:sp>
    </p:spTree>
    <p:extLst>
      <p:ext uri="{BB962C8B-B14F-4D97-AF65-F5344CB8AC3E}">
        <p14:creationId xmlns:p14="http://schemas.microsoft.com/office/powerpoint/2010/main" val="448111457"/>
      </p:ext>
    </p:extLst>
  </p:cSld>
</p:sld>
</file>

<file path=ppt/slides/slide5.xml><?xml version="1.0" encoding="utf-8"?>
<p:sld xmlns:p="http://schemas.openxmlformats.org/presentationml/2006/main">
  <p:cSld>
    <p:bg>
      <p:bgPr>
        <a:solidFill xmlns:a="http://schemas.openxmlformats.org/drawingml/2006/main">
          <a:srgbClr val="113F30"/>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4f4bdc50c7184b48"/>
          <a:srcRect xmlns:a="http://schemas.openxmlformats.org/drawingml/2006/main" l="12870" t="0" r="12870" b="0"/>
          <a:stretch xmlns:a="http://schemas.openxmlformats.org/drawingml/2006/main">
            <a:fillRect l="0" t="0" r="0" b="0"/>
          </a:stretch>
        </p:blipFill>
        <p:spPr>
          <a:xfrm xmlns:a="http://schemas.openxmlformats.org/drawingml/2006/main">
            <a:off x="4552950" y="0"/>
            <a:ext cx="7639050" cy="6858000"/>
          </a:xfrm>
          <a:prstGeom xmlns:a="http://schemas.openxmlformats.org/drawingml/2006/main" prst="roundRect">
            <a:avLst>
              <a:gd name="adj" fmla="val 2500"/>
            </a:avLst>
          </a:prstGeom>
        </p:spPr>
      </p:pic>
      <p:sp>
        <p:nvSpPr>
          <p:cNvPr id="2" name="image-layout-panel-5">
            <a:extLst xmlns:a="http://schemas.openxmlformats.org/drawingml/2006/main">
              <a:ext uri="{FF2B5EF4-FFF2-40B4-BE49-F238E27FC236}">
                <a16:creationId xmlns:a16="http://schemas.microsoft.com/office/drawing/2014/main" id="{E7A856DB-351C-4E12-8148-0B869E8AC427}"/>
              </a:ext>
            </a:extLst>
          </p:cNvPr>
          <p:cNvSpPr>
            <a:spLocks xmlns:a="http://schemas.openxmlformats.org/drawingml/2006/main" noGrp="1"/>
          </p:cNvSpPr>
          <p:nvPr/>
        </p:nvSpPr>
        <p:spPr>
          <a:xfrm xmlns:a="http://schemas.openxmlformats.org/drawingml/2006/main">
            <a:off x="0" y="0"/>
            <a:ext cx="5010150" cy="6858000"/>
          </a:xfrm>
          <a:prstGeom xmlns:a="http://schemas.openxmlformats.org/drawingml/2006/main" prst="rect">
            <a:avLst/>
          </a:prstGeom>
          <a:solidFill xmlns:a="http://schemas.openxmlformats.org/drawingml/2006/main">
            <a:srgbClr val="113F30"/>
          </a:solidFill>
          <a:ln xmlns:a="http://schemas.openxmlformats.org/drawingml/2006/main" w="0">
            <a:solidFill>
              <a:srgbClr val="113F30"/>
            </a:solidFill>
            <a:prstDash val="solid"/>
          </a:ln>
        </p:spPr>
      </p:sp>
      <p:sp>
        <p:nvSpPr>
          <p:cNvPr id="3" name="image-layout-accent-5">
            <a:extLst xmlns:a="http://schemas.openxmlformats.org/drawingml/2006/main">
              <a:ext uri="{FF2B5EF4-FFF2-40B4-BE49-F238E27FC236}">
                <a16:creationId xmlns:a16="http://schemas.microsoft.com/office/drawing/2014/main" id="{4ED1754A-EDC3-42B4-90E4-5AABCCE23273}"/>
              </a:ext>
            </a:extLst>
          </p:cNvPr>
          <p:cNvSpPr>
            <a:spLocks xmlns:a="http://schemas.openxmlformats.org/drawingml/2006/main" noGrp="1"/>
          </p:cNvSpPr>
          <p:nvPr/>
        </p:nvSpPr>
        <p:spPr>
          <a:xfrm xmlns:a="http://schemas.openxmlformats.org/drawingml/2006/main">
            <a:off x="685800" y="514350"/>
            <a:ext cx="800100" cy="76200"/>
          </a:xfrm>
          <a:prstGeom xmlns:a="http://schemas.openxmlformats.org/drawingml/2006/main" prst="rect">
            <a:avLst/>
          </a:prstGeom>
          <a:solidFill xmlns:a="http://schemas.openxmlformats.org/drawingml/2006/main">
            <a:srgbClr val="E7AD31"/>
          </a:solidFill>
          <a:ln xmlns:a="http://schemas.openxmlformats.org/drawingml/2006/main" w="0">
            <a:solidFill>
              <a:srgbClr val="E7AD31"/>
            </a:solidFill>
            <a:prstDash val="solid"/>
          </a:ln>
        </p:spPr>
      </p:sp>
      <p:sp>
        <p:nvSpPr>
          <p:cNvPr id="4" name="module-kicker-5">
            <a:extLst xmlns:a="http://schemas.openxmlformats.org/drawingml/2006/main">
              <a:ext uri="{FF2B5EF4-FFF2-40B4-BE49-F238E27FC236}">
                <a16:creationId xmlns:a16="http://schemas.microsoft.com/office/drawing/2014/main" id="{161C48FC-AE95-4461-84D4-03E17E82564A}"/>
              </a:ext>
            </a:extLst>
          </p:cNvPr>
          <p:cNvSpPr>
            <a:spLocks xmlns:a="http://schemas.openxmlformats.org/drawingml/2006/main" noGrp="1"/>
          </p:cNvSpPr>
          <p:nvPr/>
        </p:nvSpPr>
        <p:spPr>
          <a:xfrm xmlns:a="http://schemas.openxmlformats.org/drawingml/2006/main">
            <a:off x="685800" y="790575"/>
            <a:ext cx="3905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CFE1D8"/>
                </a:solidFill>
              </a:defRPr>
            </a:pPr>
            <a:r>
              <a:rPr sz="1050" b="1">
                <a:solidFill>
                  <a:srgbClr val="CFE1D8"/>
                </a:solidFill>
              </a:rPr>
              <a:t>MODULE 4  •  NESTING, OFFCUTS AND PROCESS EVIDENCE</a:t>
            </a:r>
          </a:p>
        </p:txBody>
      </p:sp>
      <p:sp>
        <p:nvSpPr>
          <p:cNvPr id="5" name="stacked-slide-title-5">
            <a:extLst xmlns:a="http://schemas.openxmlformats.org/drawingml/2006/main">
              <a:ext uri="{FF2B5EF4-FFF2-40B4-BE49-F238E27FC236}">
                <a16:creationId xmlns:a16="http://schemas.microsoft.com/office/drawing/2014/main" id="{4FF45933-40CE-43F7-AC84-566663ADC87E}"/>
              </a:ext>
            </a:extLst>
          </p:cNvPr>
          <p:cNvSpPr>
            <a:spLocks xmlns:a="http://schemas.openxmlformats.org/drawingml/2006/main" noGrp="1"/>
          </p:cNvSpPr>
          <p:nvPr/>
        </p:nvSpPr>
        <p:spPr>
          <a:xfrm xmlns:a="http://schemas.openxmlformats.org/drawingml/2006/main">
            <a:off x="685800" y="1219200"/>
            <a:ext cx="38290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FFFFF"/>
                </a:solidFill>
              </a:defRPr>
            </a:pPr>
            <a:r>
              <a:rPr sz="2850" b="1">
                <a:solidFill>
                  <a:srgbClr val="FFFFFF"/>
                </a:solidFill>
              </a:rPr>
              <a:t>Compare the plan with what actually happened</a:t>
            </a:r>
          </a:p>
        </p:txBody>
      </p:sp>
      <p:sp>
        <p:nvSpPr>
          <p:cNvPr id="6" name="s5-mark-1">
            <a:extLst xmlns:a="http://schemas.openxmlformats.org/drawingml/2006/main">
              <a:ext uri="{FF2B5EF4-FFF2-40B4-BE49-F238E27FC236}">
                <a16:creationId xmlns:a16="http://schemas.microsoft.com/office/drawing/2014/main" id="{1E7C87D3-D10B-49F1-BA50-79638E3EF3A1}"/>
              </a:ext>
            </a:extLst>
          </p:cNvPr>
          <p:cNvSpPr>
            <a:spLocks xmlns:a="http://schemas.openxmlformats.org/drawingml/2006/main" noGrp="1"/>
          </p:cNvSpPr>
          <p:nvPr/>
        </p:nvSpPr>
        <p:spPr>
          <a:xfrm xmlns:a="http://schemas.openxmlformats.org/drawingml/2006/main">
            <a:off x="685800" y="2714625"/>
            <a:ext cx="114300" cy="114300"/>
          </a:xfrm>
          <a:prstGeom xmlns:a="http://schemas.openxmlformats.org/drawingml/2006/main" prst="roundRect">
            <a:avLst>
              <a:gd name="adj" fmla="val 50000"/>
            </a:avLst>
          </a:prstGeom>
          <a:solidFill xmlns:a="http://schemas.openxmlformats.org/drawingml/2006/main">
            <a:srgbClr val="E7AD31"/>
          </a:solidFill>
          <a:ln xmlns:a="http://schemas.openxmlformats.org/drawingml/2006/main" w="0">
            <a:solidFill>
              <a:srgbClr val="E7AD31"/>
            </a:solidFill>
            <a:prstDash val="solid"/>
          </a:ln>
        </p:spPr>
      </p:sp>
      <p:sp>
        <p:nvSpPr>
          <p:cNvPr id="7" name="s5-text-1">
            <a:extLst xmlns:a="http://schemas.openxmlformats.org/drawingml/2006/main">
              <a:ext uri="{FF2B5EF4-FFF2-40B4-BE49-F238E27FC236}">
                <a16:creationId xmlns:a16="http://schemas.microsoft.com/office/drawing/2014/main" id="{77ABE945-2D8D-4289-91F2-A7FB7BB2480C}"/>
              </a:ext>
            </a:extLst>
          </p:cNvPr>
          <p:cNvSpPr>
            <a:spLocks xmlns:a="http://schemas.openxmlformats.org/drawingml/2006/main" noGrp="1"/>
          </p:cNvSpPr>
          <p:nvPr/>
        </p:nvSpPr>
        <p:spPr>
          <a:xfrm xmlns:a="http://schemas.openxmlformats.org/drawingml/2006/main">
            <a:off x="952500" y="2638425"/>
            <a:ext cx="3562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FFFFFF"/>
                </a:solidFill>
              </a:defRPr>
            </a:pPr>
            <a:r>
              <a:rPr sz="1575" b="0">
                <a:solidFill>
                  <a:srgbClr val="FFFFFF"/>
                </a:solidFill>
              </a:rPr>
              <a:t>Compare planned and actual material use to locate avoidable waste, changed conditions and useful offcuts.</a:t>
            </a:r>
          </a:p>
        </p:txBody>
      </p:sp>
      <p:sp>
        <p:nvSpPr>
          <p:cNvPr id="8" name="s5-mark-2">
            <a:extLst xmlns:a="http://schemas.openxmlformats.org/drawingml/2006/main">
              <a:ext uri="{FF2B5EF4-FFF2-40B4-BE49-F238E27FC236}">
                <a16:creationId xmlns:a16="http://schemas.microsoft.com/office/drawing/2014/main" id="{3B1B9B25-2AC6-40F3-864B-3B960E907CA4}"/>
              </a:ext>
            </a:extLst>
          </p:cNvPr>
          <p:cNvSpPr>
            <a:spLocks xmlns:a="http://schemas.openxmlformats.org/drawingml/2006/main" noGrp="1"/>
          </p:cNvSpPr>
          <p:nvPr/>
        </p:nvSpPr>
        <p:spPr>
          <a:xfrm xmlns:a="http://schemas.openxmlformats.org/drawingml/2006/main">
            <a:off x="685800" y="3629025"/>
            <a:ext cx="114300" cy="114300"/>
          </a:xfrm>
          <a:prstGeom xmlns:a="http://schemas.openxmlformats.org/drawingml/2006/main" prst="roundRect">
            <a:avLst>
              <a:gd name="adj" fmla="val 50000"/>
            </a:avLst>
          </a:prstGeom>
          <a:solidFill xmlns:a="http://schemas.openxmlformats.org/drawingml/2006/main">
            <a:srgbClr val="E7AD31"/>
          </a:solidFill>
          <a:ln xmlns:a="http://schemas.openxmlformats.org/drawingml/2006/main" w="0">
            <a:solidFill>
              <a:srgbClr val="E7AD31"/>
            </a:solidFill>
            <a:prstDash val="solid"/>
          </a:ln>
        </p:spPr>
      </p:sp>
      <p:sp>
        <p:nvSpPr>
          <p:cNvPr id="9" name="s5-text-2">
            <a:extLst xmlns:a="http://schemas.openxmlformats.org/drawingml/2006/main">
              <a:ext uri="{FF2B5EF4-FFF2-40B4-BE49-F238E27FC236}">
                <a16:creationId xmlns:a16="http://schemas.microsoft.com/office/drawing/2014/main" id="{86D66CB5-9FE8-4316-981D-77E57F839384}"/>
              </a:ext>
            </a:extLst>
          </p:cNvPr>
          <p:cNvSpPr>
            <a:spLocks xmlns:a="http://schemas.openxmlformats.org/drawingml/2006/main" noGrp="1"/>
          </p:cNvSpPr>
          <p:nvPr/>
        </p:nvSpPr>
        <p:spPr>
          <a:xfrm xmlns:a="http://schemas.openxmlformats.org/drawingml/2006/main">
            <a:off x="952500" y="3552825"/>
            <a:ext cx="3562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FFFFFF"/>
                </a:solidFill>
              </a:defRPr>
            </a:pPr>
            <a:r>
              <a:rPr sz="1575" b="0">
                <a:solidFill>
                  <a:srgbClr val="FFFFFF"/>
                </a:solidFill>
              </a:rPr>
              <a:t>An offcut is not automatically rubbish or safe to reuse; identity, form, condition and the local system matter.</a:t>
            </a:r>
          </a:p>
        </p:txBody>
      </p:sp>
      <p:sp>
        <p:nvSpPr>
          <p:cNvPr id="10" name="s5-mark-3">
            <a:extLst xmlns:a="http://schemas.openxmlformats.org/drawingml/2006/main">
              <a:ext uri="{FF2B5EF4-FFF2-40B4-BE49-F238E27FC236}">
                <a16:creationId xmlns:a16="http://schemas.microsoft.com/office/drawing/2014/main" id="{1C4436AD-C103-4E99-A932-18E5951F2E6C}"/>
              </a:ext>
            </a:extLst>
          </p:cNvPr>
          <p:cNvSpPr>
            <a:spLocks xmlns:a="http://schemas.openxmlformats.org/drawingml/2006/main" noGrp="1"/>
          </p:cNvSpPr>
          <p:nvPr/>
        </p:nvSpPr>
        <p:spPr>
          <a:xfrm xmlns:a="http://schemas.openxmlformats.org/drawingml/2006/main">
            <a:off x="685800" y="4543425"/>
            <a:ext cx="114300" cy="114300"/>
          </a:xfrm>
          <a:prstGeom xmlns:a="http://schemas.openxmlformats.org/drawingml/2006/main" prst="roundRect">
            <a:avLst>
              <a:gd name="adj" fmla="val 50000"/>
            </a:avLst>
          </a:prstGeom>
          <a:solidFill xmlns:a="http://schemas.openxmlformats.org/drawingml/2006/main">
            <a:srgbClr val="E7AD31"/>
          </a:solidFill>
          <a:ln xmlns:a="http://schemas.openxmlformats.org/drawingml/2006/main" w="0">
            <a:solidFill>
              <a:srgbClr val="E7AD31"/>
            </a:solidFill>
            <a:prstDash val="solid"/>
          </a:ln>
        </p:spPr>
      </p:sp>
      <p:sp>
        <p:nvSpPr>
          <p:cNvPr id="11" name="s5-text-3">
            <a:extLst xmlns:a="http://schemas.openxmlformats.org/drawingml/2006/main">
              <a:ext uri="{FF2B5EF4-FFF2-40B4-BE49-F238E27FC236}">
                <a16:creationId xmlns:a16="http://schemas.microsoft.com/office/drawing/2014/main" id="{969CF66D-8F63-480C-A0C6-CF4A1F1CFDA2}"/>
              </a:ext>
            </a:extLst>
          </p:cNvPr>
          <p:cNvSpPr>
            <a:spLocks xmlns:a="http://schemas.openxmlformats.org/drawingml/2006/main" noGrp="1"/>
          </p:cNvSpPr>
          <p:nvPr/>
        </p:nvSpPr>
        <p:spPr>
          <a:xfrm xmlns:a="http://schemas.openxmlformats.org/drawingml/2006/main">
            <a:off x="952500" y="4467225"/>
            <a:ext cx="3562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FFFFFF"/>
                </a:solidFill>
              </a:defRPr>
            </a:pPr>
            <a:r>
              <a:rPr sz="1575" b="0">
                <a:solidFill>
                  <a:srgbClr val="FFFFFF"/>
                </a:solidFill>
              </a:rPr>
              <a:t>Keep purposeful evidence: the decision, observable result, reason for any difference and one checkable improvement.</a:t>
            </a:r>
          </a:p>
        </p:txBody>
      </p:sp>
      <p:sp>
        <p:nvSpPr>
          <p:cNvPr id="12" name="prompt-label-5">
            <a:extLst xmlns:a="http://schemas.openxmlformats.org/drawingml/2006/main">
              <a:ext uri="{FF2B5EF4-FFF2-40B4-BE49-F238E27FC236}">
                <a16:creationId xmlns:a16="http://schemas.microsoft.com/office/drawing/2014/main" id="{7AD056AE-FA2D-458A-99C3-BE264A579A78}"/>
              </a:ext>
            </a:extLst>
          </p:cNvPr>
          <p:cNvSpPr>
            <a:spLocks xmlns:a="http://schemas.openxmlformats.org/drawingml/2006/main" noGrp="1"/>
          </p:cNvSpPr>
          <p:nvPr/>
        </p:nvSpPr>
        <p:spPr>
          <a:xfrm xmlns:a="http://schemas.openxmlformats.org/drawingml/2006/main">
            <a:off x="685800" y="5467350"/>
            <a:ext cx="1104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E7AD31"/>
                </a:solidFill>
              </a:defRPr>
            </a:pPr>
            <a:r>
              <a:rPr sz="1050" b="1">
                <a:solidFill>
                  <a:srgbClr val="E7AD31"/>
                </a:solidFill>
              </a:rPr>
              <a:t>APPLY IT</a:t>
            </a:r>
          </a:p>
        </p:txBody>
      </p:sp>
      <p:sp>
        <p:nvSpPr>
          <p:cNvPr id="13" name="prompt-5">
            <a:extLst xmlns:a="http://schemas.openxmlformats.org/drawingml/2006/main">
              <a:ext uri="{FF2B5EF4-FFF2-40B4-BE49-F238E27FC236}">
                <a16:creationId xmlns:a16="http://schemas.microsoft.com/office/drawing/2014/main" id="{10BBEC09-B352-4D81-B9DC-826720BBDDE7}"/>
              </a:ext>
            </a:extLst>
          </p:cNvPr>
          <p:cNvSpPr>
            <a:spLocks xmlns:a="http://schemas.openxmlformats.org/drawingml/2006/main" noGrp="1"/>
          </p:cNvSpPr>
          <p:nvPr/>
        </p:nvSpPr>
        <p:spPr>
          <a:xfrm xmlns:a="http://schemas.openxmlformats.org/drawingml/2006/main">
            <a:off x="685800" y="5772150"/>
            <a:ext cx="3829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FFFF"/>
                </a:solidFill>
              </a:defRPr>
            </a:pPr>
            <a:r>
              <a:rPr sz="1350" b="1">
                <a:solidFill>
                  <a:srgbClr val="FFFFFF"/>
                </a:solidFill>
              </a:rPr>
              <a:t>Choose the strongest evidence set for explaining a plan-to-result difference and justify your choice.</a:t>
            </a:r>
          </a:p>
        </p:txBody>
      </p:sp>
      <p:sp>
        <p:nvSpPr>
          <p:cNvPr id="14" name="caption-5">
            <a:extLst xmlns:a="http://schemas.openxmlformats.org/drawingml/2006/main">
              <a:ext uri="{FF2B5EF4-FFF2-40B4-BE49-F238E27FC236}">
                <a16:creationId xmlns:a16="http://schemas.microsoft.com/office/drawing/2014/main" id="{F78FC2DF-D3E5-4E24-99F0-BB2E061A7591}"/>
              </a:ext>
            </a:extLst>
          </p:cNvPr>
          <p:cNvSpPr>
            <a:spLocks xmlns:a="http://schemas.openxmlformats.org/drawingml/2006/main" noGrp="1"/>
          </p:cNvSpPr>
          <p:nvPr/>
        </p:nvSpPr>
        <p:spPr>
          <a:xfrm xmlns:a="http://schemas.openxmlformats.org/drawingml/2006/main">
            <a:off x="5334000" y="6096000"/>
            <a:ext cx="5905500" cy="400050"/>
          </a:xfrm>
          <a:prstGeom xmlns:a="http://schemas.openxmlformats.org/drawingml/2006/main" prst="roundRect">
            <a:avLst>
              <a:gd name="adj" fmla="val 23810"/>
            </a:avLst>
          </a:prstGeom>
          <a:solidFill xmlns:a="http://schemas.openxmlformats.org/drawingml/2006/main">
            <a:srgbClr val="113F3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FFFFFF"/>
                </a:solidFill>
              </a:defRPr>
            </a:pPr>
            <a:r>
              <a:rPr sz="1275" b="0">
                <a:solidFill>
                  <a:srgbClr val="FFFFFF"/>
                </a:solidFill>
              </a:rPr>
              <a:t>Useful evidence shows the plan, result, difference and next improvement.</a:t>
            </a:r>
          </a:p>
        </p:txBody>
      </p:sp>
      <p:sp>
        <p:nvSpPr>
          <p:cNvPr id="15" name="footer-rule-5">
            <a:extLst xmlns:a="http://schemas.openxmlformats.org/drawingml/2006/main">
              <a:ext uri="{FF2B5EF4-FFF2-40B4-BE49-F238E27FC236}">
                <a16:creationId xmlns:a16="http://schemas.microsoft.com/office/drawing/2014/main" id="{C5B2E6C0-D212-4214-B59C-CC4660F90959}"/>
              </a:ext>
            </a:extLst>
          </p:cNvPr>
          <p:cNvSpPr>
            <a:spLocks xmlns:a="http://schemas.openxmlformats.org/drawingml/2006/main" noGrp="1"/>
          </p:cNvSpPr>
          <p:nvPr/>
        </p:nvSpPr>
        <p:spPr>
          <a:xfrm xmlns:a="http://schemas.openxmlformats.org/drawingml/2006/main">
            <a:off x="685800" y="6477000"/>
            <a:ext cx="3829050" cy="19050"/>
          </a:xfrm>
          <a:prstGeom xmlns:a="http://schemas.openxmlformats.org/drawingml/2006/main" prst="rect">
            <a:avLst/>
          </a:prstGeom>
          <a:solidFill xmlns:a="http://schemas.openxmlformats.org/drawingml/2006/main">
            <a:srgbClr val="5C8774"/>
          </a:solidFill>
          <a:ln xmlns:a="http://schemas.openxmlformats.org/drawingml/2006/main" w="0">
            <a:solidFill>
              <a:srgbClr val="5C8774"/>
            </a:solidFill>
            <a:prstDash val="solid"/>
          </a:ln>
        </p:spPr>
      </p:sp>
      <p:sp>
        <p:nvSpPr>
          <p:cNvPr id="16" name="footer-label-5">
            <a:extLst xmlns:a="http://schemas.openxmlformats.org/drawingml/2006/main">
              <a:ext uri="{FF2B5EF4-FFF2-40B4-BE49-F238E27FC236}">
                <a16:creationId xmlns:a16="http://schemas.microsoft.com/office/drawing/2014/main" id="{BB5F7F0A-A110-4868-A831-2FBA9ACE88F5}"/>
              </a:ext>
            </a:extLst>
          </p:cNvPr>
          <p:cNvSpPr>
            <a:spLocks xmlns:a="http://schemas.openxmlformats.org/drawingml/2006/main" noGrp="1"/>
          </p:cNvSpPr>
          <p:nvPr/>
        </p:nvSpPr>
        <p:spPr>
          <a:xfrm xmlns:a="http://schemas.openxmlformats.org/drawingml/2006/main">
            <a:off x="685800" y="6543675"/>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D8E7DF"/>
                </a:solidFill>
              </a:defRPr>
            </a:pPr>
            <a:r>
              <a:rPr sz="900" b="1">
                <a:solidFill>
                  <a:srgbClr val="D8E7DF"/>
                </a:solidFill>
              </a:rPr>
              <a:t>SWINGING SIGN  •  MODULE 4</a:t>
            </a:r>
          </a:p>
        </p:txBody>
      </p:sp>
      <p:sp>
        <p:nvSpPr>
          <p:cNvPr id="17" name="footer-page-5">
            <a:extLst xmlns:a="http://schemas.openxmlformats.org/drawingml/2006/main">
              <a:ext uri="{FF2B5EF4-FFF2-40B4-BE49-F238E27FC236}">
                <a16:creationId xmlns:a16="http://schemas.microsoft.com/office/drawing/2014/main" id="{F0E3C9A9-4E82-41DD-B88B-2577084EC265}"/>
              </a:ext>
            </a:extLst>
          </p:cNvPr>
          <p:cNvSpPr>
            <a:spLocks xmlns:a="http://schemas.openxmlformats.org/drawingml/2006/main" noGrp="1"/>
          </p:cNvSpPr>
          <p:nvPr/>
        </p:nvSpPr>
        <p:spPr>
          <a:xfrm xmlns:a="http://schemas.openxmlformats.org/drawingml/2006/main">
            <a:off x="10763250" y="6543675"/>
            <a:ext cx="742950" cy="228600"/>
          </a:xfrm>
          <a:prstGeom xmlns:a="http://schemas.openxmlformats.org/drawingml/2006/main" prst="roundRect">
            <a:avLst>
              <a:gd name="adj" fmla="val 25000"/>
            </a:avLst>
          </a:prstGeom>
          <a:solidFill xmlns:a="http://schemas.openxmlformats.org/drawingml/2006/main">
            <a:srgbClr val="113F3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FFFFFF"/>
                </a:solidFill>
              </a:defRPr>
            </a:pPr>
            <a:r>
              <a:rPr sz="900" b="1">
                <a:solidFill>
                  <a:srgbClr val="FFFFFF"/>
                </a:solidFill>
              </a:rPr>
              <a:t>5 / 8</a:t>
            </a:r>
          </a:p>
        </p:txBody>
      </p:sp>
    </p:spTree>
    <p:extLst>
      <p:ext uri="{BB962C8B-B14F-4D97-AF65-F5344CB8AC3E}">
        <p14:creationId xmlns:p14="http://schemas.microsoft.com/office/powerpoint/2010/main" val="1607673477"/>
      </p:ext>
    </p:extLst>
  </p:cSld>
</p:sld>
</file>

<file path=ppt/slides/slide6.xml><?xml version="1.0" encoding="utf-8"?>
<p:sld xmlns:p="http://schemas.openxmlformats.org/presentationml/2006/main">
  <p:cSld>
    <p:bg>
      <p:bgPr>
        <a:solidFill xmlns:a="http://schemas.openxmlformats.org/drawingml/2006/main">
          <a:srgbClr val="113F30"/>
        </a:solidFill>
      </p:bgPr>
    </p:bg>
    <p:spTree>
      <p:nvGrpSpPr>
        <p:cNvPr id="1" name=""/>
        <p:cNvGrpSpPr/>
        <p:nvPr/>
      </p:nvGrpSpPr>
      <p:grpSpPr>
        <a:xfrm xmlns:a="http://schemas.openxmlformats.org/drawingml/2006/main"/>
      </p:grpSpPr>
      <p:sp>
        <p:nvSpPr>
          <p:cNvPr id="20" name="accent-6">
            <a:extLst xmlns:a="http://schemas.openxmlformats.org/drawingml/2006/main">
              <a:ext uri="{FF2B5EF4-FFF2-40B4-BE49-F238E27FC236}">
                <a16:creationId xmlns:a16="http://schemas.microsoft.com/office/drawing/2014/main" id="{EB1F6B7B-8571-4306-92F2-6A47D860E921}"/>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E7AD31"/>
          </a:solidFill>
          <a:ln xmlns:a="http://schemas.openxmlformats.org/drawingml/2006/main" w="0">
            <a:solidFill>
              <a:srgbClr val="E7AD31"/>
            </a:solidFill>
            <a:prstDash val="solid"/>
          </a:ln>
        </p:spPr>
      </p:sp>
      <p:sp>
        <p:nvSpPr>
          <p:cNvPr id="2" name="module-kicker-6">
            <a:extLst xmlns:a="http://schemas.openxmlformats.org/drawingml/2006/main">
              <a:ext uri="{FF2B5EF4-FFF2-40B4-BE49-F238E27FC236}">
                <a16:creationId xmlns:a16="http://schemas.microsoft.com/office/drawing/2014/main" id="{AC8A359A-42C1-4EE3-9500-5B8FAD9E7870}"/>
              </a:ext>
            </a:extLst>
          </p:cNvPr>
          <p:cNvSpPr>
            <a:spLocks xmlns:a="http://schemas.openxmlformats.org/drawingml/2006/main" noGrp="1"/>
          </p:cNvSpPr>
          <p:nvPr/>
        </p:nvSpPr>
        <p:spPr>
          <a:xfrm xmlns:a="http://schemas.openxmlformats.org/drawingml/2006/main">
            <a:off x="685800" y="2667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CFE1D8"/>
                </a:solidFill>
              </a:defRPr>
            </a:pPr>
            <a:r>
              <a:rPr sz="1050" b="1">
                <a:solidFill>
                  <a:srgbClr val="CFE1D8"/>
                </a:solidFill>
              </a:rPr>
              <a:t>MODULE 4  •  PRODUCE AND CONTROL QUALITY</a:t>
            </a:r>
          </a:p>
        </p:txBody>
      </p:sp>
      <p:sp>
        <p:nvSpPr>
          <p:cNvPr id="3" name="slide-title-6">
            <a:extLst xmlns:a="http://schemas.openxmlformats.org/drawingml/2006/main">
              <a:ext uri="{FF2B5EF4-FFF2-40B4-BE49-F238E27FC236}">
                <a16:creationId xmlns:a16="http://schemas.microsoft.com/office/drawing/2014/main" id="{1A5B7842-B362-4ACE-86DF-62AFE714A4DA}"/>
              </a:ext>
            </a:extLst>
          </p:cNvPr>
          <p:cNvSpPr>
            <a:spLocks xmlns:a="http://schemas.openxmlformats.org/drawingml/2006/main" noGrp="1"/>
          </p:cNvSpPr>
          <p:nvPr/>
        </p:nvSpPr>
        <p:spPr>
          <a:xfrm xmlns:a="http://schemas.openxmlformats.org/drawingml/2006/main">
            <a:off x="685800" y="590550"/>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FFFFF"/>
                </a:solidFill>
              </a:defRPr>
            </a:pPr>
            <a:r>
              <a:rPr sz="2850" b="1">
                <a:solidFill>
                  <a:srgbClr val="FFFFFF"/>
                </a:solidFill>
              </a:rPr>
              <a:t>Stop. Think. Explain.</a:t>
            </a:r>
          </a:p>
        </p:txBody>
      </p:sp>
      <p:sp>
        <p:nvSpPr>
          <p:cNvPr id="4" name="retrieval-instruction">
            <a:extLst xmlns:a="http://schemas.openxmlformats.org/drawingml/2006/main">
              <a:ext uri="{FF2B5EF4-FFF2-40B4-BE49-F238E27FC236}">
                <a16:creationId xmlns:a16="http://schemas.microsoft.com/office/drawing/2014/main" id="{429919AD-DD08-435D-B95D-02BBF9ABEDD4}"/>
              </a:ext>
            </a:extLst>
          </p:cNvPr>
          <p:cNvSpPr>
            <a:spLocks xmlns:a="http://schemas.openxmlformats.org/drawingml/2006/main" noGrp="1"/>
          </p:cNvSpPr>
          <p:nvPr/>
        </p:nvSpPr>
        <p:spPr>
          <a:xfrm xmlns:a="http://schemas.openxmlformats.org/drawingml/2006/main">
            <a:off x="685800" y="1266825"/>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D8E7DF"/>
                </a:solidFill>
              </a:defRPr>
            </a:pPr>
            <a:r>
              <a:rPr sz="1650" b="0">
                <a:solidFill>
                  <a:srgbClr val="D8E7DF"/>
                </a:solidFill>
              </a:rPr>
              <a:t>Answer silently first. Then justify one answer with a partner.</a:t>
            </a:r>
          </a:p>
        </p:txBody>
      </p:sp>
      <p:sp>
        <p:nvSpPr>
          <p:cNvPr id="5" name="retrieval-line-1">
            <a:extLst xmlns:a="http://schemas.openxmlformats.org/drawingml/2006/main">
              <a:ext uri="{FF2B5EF4-FFF2-40B4-BE49-F238E27FC236}">
                <a16:creationId xmlns:a16="http://schemas.microsoft.com/office/drawing/2014/main" id="{BDE043D9-3170-4C9B-9815-80AC2D96BE50}"/>
              </a:ext>
            </a:extLst>
          </p:cNvPr>
          <p:cNvSpPr>
            <a:spLocks xmlns:a="http://schemas.openxmlformats.org/drawingml/2006/main" noGrp="1"/>
          </p:cNvSpPr>
          <p:nvPr/>
        </p:nvSpPr>
        <p:spPr>
          <a:xfrm xmlns:a="http://schemas.openxmlformats.org/drawingml/2006/main">
            <a:off x="685800" y="1809750"/>
            <a:ext cx="10820400" cy="781050"/>
          </a:xfrm>
          <a:prstGeom xmlns:a="http://schemas.openxmlformats.org/drawingml/2006/main" prst="roundRect">
            <a:avLst>
              <a:gd name="adj" fmla="val 19512"/>
            </a:avLst>
          </a:prstGeom>
          <a:solidFill xmlns:a="http://schemas.openxmlformats.org/drawingml/2006/main">
            <a:srgbClr val="1D503D"/>
          </a:solidFill>
          <a:ln xmlns:a="http://schemas.openxmlformats.org/drawingml/2006/main" w="9525">
            <a:solidFill>
              <a:srgbClr val="4F7D69"/>
            </a:solidFill>
            <a:prstDash val="solid"/>
          </a:ln>
        </p:spPr>
      </p:sp>
      <p:sp>
        <p:nvSpPr>
          <p:cNvPr id="6" name="retrieval-number-1">
            <a:extLst xmlns:a="http://schemas.openxmlformats.org/drawingml/2006/main">
              <a:ext uri="{FF2B5EF4-FFF2-40B4-BE49-F238E27FC236}">
                <a16:creationId xmlns:a16="http://schemas.microsoft.com/office/drawing/2014/main" id="{B7BD819D-5EB8-46E1-86A7-6799E6DC2724}"/>
              </a:ext>
            </a:extLst>
          </p:cNvPr>
          <p:cNvSpPr>
            <a:spLocks xmlns:a="http://schemas.openxmlformats.org/drawingml/2006/main" noGrp="1"/>
          </p:cNvSpPr>
          <p:nvPr/>
        </p:nvSpPr>
        <p:spPr>
          <a:xfrm xmlns:a="http://schemas.openxmlformats.org/drawingml/2006/main">
            <a:off x="895350" y="1990725"/>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E7AD31"/>
                </a:solidFill>
              </a:defRPr>
            </a:pPr>
            <a:r>
              <a:rPr sz="1875" b="1">
                <a:solidFill>
                  <a:srgbClr val="E7AD31"/>
                </a:solidFill>
              </a:rPr>
              <a:t>1</a:t>
            </a:r>
          </a:p>
        </p:txBody>
      </p:sp>
      <p:sp>
        <p:nvSpPr>
          <p:cNvPr id="7" name="retrieval-question-1">
            <a:extLst xmlns:a="http://schemas.openxmlformats.org/drawingml/2006/main">
              <a:ext uri="{FF2B5EF4-FFF2-40B4-BE49-F238E27FC236}">
                <a16:creationId xmlns:a16="http://schemas.microsoft.com/office/drawing/2014/main" id="{E6CE03DA-FCCF-45D0-868B-BD8EB8E66F45}"/>
              </a:ext>
            </a:extLst>
          </p:cNvPr>
          <p:cNvSpPr>
            <a:spLocks xmlns:a="http://schemas.openxmlformats.org/drawingml/2006/main" noGrp="1"/>
          </p:cNvSpPr>
          <p:nvPr/>
        </p:nvSpPr>
        <p:spPr>
          <a:xfrm xmlns:a="http://schemas.openxmlformats.org/drawingml/2006/main">
            <a:off x="1524000" y="1962150"/>
            <a:ext cx="9658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What makes a production sequence more than a task list?</a:t>
            </a:r>
          </a:p>
        </p:txBody>
      </p:sp>
      <p:sp>
        <p:nvSpPr>
          <p:cNvPr id="8" name="retrieval-line-2">
            <a:extLst xmlns:a="http://schemas.openxmlformats.org/drawingml/2006/main">
              <a:ext uri="{FF2B5EF4-FFF2-40B4-BE49-F238E27FC236}">
                <a16:creationId xmlns:a16="http://schemas.microsoft.com/office/drawing/2014/main" id="{BFFC0474-607C-4926-8363-DB392A470F47}"/>
              </a:ext>
            </a:extLst>
          </p:cNvPr>
          <p:cNvSpPr>
            <a:spLocks xmlns:a="http://schemas.openxmlformats.org/drawingml/2006/main" noGrp="1"/>
          </p:cNvSpPr>
          <p:nvPr/>
        </p:nvSpPr>
        <p:spPr>
          <a:xfrm xmlns:a="http://schemas.openxmlformats.org/drawingml/2006/main">
            <a:off x="685800" y="2800350"/>
            <a:ext cx="10820400" cy="781050"/>
          </a:xfrm>
          <a:prstGeom xmlns:a="http://schemas.openxmlformats.org/drawingml/2006/main" prst="roundRect">
            <a:avLst>
              <a:gd name="adj" fmla="val 19512"/>
            </a:avLst>
          </a:prstGeom>
          <a:solidFill xmlns:a="http://schemas.openxmlformats.org/drawingml/2006/main">
            <a:srgbClr val="245E48"/>
          </a:solidFill>
          <a:ln xmlns:a="http://schemas.openxmlformats.org/drawingml/2006/main" w="9525">
            <a:solidFill>
              <a:srgbClr val="4F7D69"/>
            </a:solidFill>
            <a:prstDash val="solid"/>
          </a:ln>
        </p:spPr>
      </p:sp>
      <p:sp>
        <p:nvSpPr>
          <p:cNvPr id="9" name="retrieval-number-2">
            <a:extLst xmlns:a="http://schemas.openxmlformats.org/drawingml/2006/main">
              <a:ext uri="{FF2B5EF4-FFF2-40B4-BE49-F238E27FC236}">
                <a16:creationId xmlns:a16="http://schemas.microsoft.com/office/drawing/2014/main" id="{411A0802-266A-46EA-BFA4-83F35C04B8DC}"/>
              </a:ext>
            </a:extLst>
          </p:cNvPr>
          <p:cNvSpPr>
            <a:spLocks xmlns:a="http://schemas.openxmlformats.org/drawingml/2006/main" noGrp="1"/>
          </p:cNvSpPr>
          <p:nvPr/>
        </p:nvSpPr>
        <p:spPr>
          <a:xfrm xmlns:a="http://schemas.openxmlformats.org/drawingml/2006/main">
            <a:off x="895350" y="2981325"/>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E7AD31"/>
                </a:solidFill>
              </a:defRPr>
            </a:pPr>
            <a:r>
              <a:rPr sz="1875" b="1">
                <a:solidFill>
                  <a:srgbClr val="E7AD31"/>
                </a:solidFill>
              </a:rPr>
              <a:t>2</a:t>
            </a:r>
          </a:p>
        </p:txBody>
      </p:sp>
      <p:sp>
        <p:nvSpPr>
          <p:cNvPr id="10" name="retrieval-question-2">
            <a:extLst xmlns:a="http://schemas.openxmlformats.org/drawingml/2006/main">
              <a:ext uri="{FF2B5EF4-FFF2-40B4-BE49-F238E27FC236}">
                <a16:creationId xmlns:a16="http://schemas.microsoft.com/office/drawing/2014/main" id="{646B9AC6-814E-4D07-8890-01E125C80520}"/>
              </a:ext>
            </a:extLst>
          </p:cNvPr>
          <p:cNvSpPr>
            <a:spLocks xmlns:a="http://schemas.openxmlformats.org/drawingml/2006/main" noGrp="1"/>
          </p:cNvSpPr>
          <p:nvPr/>
        </p:nvSpPr>
        <p:spPr>
          <a:xfrm xmlns:a="http://schemas.openxmlformats.org/drawingml/2006/main">
            <a:off x="1524000" y="2952750"/>
            <a:ext cx="9658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Why do hold points occur after production has begun?</a:t>
            </a:r>
          </a:p>
        </p:txBody>
      </p:sp>
      <p:sp>
        <p:nvSpPr>
          <p:cNvPr id="11" name="retrieval-line-3">
            <a:extLst xmlns:a="http://schemas.openxmlformats.org/drawingml/2006/main">
              <a:ext uri="{FF2B5EF4-FFF2-40B4-BE49-F238E27FC236}">
                <a16:creationId xmlns:a16="http://schemas.microsoft.com/office/drawing/2014/main" id="{45B58DB9-B74F-4EF7-8A7E-F9474E7CE036}"/>
              </a:ext>
            </a:extLst>
          </p:cNvPr>
          <p:cNvSpPr>
            <a:spLocks xmlns:a="http://schemas.openxmlformats.org/drawingml/2006/main" noGrp="1"/>
          </p:cNvSpPr>
          <p:nvPr/>
        </p:nvSpPr>
        <p:spPr>
          <a:xfrm xmlns:a="http://schemas.openxmlformats.org/drawingml/2006/main">
            <a:off x="685800" y="3790950"/>
            <a:ext cx="10820400" cy="781050"/>
          </a:xfrm>
          <a:prstGeom xmlns:a="http://schemas.openxmlformats.org/drawingml/2006/main" prst="roundRect">
            <a:avLst>
              <a:gd name="adj" fmla="val 19512"/>
            </a:avLst>
          </a:prstGeom>
          <a:solidFill xmlns:a="http://schemas.openxmlformats.org/drawingml/2006/main">
            <a:srgbClr val="1D503D"/>
          </a:solidFill>
          <a:ln xmlns:a="http://schemas.openxmlformats.org/drawingml/2006/main" w="9525">
            <a:solidFill>
              <a:srgbClr val="4F7D69"/>
            </a:solidFill>
            <a:prstDash val="solid"/>
          </a:ln>
        </p:spPr>
      </p:sp>
      <p:sp>
        <p:nvSpPr>
          <p:cNvPr id="12" name="retrieval-number-3">
            <a:extLst xmlns:a="http://schemas.openxmlformats.org/drawingml/2006/main">
              <a:ext uri="{FF2B5EF4-FFF2-40B4-BE49-F238E27FC236}">
                <a16:creationId xmlns:a16="http://schemas.microsoft.com/office/drawing/2014/main" id="{8A3166BF-3F35-4648-9513-8BF358D6D84F}"/>
              </a:ext>
            </a:extLst>
          </p:cNvPr>
          <p:cNvSpPr>
            <a:spLocks xmlns:a="http://schemas.openxmlformats.org/drawingml/2006/main" noGrp="1"/>
          </p:cNvSpPr>
          <p:nvPr/>
        </p:nvSpPr>
        <p:spPr>
          <a:xfrm xmlns:a="http://schemas.openxmlformats.org/drawingml/2006/main">
            <a:off x="895350" y="3971925"/>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E7AD31"/>
                </a:solidFill>
              </a:defRPr>
            </a:pPr>
            <a:r>
              <a:rPr sz="1875" b="1">
                <a:solidFill>
                  <a:srgbClr val="E7AD31"/>
                </a:solidFill>
              </a:rPr>
              <a:t>3</a:t>
            </a:r>
          </a:p>
        </p:txBody>
      </p:sp>
      <p:sp>
        <p:nvSpPr>
          <p:cNvPr id="13" name="retrieval-question-3">
            <a:extLst xmlns:a="http://schemas.openxmlformats.org/drawingml/2006/main">
              <a:ext uri="{FF2B5EF4-FFF2-40B4-BE49-F238E27FC236}">
                <a16:creationId xmlns:a16="http://schemas.microsoft.com/office/drawing/2014/main" id="{87F22FD8-CC27-4DD9-8BC3-8A49614C0381}"/>
              </a:ext>
            </a:extLst>
          </p:cNvPr>
          <p:cNvSpPr>
            <a:spLocks xmlns:a="http://schemas.openxmlformats.org/drawingml/2006/main" noGrp="1"/>
          </p:cNvSpPr>
          <p:nvPr/>
        </p:nvSpPr>
        <p:spPr>
          <a:xfrm xmlns:a="http://schemas.openxmlformats.org/drawingml/2006/main">
            <a:off x="1524000" y="3943350"/>
            <a:ext cx="9658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What makes a quality statement checkable?</a:t>
            </a:r>
          </a:p>
        </p:txBody>
      </p:sp>
      <p:sp>
        <p:nvSpPr>
          <p:cNvPr id="14" name="retrieval-line-4">
            <a:extLst xmlns:a="http://schemas.openxmlformats.org/drawingml/2006/main">
              <a:ext uri="{FF2B5EF4-FFF2-40B4-BE49-F238E27FC236}">
                <a16:creationId xmlns:a16="http://schemas.microsoft.com/office/drawing/2014/main" id="{44E071C0-DF26-4EC2-9C2B-7B519367F659}"/>
              </a:ext>
            </a:extLst>
          </p:cNvPr>
          <p:cNvSpPr>
            <a:spLocks xmlns:a="http://schemas.openxmlformats.org/drawingml/2006/main" noGrp="1"/>
          </p:cNvSpPr>
          <p:nvPr/>
        </p:nvSpPr>
        <p:spPr>
          <a:xfrm xmlns:a="http://schemas.openxmlformats.org/drawingml/2006/main">
            <a:off x="685800" y="4781550"/>
            <a:ext cx="10820400" cy="781050"/>
          </a:xfrm>
          <a:prstGeom xmlns:a="http://schemas.openxmlformats.org/drawingml/2006/main" prst="roundRect">
            <a:avLst>
              <a:gd name="adj" fmla="val 19512"/>
            </a:avLst>
          </a:prstGeom>
          <a:solidFill xmlns:a="http://schemas.openxmlformats.org/drawingml/2006/main">
            <a:srgbClr val="245E48"/>
          </a:solidFill>
          <a:ln xmlns:a="http://schemas.openxmlformats.org/drawingml/2006/main" w="9525">
            <a:solidFill>
              <a:srgbClr val="4F7D69"/>
            </a:solidFill>
            <a:prstDash val="solid"/>
          </a:ln>
        </p:spPr>
      </p:sp>
      <p:sp>
        <p:nvSpPr>
          <p:cNvPr id="15" name="retrieval-number-4">
            <a:extLst xmlns:a="http://schemas.openxmlformats.org/drawingml/2006/main">
              <a:ext uri="{FF2B5EF4-FFF2-40B4-BE49-F238E27FC236}">
                <a16:creationId xmlns:a16="http://schemas.microsoft.com/office/drawing/2014/main" id="{93502C3A-4F7F-46EC-8FCA-07CA51658CAA}"/>
              </a:ext>
            </a:extLst>
          </p:cNvPr>
          <p:cNvSpPr>
            <a:spLocks xmlns:a="http://schemas.openxmlformats.org/drawingml/2006/main" noGrp="1"/>
          </p:cNvSpPr>
          <p:nvPr/>
        </p:nvSpPr>
        <p:spPr>
          <a:xfrm xmlns:a="http://schemas.openxmlformats.org/drawingml/2006/main">
            <a:off x="895350" y="4962525"/>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E7AD31"/>
                </a:solidFill>
              </a:defRPr>
            </a:pPr>
            <a:r>
              <a:rPr sz="1875" b="1">
                <a:solidFill>
                  <a:srgbClr val="E7AD31"/>
                </a:solidFill>
              </a:rPr>
              <a:t>4</a:t>
            </a:r>
          </a:p>
        </p:txBody>
      </p:sp>
      <p:sp>
        <p:nvSpPr>
          <p:cNvPr id="16" name="retrieval-question-4">
            <a:extLst xmlns:a="http://schemas.openxmlformats.org/drawingml/2006/main">
              <a:ext uri="{FF2B5EF4-FFF2-40B4-BE49-F238E27FC236}">
                <a16:creationId xmlns:a16="http://schemas.microsoft.com/office/drawing/2014/main" id="{CA71BEFC-A4F0-4649-A548-70C016F5DB33}"/>
              </a:ext>
            </a:extLst>
          </p:cNvPr>
          <p:cNvSpPr>
            <a:spLocks xmlns:a="http://schemas.openxmlformats.org/drawingml/2006/main" noGrp="1"/>
          </p:cNvSpPr>
          <p:nvPr/>
        </p:nvSpPr>
        <p:spPr>
          <a:xfrm xmlns:a="http://schemas.openxmlformats.org/drawingml/2006/main">
            <a:off x="1524000" y="4933950"/>
            <a:ext cx="9658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What should process evidence explain about a plan-to-result difference?</a:t>
            </a:r>
          </a:p>
        </p:txBody>
      </p:sp>
      <p:sp>
        <p:nvSpPr>
          <p:cNvPr id="17" name="footer-rule-6">
            <a:extLst xmlns:a="http://schemas.openxmlformats.org/drawingml/2006/main">
              <a:ext uri="{FF2B5EF4-FFF2-40B4-BE49-F238E27FC236}">
                <a16:creationId xmlns:a16="http://schemas.microsoft.com/office/drawing/2014/main" id="{585A8D54-9109-4DD5-A381-28ABEE9DF579}"/>
              </a:ext>
            </a:extLst>
          </p:cNvPr>
          <p:cNvSpPr>
            <a:spLocks xmlns:a="http://schemas.openxmlformats.org/drawingml/2006/main" noGrp="1"/>
          </p:cNvSpPr>
          <p:nvPr/>
        </p:nvSpPr>
        <p:spPr>
          <a:xfrm xmlns:a="http://schemas.openxmlformats.org/drawingml/2006/main">
            <a:off x="685800" y="6486525"/>
            <a:ext cx="10820400" cy="19050"/>
          </a:xfrm>
          <a:prstGeom xmlns:a="http://schemas.openxmlformats.org/drawingml/2006/main" prst="rect">
            <a:avLst/>
          </a:prstGeom>
          <a:solidFill xmlns:a="http://schemas.openxmlformats.org/drawingml/2006/main">
            <a:srgbClr val="5C8774"/>
          </a:solidFill>
          <a:ln xmlns:a="http://schemas.openxmlformats.org/drawingml/2006/main" w="0">
            <a:solidFill>
              <a:srgbClr val="5C8774"/>
            </a:solidFill>
            <a:prstDash val="solid"/>
          </a:ln>
        </p:spPr>
      </p:sp>
      <p:sp>
        <p:nvSpPr>
          <p:cNvPr id="18" name="footer-label-6">
            <a:extLst xmlns:a="http://schemas.openxmlformats.org/drawingml/2006/main">
              <a:ext uri="{FF2B5EF4-FFF2-40B4-BE49-F238E27FC236}">
                <a16:creationId xmlns:a16="http://schemas.microsoft.com/office/drawing/2014/main" id="{152587E0-01A6-4A35-AA07-3A1E12D0BC24}"/>
              </a:ext>
            </a:extLst>
          </p:cNvPr>
          <p:cNvSpPr>
            <a:spLocks xmlns:a="http://schemas.openxmlformats.org/drawingml/2006/main" noGrp="1"/>
          </p:cNvSpPr>
          <p:nvPr/>
        </p:nvSpPr>
        <p:spPr>
          <a:xfrm xmlns:a="http://schemas.openxmlformats.org/drawingml/2006/main">
            <a:off x="685800" y="6562725"/>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D8E7DF"/>
                </a:solidFill>
              </a:defRPr>
            </a:pPr>
            <a:r>
              <a:rPr sz="900" b="1">
                <a:solidFill>
                  <a:srgbClr val="D8E7DF"/>
                </a:solidFill>
              </a:rPr>
              <a:t>SWINGING SIGN  •  MODULE 4</a:t>
            </a:r>
          </a:p>
        </p:txBody>
      </p:sp>
      <p:sp>
        <p:nvSpPr>
          <p:cNvPr id="19" name="footer-page-6">
            <a:extLst xmlns:a="http://schemas.openxmlformats.org/drawingml/2006/main">
              <a:ext uri="{FF2B5EF4-FFF2-40B4-BE49-F238E27FC236}">
                <a16:creationId xmlns:a16="http://schemas.microsoft.com/office/drawing/2014/main" id="{9BD62347-677D-46BD-B1CB-A66CAAAE8458}"/>
              </a:ext>
            </a:extLst>
          </p:cNvPr>
          <p:cNvSpPr>
            <a:spLocks xmlns:a="http://schemas.openxmlformats.org/drawingml/2006/main" noGrp="1"/>
          </p:cNvSpPr>
          <p:nvPr/>
        </p:nvSpPr>
        <p:spPr>
          <a:xfrm xmlns:a="http://schemas.openxmlformats.org/drawingml/2006/main">
            <a:off x="10763250" y="6562725"/>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D8E7DF"/>
                </a:solidFill>
              </a:defRPr>
            </a:pPr>
            <a:r>
              <a:rPr sz="900" b="1">
                <a:solidFill>
                  <a:srgbClr val="D8E7DF"/>
                </a:solidFill>
              </a:rPr>
              <a:t>6 / 8</a:t>
            </a:r>
          </a:p>
        </p:txBody>
      </p:sp>
    </p:spTree>
    <p:extLst>
      <p:ext uri="{BB962C8B-B14F-4D97-AF65-F5344CB8AC3E}">
        <p14:creationId xmlns:p14="http://schemas.microsoft.com/office/powerpoint/2010/main" val="1606494004"/>
      </p:ext>
    </p:extLst>
  </p:cSld>
</p:sld>
</file>

<file path=ppt/slides/slide7.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23" name="accent-7">
            <a:extLst xmlns:a="http://schemas.openxmlformats.org/drawingml/2006/main">
              <a:ext uri="{FF2B5EF4-FFF2-40B4-BE49-F238E27FC236}">
                <a16:creationId xmlns:a16="http://schemas.microsoft.com/office/drawing/2014/main" id="{503985BE-23D0-4D04-8B9A-BC76BF71B25E}"/>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E7AD31"/>
          </a:solidFill>
          <a:ln xmlns:a="http://schemas.openxmlformats.org/drawingml/2006/main" w="0">
            <a:solidFill>
              <a:srgbClr val="E7AD31"/>
            </a:solidFill>
            <a:prstDash val="solid"/>
          </a:ln>
        </p:spPr>
      </p:sp>
      <p:sp>
        <p:nvSpPr>
          <p:cNvPr id="2" name="module-kicker-7">
            <a:extLst xmlns:a="http://schemas.openxmlformats.org/drawingml/2006/main">
              <a:ext uri="{FF2B5EF4-FFF2-40B4-BE49-F238E27FC236}">
                <a16:creationId xmlns:a16="http://schemas.microsoft.com/office/drawing/2014/main" id="{B7DF74E7-8E2D-44BC-9A3C-E9B3C5BBD112}"/>
              </a:ext>
            </a:extLst>
          </p:cNvPr>
          <p:cNvSpPr>
            <a:spLocks xmlns:a="http://schemas.openxmlformats.org/drawingml/2006/main" noGrp="1"/>
          </p:cNvSpPr>
          <p:nvPr/>
        </p:nvSpPr>
        <p:spPr>
          <a:xfrm xmlns:a="http://schemas.openxmlformats.org/drawingml/2006/main">
            <a:off x="685800" y="2667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84932"/>
                </a:solidFill>
              </a:defRPr>
            </a:pPr>
            <a:r>
              <a:rPr sz="1050" b="1">
                <a:solidFill>
                  <a:srgbClr val="B84932"/>
                </a:solidFill>
              </a:rPr>
              <a:t>MODULE 4  •  PRODUCE AND CONTROL QUALITY</a:t>
            </a:r>
          </a:p>
        </p:txBody>
      </p:sp>
      <p:sp>
        <p:nvSpPr>
          <p:cNvPr id="3" name="slide-title-7">
            <a:extLst xmlns:a="http://schemas.openxmlformats.org/drawingml/2006/main">
              <a:ext uri="{FF2B5EF4-FFF2-40B4-BE49-F238E27FC236}">
                <a16:creationId xmlns:a16="http://schemas.microsoft.com/office/drawing/2014/main" id="{F7FA3D3E-143F-4B1D-9378-5CFCA7D8A23B}"/>
              </a:ext>
            </a:extLst>
          </p:cNvPr>
          <p:cNvSpPr>
            <a:spLocks xmlns:a="http://schemas.openxmlformats.org/drawingml/2006/main" noGrp="1"/>
          </p:cNvSpPr>
          <p:nvPr/>
        </p:nvSpPr>
        <p:spPr>
          <a:xfrm xmlns:a="http://schemas.openxmlformats.org/drawingml/2006/main">
            <a:off x="685800" y="590550"/>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13F30"/>
                </a:solidFill>
              </a:defRPr>
            </a:pPr>
            <a:r>
              <a:rPr sz="2850" b="1">
                <a:solidFill>
                  <a:srgbClr val="113F30"/>
                </a:solidFill>
              </a:rPr>
              <a:t>Build one connected explanation</a:t>
            </a:r>
          </a:p>
        </p:txBody>
      </p:sp>
      <p:sp>
        <p:nvSpPr>
          <p:cNvPr id="4" name="guided-question-surface">
            <a:extLst xmlns:a="http://schemas.openxmlformats.org/drawingml/2006/main">
              <a:ext uri="{FF2B5EF4-FFF2-40B4-BE49-F238E27FC236}">
                <a16:creationId xmlns:a16="http://schemas.microsoft.com/office/drawing/2014/main" id="{45117AEF-E0FB-4212-8F02-7AB5F8810E8A}"/>
              </a:ext>
            </a:extLst>
          </p:cNvPr>
          <p:cNvSpPr>
            <a:spLocks xmlns:a="http://schemas.openxmlformats.org/drawingml/2006/main" noGrp="1"/>
          </p:cNvSpPr>
          <p:nvPr/>
        </p:nvSpPr>
        <p:spPr>
          <a:xfrm xmlns:a="http://schemas.openxmlformats.org/drawingml/2006/main">
            <a:off x="685800" y="1352550"/>
            <a:ext cx="10820400" cy="12573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9525">
            <a:solidFill>
              <a:srgbClr val="C8D8CF"/>
            </a:solidFill>
            <a:prstDash val="solid"/>
          </a:ln>
        </p:spPr>
      </p:sp>
      <p:sp>
        <p:nvSpPr>
          <p:cNvPr id="5" name="guided-question-label">
            <a:extLst xmlns:a="http://schemas.openxmlformats.org/drawingml/2006/main">
              <a:ext uri="{FF2B5EF4-FFF2-40B4-BE49-F238E27FC236}">
                <a16:creationId xmlns:a16="http://schemas.microsoft.com/office/drawing/2014/main" id="{134957A5-3B8E-436B-8189-FFAD89326326}"/>
              </a:ext>
            </a:extLst>
          </p:cNvPr>
          <p:cNvSpPr>
            <a:spLocks xmlns:a="http://schemas.openxmlformats.org/drawingml/2006/main" noGrp="1"/>
          </p:cNvSpPr>
          <p:nvPr/>
        </p:nvSpPr>
        <p:spPr>
          <a:xfrm xmlns:a="http://schemas.openxmlformats.org/drawingml/2006/main">
            <a:off x="933450" y="15430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84932"/>
                </a:solidFill>
              </a:defRPr>
            </a:pPr>
            <a:r>
              <a:rPr sz="1050" b="1">
                <a:solidFill>
                  <a:srgbClr val="B84932"/>
                </a:solidFill>
              </a:rPr>
              <a:t>THE QUESTION</a:t>
            </a:r>
          </a:p>
        </p:txBody>
      </p:sp>
      <p:sp>
        <p:nvSpPr>
          <p:cNvPr id="6" name="guided-question">
            <a:extLst xmlns:a="http://schemas.openxmlformats.org/drawingml/2006/main">
              <a:ext uri="{FF2B5EF4-FFF2-40B4-BE49-F238E27FC236}">
                <a16:creationId xmlns:a16="http://schemas.microsoft.com/office/drawing/2014/main" id="{730A6176-FB91-44A4-9DA4-8BE1C7C0D6DB}"/>
              </a:ext>
            </a:extLst>
          </p:cNvPr>
          <p:cNvSpPr>
            <a:spLocks xmlns:a="http://schemas.openxmlformats.org/drawingml/2006/main" noGrp="1"/>
          </p:cNvSpPr>
          <p:nvPr/>
        </p:nvSpPr>
        <p:spPr>
          <a:xfrm xmlns:a="http://schemas.openxmlformats.org/drawingml/2006/main">
            <a:off x="933450" y="18669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13F30"/>
                </a:solidFill>
              </a:defRPr>
            </a:pPr>
            <a:r>
              <a:rPr sz="1725" b="1">
                <a:solidFill>
                  <a:srgbClr val="113F30"/>
                </a:solidFill>
              </a:rPr>
              <a:t>A fictional result differs from its plan. Explain the next controlled decision using production dependencies, quality evidence, offcut handling and a teacher-authorised hold point.</a:t>
            </a:r>
          </a:p>
        </p:txBody>
      </p:sp>
      <p:sp>
        <p:nvSpPr>
          <p:cNvPr id="7" name="guided-step-1">
            <a:extLst xmlns:a="http://schemas.openxmlformats.org/drawingml/2006/main">
              <a:ext uri="{FF2B5EF4-FFF2-40B4-BE49-F238E27FC236}">
                <a16:creationId xmlns:a16="http://schemas.microsoft.com/office/drawing/2014/main" id="{6BA2B62E-27FD-4949-9402-2C2AE277C328}"/>
              </a:ext>
            </a:extLst>
          </p:cNvPr>
          <p:cNvSpPr>
            <a:spLocks xmlns:a="http://schemas.openxmlformats.org/drawingml/2006/main" noGrp="1"/>
          </p:cNvSpPr>
          <p:nvPr/>
        </p:nvSpPr>
        <p:spPr>
          <a:xfrm xmlns:a="http://schemas.openxmlformats.org/drawingml/2006/main">
            <a:off x="685800" y="2990850"/>
            <a:ext cx="2514600" cy="2095500"/>
          </a:xfrm>
          <a:prstGeom xmlns:a="http://schemas.openxmlformats.org/drawingml/2006/main" prst="roundRect">
            <a:avLst>
              <a:gd name="adj" fmla="val 8182"/>
            </a:avLst>
          </a:prstGeom>
          <a:solidFill xmlns:a="http://schemas.openxmlformats.org/drawingml/2006/main">
            <a:srgbClr val="113F30"/>
          </a:solidFill>
          <a:ln xmlns:a="http://schemas.openxmlformats.org/drawingml/2006/main" w="0">
            <a:solidFill>
              <a:srgbClr val="113F30"/>
            </a:solidFill>
            <a:prstDash val="solid"/>
          </a:ln>
        </p:spPr>
      </p:sp>
      <p:sp>
        <p:nvSpPr>
          <p:cNvPr id="8" name="guided-step-name-1">
            <a:extLst xmlns:a="http://schemas.openxmlformats.org/drawingml/2006/main">
              <a:ext uri="{FF2B5EF4-FFF2-40B4-BE49-F238E27FC236}">
                <a16:creationId xmlns:a16="http://schemas.microsoft.com/office/drawing/2014/main" id="{1C3FB212-413D-40E1-9BB2-72DB4E7ADAFC}"/>
              </a:ext>
            </a:extLst>
          </p:cNvPr>
          <p:cNvSpPr>
            <a:spLocks xmlns:a="http://schemas.openxmlformats.org/drawingml/2006/main" noGrp="1"/>
          </p:cNvSpPr>
          <p:nvPr/>
        </p:nvSpPr>
        <p:spPr>
          <a:xfrm xmlns:a="http://schemas.openxmlformats.org/drawingml/2006/main">
            <a:off x="895350" y="32194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E7AD31"/>
                </a:solidFill>
              </a:defRPr>
            </a:pPr>
            <a:r>
              <a:rPr sz="1650" b="1">
                <a:solidFill>
                  <a:srgbClr val="E7AD31"/>
                </a:solidFill>
              </a:rPr>
              <a:t>READ</a:t>
            </a:r>
          </a:p>
        </p:txBody>
      </p:sp>
      <p:sp>
        <p:nvSpPr>
          <p:cNvPr id="9" name="guided-step-body-1">
            <a:extLst xmlns:a="http://schemas.openxmlformats.org/drawingml/2006/main">
              <a:ext uri="{FF2B5EF4-FFF2-40B4-BE49-F238E27FC236}">
                <a16:creationId xmlns:a16="http://schemas.microsoft.com/office/drawing/2014/main" id="{6E51FAF4-A998-4E33-97CC-223F45879356}"/>
              </a:ext>
            </a:extLst>
          </p:cNvPr>
          <p:cNvSpPr>
            <a:spLocks xmlns:a="http://schemas.openxmlformats.org/drawingml/2006/main" noGrp="1"/>
          </p:cNvSpPr>
          <p:nvPr/>
        </p:nvSpPr>
        <p:spPr>
          <a:xfrm xmlns:a="http://schemas.openxmlformats.org/drawingml/2006/main">
            <a:off x="895350" y="3676650"/>
            <a:ext cx="20955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identify the planned state, actual state and difference.</a:t>
            </a:r>
          </a:p>
        </p:txBody>
      </p:sp>
      <p:sp>
        <p:nvSpPr>
          <p:cNvPr id="10" name="guided-step-2">
            <a:extLst xmlns:a="http://schemas.openxmlformats.org/drawingml/2006/main">
              <a:ext uri="{FF2B5EF4-FFF2-40B4-BE49-F238E27FC236}">
                <a16:creationId xmlns:a16="http://schemas.microsoft.com/office/drawing/2014/main" id="{241A4078-20B1-412C-A88A-650918A08DCB}"/>
              </a:ext>
            </a:extLst>
          </p:cNvPr>
          <p:cNvSpPr>
            <a:spLocks xmlns:a="http://schemas.openxmlformats.org/drawingml/2006/main" noGrp="1"/>
          </p:cNvSpPr>
          <p:nvPr/>
        </p:nvSpPr>
        <p:spPr>
          <a:xfrm xmlns:a="http://schemas.openxmlformats.org/drawingml/2006/main">
            <a:off x="3429000" y="2990850"/>
            <a:ext cx="2514600" cy="2095500"/>
          </a:xfrm>
          <a:prstGeom xmlns:a="http://schemas.openxmlformats.org/drawingml/2006/main" prst="roundRect">
            <a:avLst>
              <a:gd name="adj" fmla="val 8182"/>
            </a:avLst>
          </a:prstGeom>
          <a:solidFill xmlns:a="http://schemas.openxmlformats.org/drawingml/2006/main">
            <a:srgbClr val="176046"/>
          </a:solidFill>
          <a:ln xmlns:a="http://schemas.openxmlformats.org/drawingml/2006/main" w="0">
            <a:solidFill>
              <a:srgbClr val="176046"/>
            </a:solidFill>
            <a:prstDash val="solid"/>
          </a:ln>
        </p:spPr>
      </p:sp>
      <p:sp>
        <p:nvSpPr>
          <p:cNvPr id="11" name="guided-step-name-2">
            <a:extLst xmlns:a="http://schemas.openxmlformats.org/drawingml/2006/main">
              <a:ext uri="{FF2B5EF4-FFF2-40B4-BE49-F238E27FC236}">
                <a16:creationId xmlns:a16="http://schemas.microsoft.com/office/drawing/2014/main" id="{64A5E309-D597-449F-844B-30CBA564A79D}"/>
              </a:ext>
            </a:extLst>
          </p:cNvPr>
          <p:cNvSpPr>
            <a:spLocks xmlns:a="http://schemas.openxmlformats.org/drawingml/2006/main" noGrp="1"/>
          </p:cNvSpPr>
          <p:nvPr/>
        </p:nvSpPr>
        <p:spPr>
          <a:xfrm xmlns:a="http://schemas.openxmlformats.org/drawingml/2006/main">
            <a:off x="3638550" y="32194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E7AD31"/>
                </a:solidFill>
              </a:defRPr>
            </a:pPr>
            <a:r>
              <a:rPr sz="1650" b="1">
                <a:solidFill>
                  <a:srgbClr val="E7AD31"/>
                </a:solidFill>
              </a:rPr>
              <a:t>SELECT</a:t>
            </a:r>
          </a:p>
        </p:txBody>
      </p:sp>
      <p:sp>
        <p:nvSpPr>
          <p:cNvPr id="12" name="guided-step-body-2">
            <a:extLst xmlns:a="http://schemas.openxmlformats.org/drawingml/2006/main">
              <a:ext uri="{FF2B5EF4-FFF2-40B4-BE49-F238E27FC236}">
                <a16:creationId xmlns:a16="http://schemas.microsoft.com/office/drawing/2014/main" id="{BF91F7D5-9F8E-403C-901C-D094EC66B06E}"/>
              </a:ext>
            </a:extLst>
          </p:cNvPr>
          <p:cNvSpPr>
            <a:spLocks xmlns:a="http://schemas.openxmlformats.org/drawingml/2006/main" noGrp="1"/>
          </p:cNvSpPr>
          <p:nvPr/>
        </p:nvSpPr>
        <p:spPr>
          <a:xfrm xmlns:a="http://schemas.openxmlformats.org/drawingml/2006/main">
            <a:off x="3638550" y="3676650"/>
            <a:ext cx="20955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choose the quality criterion and evidence that matter.</a:t>
            </a:r>
          </a:p>
        </p:txBody>
      </p:sp>
      <p:sp>
        <p:nvSpPr>
          <p:cNvPr id="13" name="guided-step-3">
            <a:extLst xmlns:a="http://schemas.openxmlformats.org/drawingml/2006/main">
              <a:ext uri="{FF2B5EF4-FFF2-40B4-BE49-F238E27FC236}">
                <a16:creationId xmlns:a16="http://schemas.microsoft.com/office/drawing/2014/main" id="{A57D2FCC-18D5-4545-8F3F-44AAE7421F72}"/>
              </a:ext>
            </a:extLst>
          </p:cNvPr>
          <p:cNvSpPr>
            <a:spLocks xmlns:a="http://schemas.openxmlformats.org/drawingml/2006/main" noGrp="1"/>
          </p:cNvSpPr>
          <p:nvPr/>
        </p:nvSpPr>
        <p:spPr>
          <a:xfrm xmlns:a="http://schemas.openxmlformats.org/drawingml/2006/main">
            <a:off x="6172200" y="2990850"/>
            <a:ext cx="2514600" cy="2095500"/>
          </a:xfrm>
          <a:prstGeom xmlns:a="http://schemas.openxmlformats.org/drawingml/2006/main" prst="roundRect">
            <a:avLst>
              <a:gd name="adj" fmla="val 8182"/>
            </a:avLst>
          </a:prstGeom>
          <a:solidFill xmlns:a="http://schemas.openxmlformats.org/drawingml/2006/main">
            <a:srgbClr val="113F30"/>
          </a:solidFill>
          <a:ln xmlns:a="http://schemas.openxmlformats.org/drawingml/2006/main" w="0">
            <a:solidFill>
              <a:srgbClr val="113F30"/>
            </a:solidFill>
            <a:prstDash val="solid"/>
          </a:ln>
        </p:spPr>
      </p:sp>
      <p:sp>
        <p:nvSpPr>
          <p:cNvPr id="14" name="guided-step-name-3">
            <a:extLst xmlns:a="http://schemas.openxmlformats.org/drawingml/2006/main">
              <a:ext uri="{FF2B5EF4-FFF2-40B4-BE49-F238E27FC236}">
                <a16:creationId xmlns:a16="http://schemas.microsoft.com/office/drawing/2014/main" id="{CBB61E1D-23F4-4C1E-987D-8B084E01DD6F}"/>
              </a:ext>
            </a:extLst>
          </p:cNvPr>
          <p:cNvSpPr>
            <a:spLocks xmlns:a="http://schemas.openxmlformats.org/drawingml/2006/main" noGrp="1"/>
          </p:cNvSpPr>
          <p:nvPr/>
        </p:nvSpPr>
        <p:spPr>
          <a:xfrm xmlns:a="http://schemas.openxmlformats.org/drawingml/2006/main">
            <a:off x="6381750" y="32194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E7AD31"/>
                </a:solidFill>
              </a:defRPr>
            </a:pPr>
            <a:r>
              <a:rPr sz="1650" b="1">
                <a:solidFill>
                  <a:srgbClr val="E7AD31"/>
                </a:solidFill>
              </a:rPr>
              <a:t>EXPLAIN</a:t>
            </a:r>
          </a:p>
        </p:txBody>
      </p:sp>
      <p:sp>
        <p:nvSpPr>
          <p:cNvPr id="15" name="guided-step-body-3">
            <a:extLst xmlns:a="http://schemas.openxmlformats.org/drawingml/2006/main">
              <a:ext uri="{FF2B5EF4-FFF2-40B4-BE49-F238E27FC236}">
                <a16:creationId xmlns:a16="http://schemas.microsoft.com/office/drawing/2014/main" id="{537C5931-B992-49B7-99EB-3E9BCCE23789}"/>
              </a:ext>
            </a:extLst>
          </p:cNvPr>
          <p:cNvSpPr>
            <a:spLocks xmlns:a="http://schemas.openxmlformats.org/drawingml/2006/main" noGrp="1"/>
          </p:cNvSpPr>
          <p:nvPr/>
        </p:nvSpPr>
        <p:spPr>
          <a:xfrm xmlns:a="http://schemas.openxmlformats.org/drawingml/2006/main">
            <a:off x="6381750" y="3676650"/>
            <a:ext cx="20955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connect the difference to resources, safety or quality.</a:t>
            </a:r>
          </a:p>
        </p:txBody>
      </p:sp>
      <p:sp>
        <p:nvSpPr>
          <p:cNvPr id="16" name="guided-step-4">
            <a:extLst xmlns:a="http://schemas.openxmlformats.org/drawingml/2006/main">
              <a:ext uri="{FF2B5EF4-FFF2-40B4-BE49-F238E27FC236}">
                <a16:creationId xmlns:a16="http://schemas.microsoft.com/office/drawing/2014/main" id="{2D2DE4BE-56EB-4DD1-B5B4-BB8B8A82E309}"/>
              </a:ext>
            </a:extLst>
          </p:cNvPr>
          <p:cNvSpPr>
            <a:spLocks xmlns:a="http://schemas.openxmlformats.org/drawingml/2006/main" noGrp="1"/>
          </p:cNvSpPr>
          <p:nvPr/>
        </p:nvSpPr>
        <p:spPr>
          <a:xfrm xmlns:a="http://schemas.openxmlformats.org/drawingml/2006/main">
            <a:off x="8915400" y="2990850"/>
            <a:ext cx="2514600" cy="2095500"/>
          </a:xfrm>
          <a:prstGeom xmlns:a="http://schemas.openxmlformats.org/drawingml/2006/main" prst="roundRect">
            <a:avLst>
              <a:gd name="adj" fmla="val 8182"/>
            </a:avLst>
          </a:prstGeom>
          <a:solidFill xmlns:a="http://schemas.openxmlformats.org/drawingml/2006/main">
            <a:srgbClr val="176046"/>
          </a:solidFill>
          <a:ln xmlns:a="http://schemas.openxmlformats.org/drawingml/2006/main" w="0">
            <a:solidFill>
              <a:srgbClr val="176046"/>
            </a:solidFill>
            <a:prstDash val="solid"/>
          </a:ln>
        </p:spPr>
      </p:sp>
      <p:sp>
        <p:nvSpPr>
          <p:cNvPr id="17" name="guided-step-name-4">
            <a:extLst xmlns:a="http://schemas.openxmlformats.org/drawingml/2006/main">
              <a:ext uri="{FF2B5EF4-FFF2-40B4-BE49-F238E27FC236}">
                <a16:creationId xmlns:a16="http://schemas.microsoft.com/office/drawing/2014/main" id="{D0C10F08-E3E3-4714-8CD1-84B8268E6E2B}"/>
              </a:ext>
            </a:extLst>
          </p:cNvPr>
          <p:cNvSpPr>
            <a:spLocks xmlns:a="http://schemas.openxmlformats.org/drawingml/2006/main" noGrp="1"/>
          </p:cNvSpPr>
          <p:nvPr/>
        </p:nvSpPr>
        <p:spPr>
          <a:xfrm xmlns:a="http://schemas.openxmlformats.org/drawingml/2006/main">
            <a:off x="9124950" y="32194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E7AD31"/>
                </a:solidFill>
              </a:defRPr>
            </a:pPr>
            <a:r>
              <a:rPr sz="1650" b="1">
                <a:solidFill>
                  <a:srgbClr val="E7AD31"/>
                </a:solidFill>
              </a:rPr>
              <a:t>CHECK</a:t>
            </a:r>
          </a:p>
        </p:txBody>
      </p:sp>
      <p:sp>
        <p:nvSpPr>
          <p:cNvPr id="18" name="guided-step-body-4">
            <a:extLst xmlns:a="http://schemas.openxmlformats.org/drawingml/2006/main">
              <a:ext uri="{FF2B5EF4-FFF2-40B4-BE49-F238E27FC236}">
                <a16:creationId xmlns:a16="http://schemas.microsoft.com/office/drawing/2014/main" id="{28907A06-F8AA-4E0B-AA74-AF84BFC1C58A}"/>
              </a:ext>
            </a:extLst>
          </p:cNvPr>
          <p:cNvSpPr>
            <a:spLocks xmlns:a="http://schemas.openxmlformats.org/drawingml/2006/main" noGrp="1"/>
          </p:cNvSpPr>
          <p:nvPr/>
        </p:nvSpPr>
        <p:spPr>
          <a:xfrm xmlns:a="http://schemas.openxmlformats.org/drawingml/2006/main">
            <a:off x="9124950" y="3676650"/>
            <a:ext cx="20955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name the hold point and wait for the authorised next action.</a:t>
            </a:r>
          </a:p>
        </p:txBody>
      </p:sp>
      <p:sp>
        <p:nvSpPr>
          <p:cNvPr id="19" name="guided-sentence">
            <a:extLst xmlns:a="http://schemas.openxmlformats.org/drawingml/2006/main">
              <a:ext uri="{FF2B5EF4-FFF2-40B4-BE49-F238E27FC236}">
                <a16:creationId xmlns:a16="http://schemas.microsoft.com/office/drawing/2014/main" id="{1DCBF68B-2EED-45E5-818D-77922C4F1FAC}"/>
              </a:ext>
            </a:extLst>
          </p:cNvPr>
          <p:cNvSpPr>
            <a:spLocks xmlns:a="http://schemas.openxmlformats.org/drawingml/2006/main" noGrp="1"/>
          </p:cNvSpPr>
          <p:nvPr/>
        </p:nvSpPr>
        <p:spPr>
          <a:xfrm xmlns:a="http://schemas.openxmlformats.org/drawingml/2006/main">
            <a:off x="685800" y="539115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B84932"/>
                </a:solidFill>
              </a:defRPr>
            </a:pPr>
            <a:r>
              <a:rPr sz="1500" b="1">
                <a:solidFill>
                  <a:srgbClr val="B84932"/>
                </a:solidFill>
              </a:rPr>
              <a:t>Sentence support: The strongest evidence is ___ because ___. This means ___. Before practical work, ___ still needs teacher confirmation.</a:t>
            </a:r>
          </a:p>
        </p:txBody>
      </p:sp>
      <p:sp>
        <p:nvSpPr>
          <p:cNvPr id="20" name="footer-rule-7">
            <a:extLst xmlns:a="http://schemas.openxmlformats.org/drawingml/2006/main">
              <a:ext uri="{FF2B5EF4-FFF2-40B4-BE49-F238E27FC236}">
                <a16:creationId xmlns:a16="http://schemas.microsoft.com/office/drawing/2014/main" id="{D1EF8D3A-9CB6-4B97-9954-DBE4B70309A4}"/>
              </a:ext>
            </a:extLst>
          </p:cNvPr>
          <p:cNvSpPr>
            <a:spLocks xmlns:a="http://schemas.openxmlformats.org/drawingml/2006/main" noGrp="1"/>
          </p:cNvSpPr>
          <p:nvPr/>
        </p:nvSpPr>
        <p:spPr>
          <a:xfrm xmlns:a="http://schemas.openxmlformats.org/drawingml/2006/main">
            <a:off x="685800" y="6486525"/>
            <a:ext cx="10820400" cy="19050"/>
          </a:xfrm>
          <a:prstGeom xmlns:a="http://schemas.openxmlformats.org/drawingml/2006/main" prst="rect">
            <a:avLst/>
          </a:prstGeom>
          <a:solidFill xmlns:a="http://schemas.openxmlformats.org/drawingml/2006/main">
            <a:srgbClr val="C8D8CF"/>
          </a:solidFill>
          <a:ln xmlns:a="http://schemas.openxmlformats.org/drawingml/2006/main" w="0">
            <a:solidFill>
              <a:srgbClr val="C8D8CF"/>
            </a:solidFill>
            <a:prstDash val="solid"/>
          </a:ln>
        </p:spPr>
      </p:sp>
      <p:sp>
        <p:nvSpPr>
          <p:cNvPr id="21" name="footer-label-7">
            <a:extLst xmlns:a="http://schemas.openxmlformats.org/drawingml/2006/main">
              <a:ext uri="{FF2B5EF4-FFF2-40B4-BE49-F238E27FC236}">
                <a16:creationId xmlns:a16="http://schemas.microsoft.com/office/drawing/2014/main" id="{690F0699-D23F-4753-9F02-E262BF1AFB13}"/>
              </a:ext>
            </a:extLst>
          </p:cNvPr>
          <p:cNvSpPr>
            <a:spLocks xmlns:a="http://schemas.openxmlformats.org/drawingml/2006/main" noGrp="1"/>
          </p:cNvSpPr>
          <p:nvPr/>
        </p:nvSpPr>
        <p:spPr>
          <a:xfrm xmlns:a="http://schemas.openxmlformats.org/drawingml/2006/main">
            <a:off x="685800" y="6562725"/>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4645D"/>
                </a:solidFill>
              </a:defRPr>
            </a:pPr>
            <a:r>
              <a:rPr sz="900" b="1">
                <a:solidFill>
                  <a:srgbClr val="54645D"/>
                </a:solidFill>
              </a:rPr>
              <a:t>SWINGING SIGN  •  MODULE 4</a:t>
            </a:r>
          </a:p>
        </p:txBody>
      </p:sp>
      <p:sp>
        <p:nvSpPr>
          <p:cNvPr id="22" name="footer-page-7">
            <a:extLst xmlns:a="http://schemas.openxmlformats.org/drawingml/2006/main">
              <a:ext uri="{FF2B5EF4-FFF2-40B4-BE49-F238E27FC236}">
                <a16:creationId xmlns:a16="http://schemas.microsoft.com/office/drawing/2014/main" id="{836B4F21-AAF5-4E9A-8647-8C32559BBD59}"/>
              </a:ext>
            </a:extLst>
          </p:cNvPr>
          <p:cNvSpPr>
            <a:spLocks xmlns:a="http://schemas.openxmlformats.org/drawingml/2006/main" noGrp="1"/>
          </p:cNvSpPr>
          <p:nvPr/>
        </p:nvSpPr>
        <p:spPr>
          <a:xfrm xmlns:a="http://schemas.openxmlformats.org/drawingml/2006/main">
            <a:off x="10763250" y="6562725"/>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4645D"/>
                </a:solidFill>
              </a:defRPr>
            </a:pPr>
            <a:r>
              <a:rPr sz="900" b="1">
                <a:solidFill>
                  <a:srgbClr val="54645D"/>
                </a:solidFill>
              </a:rPr>
              <a:t>7 / 8</a:t>
            </a:r>
          </a:p>
        </p:txBody>
      </p:sp>
    </p:spTree>
    <p:extLst>
      <p:ext uri="{BB962C8B-B14F-4D97-AF65-F5344CB8AC3E}">
        <p14:creationId xmlns:p14="http://schemas.microsoft.com/office/powerpoint/2010/main" val="1384915108"/>
      </p:ext>
    </p:extLst>
  </p:cSld>
</p:sld>
</file>

<file path=ppt/slides/slide8.xml><?xml version="1.0" encoding="utf-8"?>
<p:sld xmlns:p="http://schemas.openxmlformats.org/presentationml/2006/main">
  <p:cSld>
    <p:bg>
      <p:bgPr>
        <a:solidFill xmlns:a="http://schemas.openxmlformats.org/drawingml/2006/main">
          <a:srgbClr val="B84932"/>
        </a:solidFill>
      </p:bgPr>
    </p:bg>
    <p:spTree>
      <p:nvGrpSpPr>
        <p:cNvPr id="1" name=""/>
        <p:cNvGrpSpPr/>
        <p:nvPr/>
      </p:nvGrpSpPr>
      <p:grpSpPr>
        <a:xfrm xmlns:a="http://schemas.openxmlformats.org/drawingml/2006/main"/>
      </p:grpSpPr>
      <p:sp>
        <p:nvSpPr>
          <p:cNvPr id="18" name="exit-accent">
            <a:extLst xmlns:a="http://schemas.openxmlformats.org/drawingml/2006/main">
              <a:ext uri="{FF2B5EF4-FFF2-40B4-BE49-F238E27FC236}">
                <a16:creationId xmlns:a16="http://schemas.microsoft.com/office/drawing/2014/main" id="{E937FEEB-96DA-4E23-B8D5-82C7F2F88037}"/>
              </a:ext>
            </a:extLst>
          </p:cNvPr>
          <p:cNvSpPr>
            <a:spLocks xmlns:a="http://schemas.openxmlformats.org/drawingml/2006/main" noGrp="1"/>
          </p:cNvSpPr>
          <p:nvPr/>
        </p:nvSpPr>
        <p:spPr>
          <a:xfrm xmlns:a="http://schemas.openxmlformats.org/drawingml/2006/main">
            <a:off x="685800" y="533400"/>
            <a:ext cx="800100" cy="76200"/>
          </a:xfrm>
          <a:prstGeom xmlns:a="http://schemas.openxmlformats.org/drawingml/2006/main" prst="rect">
            <a:avLst/>
          </a:prstGeom>
          <a:solidFill xmlns:a="http://schemas.openxmlformats.org/drawingml/2006/main">
            <a:srgbClr val="E7AD31"/>
          </a:solidFill>
          <a:ln xmlns:a="http://schemas.openxmlformats.org/drawingml/2006/main" w="0">
            <a:solidFill>
              <a:srgbClr val="E7AD31"/>
            </a:solidFill>
            <a:prstDash val="solid"/>
          </a:ln>
        </p:spPr>
      </p:sp>
      <p:sp>
        <p:nvSpPr>
          <p:cNvPr id="2" name="exit-kicker">
            <a:extLst xmlns:a="http://schemas.openxmlformats.org/drawingml/2006/main">
              <a:ext uri="{FF2B5EF4-FFF2-40B4-BE49-F238E27FC236}">
                <a16:creationId xmlns:a16="http://schemas.microsoft.com/office/drawing/2014/main" id="{936126B5-D7EE-4AEA-B21E-2C32F371F2C1}"/>
              </a:ext>
            </a:extLst>
          </p:cNvPr>
          <p:cNvSpPr>
            <a:spLocks xmlns:a="http://schemas.openxmlformats.org/drawingml/2006/main" noGrp="1"/>
          </p:cNvSpPr>
          <p:nvPr/>
        </p:nvSpPr>
        <p:spPr>
          <a:xfrm xmlns:a="http://schemas.openxmlformats.org/drawingml/2006/main">
            <a:off x="685800" y="828675"/>
            <a:ext cx="523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FFE6D9"/>
                </a:solidFill>
              </a:defRPr>
            </a:pPr>
            <a:r>
              <a:rPr sz="1125" b="1">
                <a:solidFill>
                  <a:srgbClr val="FFE6D9"/>
                </a:solidFill>
              </a:rPr>
              <a:t>MODULE 4  •  EXIT EVIDENCE</a:t>
            </a:r>
          </a:p>
        </p:txBody>
      </p:sp>
      <p:sp>
        <p:nvSpPr>
          <p:cNvPr id="3" name="exit-title">
            <a:extLst xmlns:a="http://schemas.openxmlformats.org/drawingml/2006/main">
              <a:ext uri="{FF2B5EF4-FFF2-40B4-BE49-F238E27FC236}">
                <a16:creationId xmlns:a16="http://schemas.microsoft.com/office/drawing/2014/main" id="{F3AA08F7-4BF3-403D-8491-5E5520AAA0C0}"/>
              </a:ext>
            </a:extLst>
          </p:cNvPr>
          <p:cNvSpPr>
            <a:spLocks xmlns:a="http://schemas.openxmlformats.org/drawingml/2006/main" noGrp="1"/>
          </p:cNvSpPr>
          <p:nvPr/>
        </p:nvSpPr>
        <p:spPr>
          <a:xfrm xmlns:a="http://schemas.openxmlformats.org/drawingml/2006/main">
            <a:off x="685800" y="1219200"/>
            <a:ext cx="714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you pack up…</a:t>
            </a:r>
          </a:p>
        </p:txBody>
      </p:sp>
      <p:sp>
        <p:nvSpPr>
          <p:cNvPr id="4" name="exit-row-1">
            <a:extLst xmlns:a="http://schemas.openxmlformats.org/drawingml/2006/main">
              <a:ext uri="{FF2B5EF4-FFF2-40B4-BE49-F238E27FC236}">
                <a16:creationId xmlns:a16="http://schemas.microsoft.com/office/drawing/2014/main" id="{58A4EEEB-B93E-4809-9EB5-2B60AB545F62}"/>
              </a:ext>
            </a:extLst>
          </p:cNvPr>
          <p:cNvSpPr>
            <a:spLocks xmlns:a="http://schemas.openxmlformats.org/drawingml/2006/main" noGrp="1"/>
          </p:cNvSpPr>
          <p:nvPr/>
        </p:nvSpPr>
        <p:spPr>
          <a:xfrm xmlns:a="http://schemas.openxmlformats.org/drawingml/2006/main">
            <a:off x="685800" y="2190750"/>
            <a:ext cx="8096250" cy="66675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0">
            <a:solidFill>
              <a:srgbClr val="FFFFFF"/>
            </a:solidFill>
            <a:prstDash val="solid"/>
          </a:ln>
        </p:spPr>
      </p:sp>
      <p:sp>
        <p:nvSpPr>
          <p:cNvPr id="5" name="exit-number-1">
            <a:extLst xmlns:a="http://schemas.openxmlformats.org/drawingml/2006/main">
              <a:ext uri="{FF2B5EF4-FFF2-40B4-BE49-F238E27FC236}">
                <a16:creationId xmlns:a16="http://schemas.microsoft.com/office/drawing/2014/main" id="{ED56DC13-E208-44BB-B5CD-12C6603BE81B}"/>
              </a:ext>
            </a:extLst>
          </p:cNvPr>
          <p:cNvSpPr>
            <a:spLocks xmlns:a="http://schemas.openxmlformats.org/drawingml/2006/main" noGrp="1"/>
          </p:cNvSpPr>
          <p:nvPr/>
        </p:nvSpPr>
        <p:spPr>
          <a:xfrm xmlns:a="http://schemas.openxmlformats.org/drawingml/2006/main">
            <a:off x="895350" y="234315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B84932"/>
                </a:solidFill>
              </a:defRPr>
            </a:pPr>
            <a:r>
              <a:rPr sz="1725" b="1">
                <a:solidFill>
                  <a:srgbClr val="B84932"/>
                </a:solidFill>
              </a:rPr>
              <a:t>1</a:t>
            </a:r>
          </a:p>
        </p:txBody>
      </p:sp>
      <p:sp>
        <p:nvSpPr>
          <p:cNvPr id="6" name="exit-prompt-1">
            <a:extLst xmlns:a="http://schemas.openxmlformats.org/drawingml/2006/main">
              <a:ext uri="{FF2B5EF4-FFF2-40B4-BE49-F238E27FC236}">
                <a16:creationId xmlns:a16="http://schemas.microsoft.com/office/drawing/2014/main" id="{A93DDEF1-34CB-440B-837E-DEC10EF2EB04}"/>
              </a:ext>
            </a:extLst>
          </p:cNvPr>
          <p:cNvSpPr>
            <a:spLocks xmlns:a="http://schemas.openxmlformats.org/drawingml/2006/main" noGrp="1"/>
          </p:cNvSpPr>
          <p:nvPr/>
        </p:nvSpPr>
        <p:spPr>
          <a:xfrm xmlns:a="http://schemas.openxmlformats.org/drawingml/2006/main">
            <a:off x="1466850" y="2333625"/>
            <a:ext cx="6991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13F30"/>
                </a:solidFill>
              </a:defRPr>
            </a:pPr>
            <a:r>
              <a:rPr sz="1725" b="1">
                <a:solidFill>
                  <a:srgbClr val="113F30"/>
                </a:solidFill>
              </a:rPr>
              <a:t>One idea I can now explain is…</a:t>
            </a:r>
          </a:p>
        </p:txBody>
      </p:sp>
      <p:sp>
        <p:nvSpPr>
          <p:cNvPr id="7" name="exit-row-2">
            <a:extLst xmlns:a="http://schemas.openxmlformats.org/drawingml/2006/main">
              <a:ext uri="{FF2B5EF4-FFF2-40B4-BE49-F238E27FC236}">
                <a16:creationId xmlns:a16="http://schemas.microsoft.com/office/drawing/2014/main" id="{B0248AAA-1843-4C4D-93FD-3A3675B6EEC2}"/>
              </a:ext>
            </a:extLst>
          </p:cNvPr>
          <p:cNvSpPr>
            <a:spLocks xmlns:a="http://schemas.openxmlformats.org/drawingml/2006/main" noGrp="1"/>
          </p:cNvSpPr>
          <p:nvPr/>
        </p:nvSpPr>
        <p:spPr>
          <a:xfrm xmlns:a="http://schemas.openxmlformats.org/drawingml/2006/main">
            <a:off x="685800" y="3086100"/>
            <a:ext cx="8096250" cy="66675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0">
            <a:solidFill>
              <a:srgbClr val="FFFFFF"/>
            </a:solidFill>
            <a:prstDash val="solid"/>
          </a:ln>
        </p:spPr>
      </p:sp>
      <p:sp>
        <p:nvSpPr>
          <p:cNvPr id="8" name="exit-number-2">
            <a:extLst xmlns:a="http://schemas.openxmlformats.org/drawingml/2006/main">
              <a:ext uri="{FF2B5EF4-FFF2-40B4-BE49-F238E27FC236}">
                <a16:creationId xmlns:a16="http://schemas.microsoft.com/office/drawing/2014/main" id="{417768BF-6337-4C45-A5A1-54D8C9F3DFEA}"/>
              </a:ext>
            </a:extLst>
          </p:cNvPr>
          <p:cNvSpPr>
            <a:spLocks xmlns:a="http://schemas.openxmlformats.org/drawingml/2006/main" noGrp="1"/>
          </p:cNvSpPr>
          <p:nvPr/>
        </p:nvSpPr>
        <p:spPr>
          <a:xfrm xmlns:a="http://schemas.openxmlformats.org/drawingml/2006/main">
            <a:off x="895350" y="323850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B84932"/>
                </a:solidFill>
              </a:defRPr>
            </a:pPr>
            <a:r>
              <a:rPr sz="1725" b="1">
                <a:solidFill>
                  <a:srgbClr val="B84932"/>
                </a:solidFill>
              </a:rPr>
              <a:t>2</a:t>
            </a:r>
          </a:p>
        </p:txBody>
      </p:sp>
      <p:sp>
        <p:nvSpPr>
          <p:cNvPr id="9" name="exit-prompt-2">
            <a:extLst xmlns:a="http://schemas.openxmlformats.org/drawingml/2006/main">
              <a:ext uri="{FF2B5EF4-FFF2-40B4-BE49-F238E27FC236}">
                <a16:creationId xmlns:a16="http://schemas.microsoft.com/office/drawing/2014/main" id="{288EEFF2-EE45-4A1A-8DB0-DEA823979FE7}"/>
              </a:ext>
            </a:extLst>
          </p:cNvPr>
          <p:cNvSpPr>
            <a:spLocks xmlns:a="http://schemas.openxmlformats.org/drawingml/2006/main" noGrp="1"/>
          </p:cNvSpPr>
          <p:nvPr/>
        </p:nvSpPr>
        <p:spPr>
          <a:xfrm xmlns:a="http://schemas.openxmlformats.org/drawingml/2006/main">
            <a:off x="1466850" y="3228975"/>
            <a:ext cx="6991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13F30"/>
                </a:solidFill>
              </a:defRPr>
            </a:pPr>
            <a:r>
              <a:rPr sz="1725" b="1">
                <a:solidFill>
                  <a:srgbClr val="113F30"/>
                </a:solidFill>
              </a:rPr>
              <a:t>One design or production decision this changes is…</a:t>
            </a:r>
          </a:p>
        </p:txBody>
      </p:sp>
      <p:sp>
        <p:nvSpPr>
          <p:cNvPr id="10" name="exit-row-3">
            <a:extLst xmlns:a="http://schemas.openxmlformats.org/drawingml/2006/main">
              <a:ext uri="{FF2B5EF4-FFF2-40B4-BE49-F238E27FC236}">
                <a16:creationId xmlns:a16="http://schemas.microsoft.com/office/drawing/2014/main" id="{E93EE816-534A-4154-9FCF-4C8524EC6958}"/>
              </a:ext>
            </a:extLst>
          </p:cNvPr>
          <p:cNvSpPr>
            <a:spLocks xmlns:a="http://schemas.openxmlformats.org/drawingml/2006/main" noGrp="1"/>
          </p:cNvSpPr>
          <p:nvPr/>
        </p:nvSpPr>
        <p:spPr>
          <a:xfrm xmlns:a="http://schemas.openxmlformats.org/drawingml/2006/main">
            <a:off x="685800" y="3981450"/>
            <a:ext cx="8096250" cy="66675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0">
            <a:solidFill>
              <a:srgbClr val="FFFFFF"/>
            </a:solidFill>
            <a:prstDash val="solid"/>
          </a:ln>
        </p:spPr>
      </p:sp>
      <p:sp>
        <p:nvSpPr>
          <p:cNvPr id="11" name="exit-number-3">
            <a:extLst xmlns:a="http://schemas.openxmlformats.org/drawingml/2006/main">
              <a:ext uri="{FF2B5EF4-FFF2-40B4-BE49-F238E27FC236}">
                <a16:creationId xmlns:a16="http://schemas.microsoft.com/office/drawing/2014/main" id="{B0B26241-46C7-4358-B15C-CBEF0A1EBC27}"/>
              </a:ext>
            </a:extLst>
          </p:cNvPr>
          <p:cNvSpPr>
            <a:spLocks xmlns:a="http://schemas.openxmlformats.org/drawingml/2006/main" noGrp="1"/>
          </p:cNvSpPr>
          <p:nvPr/>
        </p:nvSpPr>
        <p:spPr>
          <a:xfrm xmlns:a="http://schemas.openxmlformats.org/drawingml/2006/main">
            <a:off x="895350" y="413385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B84932"/>
                </a:solidFill>
              </a:defRPr>
            </a:pPr>
            <a:r>
              <a:rPr sz="1725" b="1">
                <a:solidFill>
                  <a:srgbClr val="B84932"/>
                </a:solidFill>
              </a:rPr>
              <a:t>3</a:t>
            </a:r>
          </a:p>
        </p:txBody>
      </p:sp>
      <p:sp>
        <p:nvSpPr>
          <p:cNvPr id="12" name="exit-prompt-3">
            <a:extLst xmlns:a="http://schemas.openxmlformats.org/drawingml/2006/main">
              <a:ext uri="{FF2B5EF4-FFF2-40B4-BE49-F238E27FC236}">
                <a16:creationId xmlns:a16="http://schemas.microsoft.com/office/drawing/2014/main" id="{4C1C26E5-941E-4AA3-A536-2DF7FC71E358}"/>
              </a:ext>
            </a:extLst>
          </p:cNvPr>
          <p:cNvSpPr>
            <a:spLocks xmlns:a="http://schemas.openxmlformats.org/drawingml/2006/main" noGrp="1"/>
          </p:cNvSpPr>
          <p:nvPr/>
        </p:nvSpPr>
        <p:spPr>
          <a:xfrm xmlns:a="http://schemas.openxmlformats.org/drawingml/2006/main">
            <a:off x="1466850" y="4124325"/>
            <a:ext cx="6991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13F30"/>
                </a:solidFill>
              </a:defRPr>
            </a:pPr>
            <a:r>
              <a:rPr sz="1725" b="1">
                <a:solidFill>
                  <a:srgbClr val="113F30"/>
                </a:solidFill>
              </a:rPr>
              <a:t>One question I still need answered is…</a:t>
            </a:r>
          </a:p>
        </p:txBody>
      </p:sp>
      <p:sp>
        <p:nvSpPr>
          <p:cNvPr id="13" name="exit-evidence-circle">
            <a:extLst xmlns:a="http://schemas.openxmlformats.org/drawingml/2006/main">
              <a:ext uri="{FF2B5EF4-FFF2-40B4-BE49-F238E27FC236}">
                <a16:creationId xmlns:a16="http://schemas.microsoft.com/office/drawing/2014/main" id="{335EBE5E-315C-49C8-B37A-BDB923EFEFD3}"/>
              </a:ext>
            </a:extLst>
          </p:cNvPr>
          <p:cNvSpPr>
            <a:spLocks xmlns:a="http://schemas.openxmlformats.org/drawingml/2006/main" noGrp="1"/>
          </p:cNvSpPr>
          <p:nvPr/>
        </p:nvSpPr>
        <p:spPr>
          <a:xfrm xmlns:a="http://schemas.openxmlformats.org/drawingml/2006/main">
            <a:off x="9525000" y="2476500"/>
            <a:ext cx="1600200" cy="1600200"/>
          </a:xfrm>
          <a:prstGeom xmlns:a="http://schemas.openxmlformats.org/drawingml/2006/main" prst="roundRect">
            <a:avLst>
              <a:gd name="adj" fmla="val 50000"/>
            </a:avLst>
          </a:prstGeom>
          <a:solidFill xmlns:a="http://schemas.openxmlformats.org/drawingml/2006/main">
            <a:srgbClr val="E7AD31"/>
          </a:solidFill>
          <a:ln xmlns:a="http://schemas.openxmlformats.org/drawingml/2006/main" w="0">
            <a:solidFill>
              <a:srgbClr val="E7AD31"/>
            </a:solidFill>
            <a:prstDash val="solid"/>
          </a:ln>
        </p:spPr>
      </p:sp>
      <p:sp>
        <p:nvSpPr>
          <p:cNvPr id="14" name="exit-evidence-label">
            <a:extLst xmlns:a="http://schemas.openxmlformats.org/drawingml/2006/main">
              <a:ext uri="{FF2B5EF4-FFF2-40B4-BE49-F238E27FC236}">
                <a16:creationId xmlns:a16="http://schemas.microsoft.com/office/drawing/2014/main" id="{F8B1EF12-6C63-48D9-9CE3-67303C81B6A1}"/>
              </a:ext>
            </a:extLst>
          </p:cNvPr>
          <p:cNvSpPr>
            <a:spLocks xmlns:a="http://schemas.openxmlformats.org/drawingml/2006/main" noGrp="1"/>
          </p:cNvSpPr>
          <p:nvPr/>
        </p:nvSpPr>
        <p:spPr>
          <a:xfrm xmlns:a="http://schemas.openxmlformats.org/drawingml/2006/main">
            <a:off x="9744075" y="2819400"/>
            <a:ext cx="11620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113F30"/>
                </a:solidFill>
              </a:defRPr>
            </a:pPr>
            <a:r>
              <a:rPr sz="1725" b="1">
                <a:solidFill>
                  <a:srgbClr val="113F30"/>
                </a:solidFill>
              </a:rPr>
              <a:t>SAVE</a:t>
            </a:r>
          </a:p>
          <a:p xmlns:a="http://schemas.openxmlformats.org/drawingml/2006/main">
            <a:pPr algn="ctr">
              <a:defRPr sz="1725" b="1">
                <a:solidFill>
                  <a:srgbClr val="113F30"/>
                </a:solidFill>
              </a:defRPr>
            </a:pPr>
            <a:r>
              <a:rPr sz="1725" b="1">
                <a:solidFill>
                  <a:srgbClr val="113F30"/>
                </a:solidFill>
              </a:rPr>
              <a:t>YOUR</a:t>
            </a:r>
          </a:p>
          <a:p xmlns:a="http://schemas.openxmlformats.org/drawingml/2006/main">
            <a:pPr algn="ctr">
              <a:defRPr sz="1725" b="1">
                <a:solidFill>
                  <a:srgbClr val="113F30"/>
                </a:solidFill>
              </a:defRPr>
            </a:pPr>
            <a:r>
              <a:rPr sz="1725" b="1">
                <a:solidFill>
                  <a:srgbClr val="113F30"/>
                </a:solidFill>
              </a:rPr>
              <a:t>EVIDENCE</a:t>
            </a:r>
          </a:p>
        </p:txBody>
      </p:sp>
      <p:sp>
        <p:nvSpPr>
          <p:cNvPr id="15" name="exit-folio">
            <a:extLst xmlns:a="http://schemas.openxmlformats.org/drawingml/2006/main">
              <a:ext uri="{FF2B5EF4-FFF2-40B4-BE49-F238E27FC236}">
                <a16:creationId xmlns:a16="http://schemas.microsoft.com/office/drawing/2014/main" id="{DDD142B5-4818-4881-B705-1CABF95B0EFF}"/>
              </a:ext>
            </a:extLst>
          </p:cNvPr>
          <p:cNvSpPr>
            <a:spLocks xmlns:a="http://schemas.openxmlformats.org/drawingml/2006/main" noGrp="1"/>
          </p:cNvSpPr>
          <p:nvPr/>
        </p:nvSpPr>
        <p:spPr>
          <a:xfrm xmlns:a="http://schemas.openxmlformats.org/drawingml/2006/main">
            <a:off x="685800" y="5210175"/>
            <a:ext cx="809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FFFFF"/>
                </a:solidFill>
              </a:defRPr>
            </a:pPr>
            <a:r>
              <a:rPr sz="1575" b="1">
                <a:solidFill>
                  <a:srgbClr val="FFFFFF"/>
                </a:solidFill>
              </a:rPr>
              <a:t>My folio cards 8–9: Process record; Quality evidence.</a:t>
            </a:r>
          </a:p>
        </p:txBody>
      </p:sp>
      <p:sp>
        <p:nvSpPr>
          <p:cNvPr id="16" name="exit-next">
            <a:extLst xmlns:a="http://schemas.openxmlformats.org/drawingml/2006/main">
              <a:ext uri="{FF2B5EF4-FFF2-40B4-BE49-F238E27FC236}">
                <a16:creationId xmlns:a16="http://schemas.microsoft.com/office/drawing/2014/main" id="{10A1F2E4-6601-4325-B66B-3A8F27FB81B5}"/>
              </a:ext>
            </a:extLst>
          </p:cNvPr>
          <p:cNvSpPr>
            <a:spLocks xmlns:a="http://schemas.openxmlformats.org/drawingml/2006/main" noGrp="1"/>
          </p:cNvSpPr>
          <p:nvPr/>
        </p:nvSpPr>
        <p:spPr>
          <a:xfrm xmlns:a="http://schemas.openxmlformats.org/drawingml/2006/main">
            <a:off x="685800" y="5810250"/>
            <a:ext cx="1043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FFE6D9"/>
                </a:solidFill>
              </a:defRPr>
            </a:pPr>
            <a:r>
              <a:rPr sz="1425" b="0">
                <a:solidFill>
                  <a:srgbClr val="FFE6D9"/>
                </a:solidFill>
              </a:rPr>
              <a:t>Next: finish, test and evaluate the product as one evidence-backed system.</a:t>
            </a:r>
          </a:p>
        </p:txBody>
      </p:sp>
      <p:sp>
        <p:nvSpPr>
          <p:cNvPr id="17" name="exit-page">
            <a:extLst xmlns:a="http://schemas.openxmlformats.org/drawingml/2006/main">
              <a:ext uri="{FF2B5EF4-FFF2-40B4-BE49-F238E27FC236}">
                <a16:creationId xmlns:a16="http://schemas.microsoft.com/office/drawing/2014/main" id="{24364FCC-63DC-418C-8DC3-7C847BEBF1E1}"/>
              </a:ext>
            </a:extLst>
          </p:cNvPr>
          <p:cNvSpPr>
            <a:spLocks xmlns:a="http://schemas.openxmlformats.org/drawingml/2006/main" noGrp="1"/>
          </p:cNvSpPr>
          <p:nvPr/>
        </p:nvSpPr>
        <p:spPr>
          <a:xfrm xmlns:a="http://schemas.openxmlformats.org/drawingml/2006/main">
            <a:off x="10744200" y="6419850"/>
            <a:ext cx="76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FFE6D9"/>
                </a:solidFill>
              </a:defRPr>
            </a:pPr>
            <a:r>
              <a:rPr sz="900" b="1">
                <a:solidFill>
                  <a:srgbClr val="FFE6D9"/>
                </a:solidFill>
              </a:rPr>
              <a:t>8 / 8</a:t>
            </a:r>
          </a:p>
        </p:txBody>
      </p:sp>
    </p:spTree>
    <p:extLst>
      <p:ext uri="{BB962C8B-B14F-4D97-AF65-F5344CB8AC3E}">
        <p14:creationId xmlns:p14="http://schemas.microsoft.com/office/powerpoint/2010/main" val="16682549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2026-08-31T09:42:45.9290000Z</dcterms:created>
  <dcterms:modified xsi:type="dcterms:W3CDTF">2026-08-31T09:42:45.9290000Z</dcterms:modified>
</coreProperties>
</file>