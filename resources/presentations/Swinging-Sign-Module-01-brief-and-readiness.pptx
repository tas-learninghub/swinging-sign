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71731c0b4d4124" /><Relationship Type="http://schemas.openxmlformats.org/officeDocument/2006/relationships/extended-properties" Target="/docProps/app.xml" Id="R943c628b14f1493a" /><Relationship Type="http://schemas.openxmlformats.org/officeDocument/2006/relationships/officeDocument" Target="/ppt/presentation.xml" Id="Rcd97836ef8144f29" /></Relationships>
</file>

<file path=ppt/presentation.xml><?xml version="1.0" encoding="utf-8"?>
<p:presentation xmlns:p="http://schemas.openxmlformats.org/presentationml/2006/main">
  <p:sldMasterIdLst>
    <p:sldMasterId xmlns:r="http://schemas.openxmlformats.org/officeDocument/2006/relationships" id="2147483648" r:id="R4172974b3cfc458a"/>
  </p:sldMasterIdLst>
  <p:notesMasterIdLst>
    <p:notesMasterId xmlns:r="http://schemas.openxmlformats.org/officeDocument/2006/relationships" r:id="R2a501e1bc0064100"/>
  </p:notesMasterIdLst>
  <p:sldIdLst>
    <p:sldId xmlns:r="http://schemas.openxmlformats.org/officeDocument/2006/relationships" id="256" r:id="Rbfec3dd2bc8f4c8c"/>
    <p:sldId xmlns:r="http://schemas.openxmlformats.org/officeDocument/2006/relationships" id="257" r:id="R559c7b5998c64bd1"/>
    <p:sldId xmlns:r="http://schemas.openxmlformats.org/officeDocument/2006/relationships" id="258" r:id="R7b647a1690904514"/>
    <p:sldId xmlns:r="http://schemas.openxmlformats.org/officeDocument/2006/relationships" id="259" r:id="Re5811c1b159b4dfb"/>
    <p:sldId xmlns:r="http://schemas.openxmlformats.org/officeDocument/2006/relationships" id="260" r:id="R4935d14da5284bf9"/>
    <p:sldId xmlns:r="http://schemas.openxmlformats.org/officeDocument/2006/relationships" id="261" r:id="Rabe33ca775e84ead"/>
    <p:sldId xmlns:r="http://schemas.openxmlformats.org/officeDocument/2006/relationships" id="262" r:id="Reaf0f889e72e4528"/>
    <p:sldId xmlns:r="http://schemas.openxmlformats.org/officeDocument/2006/relationships" id="263" r:id="R043785d851304e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07ebab6bb144fa" /><Relationship Type="http://schemas.openxmlformats.org/officeDocument/2006/relationships/slideMaster" Target="/ppt/slideMasters/slideMaster1.xml" Id="R4172974b3cfc458a" /><Relationship Type="http://schemas.openxmlformats.org/officeDocument/2006/relationships/notesMaster" Target="/ppt/notesMasters/notesMaster1.xml" Id="R2a501e1bc0064100" /><Relationship Type="http://schemas.openxmlformats.org/officeDocument/2006/relationships/presProps" Target="/ppt/presProps.xml" Id="Rc20795646f624097" /><Relationship Type="http://schemas.openxmlformats.org/officeDocument/2006/relationships/tableStyles" Target="/ppt/tableStyles.xml" Id="R9b5a15bd4b1d4cb2" /><Relationship Type="http://schemas.openxmlformats.org/officeDocument/2006/relationships/slide" Target="/ppt/slides/slide1.xml" Id="Rbfec3dd2bc8f4c8c" /><Relationship Type="http://schemas.openxmlformats.org/officeDocument/2006/relationships/slide" Target="/ppt/slides/slide2.xml" Id="R559c7b5998c64bd1" /><Relationship Type="http://schemas.openxmlformats.org/officeDocument/2006/relationships/slide" Target="/ppt/slides/slide3.xml" Id="R7b647a1690904514" /><Relationship Type="http://schemas.openxmlformats.org/officeDocument/2006/relationships/slide" Target="/ppt/slides/slide4.xml" Id="Re5811c1b159b4dfb" /><Relationship Type="http://schemas.openxmlformats.org/officeDocument/2006/relationships/slide" Target="/ppt/slides/slide5.xml" Id="R4935d14da5284bf9" /><Relationship Type="http://schemas.openxmlformats.org/officeDocument/2006/relationships/slide" Target="/ppt/slides/slide6.xml" Id="Rabe33ca775e84ead" /><Relationship Type="http://schemas.openxmlformats.org/officeDocument/2006/relationships/slide" Target="/ppt/slides/slide7.xml" Id="Reaf0f889e72e4528" /><Relationship Type="http://schemas.openxmlformats.org/officeDocument/2006/relationships/slide" Target="/ppt/slides/slide8.xml" Id="R043785d851304e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1ec7b8760f45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15e3adc3f94b19" /><Relationship Type="http://schemas.openxmlformats.org/officeDocument/2006/relationships/notesMaster" Target="/ppt/notesMasters/notesMaster1.xml" Id="R5785582823574a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98fe5adf024356" /><Relationship Type="http://schemas.openxmlformats.org/officeDocument/2006/relationships/notesMaster" Target="/ppt/notesMasters/notesMaster1.xml" Id="Re6e5cce1b96d49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575b8cf7884990" /><Relationship Type="http://schemas.openxmlformats.org/officeDocument/2006/relationships/notesMaster" Target="/ppt/notesMasters/notesMaster1.xml" Id="Rc313a081347e48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edc51970434b17" /><Relationship Type="http://schemas.openxmlformats.org/officeDocument/2006/relationships/notesMaster" Target="/ppt/notesMasters/notesMaster1.xml" Id="R101c8b0a550b44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11341d23b840ad" /><Relationship Type="http://schemas.openxmlformats.org/officeDocument/2006/relationships/notesMaster" Target="/ppt/notesMasters/notesMaster1.xml" Id="Ra3d5eac710274b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9fba589f5b4aba" /><Relationship Type="http://schemas.openxmlformats.org/officeDocument/2006/relationships/notesMaster" Target="/ppt/notesMasters/notesMaster1.xml" Id="R9847ceab54114b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ea6e62485f4743" /><Relationship Type="http://schemas.openxmlformats.org/officeDocument/2006/relationships/notesMaster" Target="/ppt/notesMasters/notesMaster1.xml" Id="Rd0a776d4b67f49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94fa1ed81f47ed" /><Relationship Type="http://schemas.openxmlformats.org/officeDocument/2006/relationships/notesMaster" Target="/ppt/notesMasters/notesMaster1.xml" Id="R1b7db39a1fd74b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establish why Module 1 matters and connect it to the student's approved project pathway.</a:t>
            </a:r>
          </a:p>
          <a:p xmlns:a="http://schemas.openxmlformats.org/drawingml/2006/main">
            <a:r>
              <a:t>Say: Read the product need, frame a workable brief and decide when you are ready to proceed.</a:t>
            </a:r>
          </a:p>
          <a:p xmlns:a="http://schemas.openxmlformats.org/drawingml/2006/main">
            <a:r>
              <a:t>Prompt: Which word in the outcome names the decision students will make or explain?</a:t>
            </a:r>
          </a:p>
          <a:p xmlns:a="http://schemas.openxmlformats.org/drawingml/2006/main">
            <a:r>
              <a:t>Transition: The next slide maps the three ideas that build that decision.</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outputs/swinging-sign-course-site/assets/teaching/module-01-overview.png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preview the three named sections as one connected learning progression.</a:t>
            </a:r>
          </a:p>
          <a:p xmlns:a="http://schemas.openxmlformats.org/drawingml/2006/main">
            <a:r>
              <a:t>Warm-up prompt: What can a project photograph prove — and what must still be confirmed?</a:t>
            </a:r>
          </a:p>
          <a:p xmlns:a="http://schemas.openxmlformats.org/drawingml/2006/main">
            <a:r>
              <a:t>Invite a silent answer first, then take two contrasting responses. Do not resolve every detail yet.</a:t>
            </a:r>
          </a:p>
          <a:p xmlns:a="http://schemas.openxmlformats.org/drawingml/2006/main">
            <a:r>
              <a:t>Transition: Move from the route map into the first idea and ask students to listen for evidence they can reuse later.</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read the product and user as part of the module's connected decision-making sequence.</a:t>
            </a:r>
          </a:p>
          <a:p xmlns:a="http://schemas.openxmlformats.org/drawingml/2006/main">
            <a:r>
              <a:t>Key explanation: Purpose is the job. The user includes owners, viewers and anyone affected by the product. Context changes what matters: distance, setting, movement, moisture and competing visual information. A photograph can show form and relationships, but not exact materials, dimensions, joints, loads or processes.</a:t>
            </a:r>
          </a:p>
          <a:p xmlns:a="http://schemas.openxmlformats.org/drawingml/2006/main">
            <a:r>
              <a:t>Prompt to the room: Name two visible features, explain one likely user effect, then write one practical question to confirm.</a:t>
            </a:r>
          </a:p>
          <a:p xmlns:a="http://schemas.openxmlformats.org/drawingml/2006/main">
            <a:r>
              <a:t>Likely misconception: A reference photograph is not a working drawing or construction plan.</a:t>
            </a:r>
          </a:p>
          <a:p xmlns:a="http://schemas.openxmlformats.org/drawingml/2006/main">
            <a:r>
              <a:t>Transition: Ask students to keep one precise term or relationship for the retrieval slide.</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outputs/swinging-sign-course-site/assets/teaching/m01s01-read-product-user.png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criteria, constraints and project pathways as part of the module's connected decision-making sequence.</a:t>
            </a:r>
          </a:p>
          <a:p xmlns:a="http://schemas.openxmlformats.org/drawingml/2006/main">
            <a:r>
              <a:t>Key explanation: A brief names the need, intended user and context without pretending the solution is already fixed. Criteria are testable signs of success. Constraints are confirmed limits such as time, resources or approved processes. The Swinging Sign is primary. Your teacher may nominate the LED tea-light holder or pot-plant holder as alternate or additional work.</a:t>
            </a:r>
          </a:p>
          <a:p xmlns:a="http://schemas.openxmlformats.org/drawingml/2006/main">
            <a:r>
              <a:t>Prompt to the room: Write one testable criterion and one confirmed constraint for your teacher-nominated pathway.</a:t>
            </a:r>
          </a:p>
          <a:p xmlns:a="http://schemas.openxmlformats.org/drawingml/2006/main">
            <a:r>
              <a:t>Likely misconception: Constraints focus creativity; they do not remove it.</a:t>
            </a:r>
          </a:p>
          <a:p xmlns:a="http://schemas.openxmlformats.org/drawingml/2006/main">
            <a:r>
              <a:t>Transition: Ask students to keep one precise term or relationship for the retrieval slide.</a:t>
            </a:r>
          </a:p>
          <a:p xmlns:a="http://schemas.openxmlformats.org/drawingml/2006/main">
            <a:r>
              <a:t/>
            </a:r>
          </a:p>
          <a:p xmlns:a="http://schemas.openxmlformats.org/drawingml/2006/main">
            <a:r>
              <a:t>Local procedure boundary: Project choice, exact specifications and whether an alternate is required or additional remain teacher-controlled.</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outputs/swinging-sign-course-site/assets/teaching/m01s02-project-pathways.png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workshop readiness and sustainability as part of the module's connected decision-making sequence.</a:t>
            </a:r>
          </a:p>
          <a:p xmlns:a="http://schemas.openxmlformats.org/drawingml/2006/main">
            <a:r>
              <a:t>Key explanation: A hazard can cause harm; risk depends on the situation, people, environment and current controls. Pause when instructions, conditions or permission are unclear. Familiarity is not authorisation. Sustainability considers sourcing, material use, waste, durability, maintenance and end of life — not recyclability alone.</a:t>
            </a:r>
          </a:p>
          <a:p xmlns:a="http://schemas.openxmlformats.org/drawingml/2006/main">
            <a:r>
              <a:t>Prompt to the room: Explain how pausing for confirmation can improve safety, quality and sustainability together.</a:t>
            </a:r>
          </a:p>
          <a:p xmlns:a="http://schemas.openxmlformats.org/drawingml/2006/main">
            <a:r>
              <a:t>Likely misconception: Recyclability is only one life-cycle consideration.</a:t>
            </a:r>
          </a:p>
          <a:p xmlns:a="http://schemas.openxmlformats.org/drawingml/2006/main">
            <a:r>
              <a:t>Transition: Ask students to keep one precise term or relationship for the retrieval slide.</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outputs/swinging-sign-course-site/assets/teaching/m01s03-workshop-readiness.png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retrieve all three taught ideas before students construct a longer response.</a:t>
            </a:r>
          </a:p>
          <a:p xmlns:a="http://schemas.openxmlformats.org/drawingml/2006/main">
            <a:r>
              <a:t>Routine: 45 seconds silent thinking, one partner explanation, then sample reasoning from the room.</a:t>
            </a:r>
          </a:p>
          <a:p xmlns:a="http://schemas.openxmlformats.org/drawingml/2006/main">
            <a:r>
              <a:t>Question 1: What separates an observation from an inference?</a:t>
            </a:r>
          </a:p>
          <a:p xmlns:a="http://schemas.openxmlformats.org/drawingml/2006/main">
            <a:r>
              <a:t>Question 2: How is a criterion different from a constraint?</a:t>
            </a:r>
          </a:p>
          <a:p xmlns:a="http://schemas.openxmlformats.org/drawingml/2006/main">
            <a:r>
              <a:t>Question 3: When should a learner pause and ask?</a:t>
            </a:r>
          </a:p>
          <a:p xmlns:a="http://schemas.openxmlformats.org/drawingml/2006/main">
            <a:r>
              <a:t>Question 4: Why is recyclability alone not proof of sustainability?</a:t>
            </a:r>
          </a:p>
          <a:p xmlns:a="http://schemas.openxmlformats.org/drawingml/2006/main">
            <a:r>
              <a:t>Listen for unsupported practical claims. Redirect students to evidence and Teacher to confirm where needed.</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scaffold a higher-order response that joins evidence from all three module sections.</a:t>
            </a:r>
          </a:p>
          <a:p xmlns:a="http://schemas.openxmlformats.org/drawingml/2006/main">
            <a:r>
              <a:t>Read the question aloud: Analyse one project photograph. Explain how visible features respond to purpose, user and context; then identify a criterion, a constraint and one fact needing confirmation.</a:t>
            </a:r>
          </a:p>
          <a:p xmlns:a="http://schemas.openxmlformats.org/drawingml/2006/main">
            <a:r>
              <a:t>Scaffold: Read: underline the purpose, user and context. Select: choose two visible features and one relevant criterion. Explain: connect each feature to a likely user effect. Check: label one constraint and one unknown without guessing.</a:t>
            </a:r>
          </a:p>
          <a:p xmlns:a="http://schemas.openxmlformats.org/drawingml/2006/main">
            <a:r>
              <a:t>Model only the first connection, then release students to complete their own explanation.</a:t>
            </a:r>
          </a:p>
          <a:p xmlns:a="http://schemas.openxmlformats.org/drawingml/2006/main">
            <a:r>
              <a:t>Success check: accurate concepts, explicit evidence, a justified decision and honest treatment of unconfirmed local facts.</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convert the lesson into immediate, retrievable evidence and make the next step explicit.</a:t>
            </a:r>
          </a:p>
          <a:p xmlns:a="http://schemas.openxmlformats.org/drawingml/2006/main">
            <a:r>
              <a:t>Give students quiet time to complete all three prompts before sharing.</a:t>
            </a:r>
          </a:p>
          <a:p xmlns:a="http://schemas.openxmlformats.org/drawingml/2006/main">
            <a:r>
              <a:t>Evidence destination: My folio cards 1–3: Design brief and context; Product research; Criteria and constraints.</a:t>
            </a:r>
          </a:p>
          <a:p xmlns:a="http://schemas.openxmlformats.org/drawingml/2006/main">
            <a:r>
              <a:t>Next step: Next: communicate the chosen direction with clean, reviewable Onshape design evidence.</a:t>
            </a:r>
          </a:p>
          <a:p xmlns:a="http://schemas.openxmlformats.org/drawingml/2006/main">
            <a:r>
              <a:t>Saving to the browser or exporting a folio is not formal submission. Follow the teacher's current submission direction.</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217f8b40f845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196a6e9bbf4495" /><Relationship Type="http://schemas.openxmlformats.org/officeDocument/2006/relationships/slideLayout" Target="/ppt/slideLayouts/slideLayout1.xml" Id="R2d7efc0c89954d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7efc0c89954d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2cea9863454a14" /><Relationship Type="http://schemas.openxmlformats.org/officeDocument/2006/relationships/image" Target="/ppt/media/image.png" Id="R394c099bf3ec4fbe" /><Relationship Type="http://schemas.openxmlformats.org/officeDocument/2006/relationships/notesSlide" Target="/ppt/notesSlides/notesSlide1.xml" Id="Rc9da1fcd7c364e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9b9e4535db4143" /><Relationship Type="http://schemas.openxmlformats.org/officeDocument/2006/relationships/notesSlide" Target="/ppt/notesSlides/notesSlide2.xml" Id="R2b1f65b074d942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abd24ca3754569" /><Relationship Type="http://schemas.openxmlformats.org/officeDocument/2006/relationships/image" Target="/ppt/media/image2.png" Id="R33d748b63349402c" /><Relationship Type="http://schemas.openxmlformats.org/officeDocument/2006/relationships/notesSlide" Target="/ppt/notesSlides/notesSlide3.xml" Id="R83a685f9850d43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398b33447d4a1f" /><Relationship Type="http://schemas.openxmlformats.org/officeDocument/2006/relationships/image" Target="/ppt/media/image3.png" Id="R873546314baa4d38" /><Relationship Type="http://schemas.openxmlformats.org/officeDocument/2006/relationships/notesSlide" Target="/ppt/notesSlides/notesSlide4.xml" Id="Rcc6c13f0621840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e69c23991f4b10" /><Relationship Type="http://schemas.openxmlformats.org/officeDocument/2006/relationships/image" Target="/ppt/media/image4.png" Id="R7f171e2bc5b24492" /><Relationship Type="http://schemas.openxmlformats.org/officeDocument/2006/relationships/notesSlide" Target="/ppt/notesSlides/notesSlide5.xml" Id="Rf253343d8be840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02c3f52b0f413d" /><Relationship Type="http://schemas.openxmlformats.org/officeDocument/2006/relationships/notesSlide" Target="/ppt/notesSlides/notesSlide6.xml" Id="Rc2084f8196f441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54beac7c37437f" /><Relationship Type="http://schemas.openxmlformats.org/officeDocument/2006/relationships/notesSlide" Target="/ppt/notesSlides/notesSlide7.xml" Id="Rc0a2bc35e36f43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b827f4648be45f6" /><Relationship Type="http://schemas.openxmlformats.org/officeDocument/2006/relationships/notesSlide" Target="/ppt/notesSlides/notesSlide8.xml" Id="Re4ad20ca60714c49" /></Relationships>
</file>

<file path=ppt/slides/slide1.xml><?xml version="1.0" encoding="utf-8"?>
<p:sld xmlns:p="http://schemas.openxmlformats.org/presentationml/2006/main">
  <p:cSld>
    <p:bg>
      <p:bgPr>
        <a:solidFill xmlns:a="http://schemas.openxmlformats.org/drawingml/2006/main">
          <a:srgbClr val="113F30"/>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94c099bf3ec4fbe"/>
          <a:srcRect xmlns:a="http://schemas.openxmlformats.org/drawingml/2006/main" l="23345" t="0" r="23345" b="0"/>
          <a:stretch xmlns:a="http://schemas.openxmlformats.org/drawingml/2006/main">
            <a:fillRect l="0" t="0" r="0" b="0"/>
          </a:stretch>
        </p:blipFill>
        <p:spPr>
          <a:xfrm xmlns:a="http://schemas.openxmlformats.org/drawingml/2006/main">
            <a:off x="5695950" y="0"/>
            <a:ext cx="6496050" cy="6858000"/>
          </a:xfrm>
          <a:prstGeom xmlns:a="http://schemas.openxmlformats.org/drawingml/2006/main" prst="roundRect">
            <a:avLst>
              <a:gd name="adj" fmla="val 2639"/>
            </a:avLst>
          </a:prstGeom>
        </p:spPr>
      </p:pic>
      <p:sp>
        <p:nvSpPr>
          <p:cNvPr id="2" name="title-accent">
            <a:extLst xmlns:a="http://schemas.openxmlformats.org/drawingml/2006/main">
              <a:ext uri="{FF2B5EF4-FFF2-40B4-BE49-F238E27FC236}">
                <a16:creationId xmlns:a16="http://schemas.microsoft.com/office/drawing/2014/main" id="{4F7825EB-6F31-491F-8ACF-2225E0BCF389}"/>
              </a:ext>
            </a:extLst>
          </p:cNvPr>
          <p:cNvSpPr>
            <a:spLocks xmlns:a="http://schemas.openxmlformats.org/drawingml/2006/main" noGrp="1"/>
          </p:cNvSpPr>
          <p:nvPr/>
        </p:nvSpPr>
        <p:spPr>
          <a:xfrm xmlns:a="http://schemas.openxmlformats.org/drawingml/2006/main">
            <a:off x="685800" y="723900"/>
            <a:ext cx="800100" cy="76200"/>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3" name="title-kicker">
            <a:extLst xmlns:a="http://schemas.openxmlformats.org/drawingml/2006/main">
              <a:ext uri="{FF2B5EF4-FFF2-40B4-BE49-F238E27FC236}">
                <a16:creationId xmlns:a16="http://schemas.microsoft.com/office/drawing/2014/main" id="{D96C3DFF-5C53-4067-95B8-2CFE01459EFA}"/>
              </a:ext>
            </a:extLst>
          </p:cNvPr>
          <p:cNvSpPr>
            <a:spLocks xmlns:a="http://schemas.openxmlformats.org/drawingml/2006/main" noGrp="1"/>
          </p:cNvSpPr>
          <p:nvPr/>
        </p:nvSpPr>
        <p:spPr>
          <a:xfrm xmlns:a="http://schemas.openxmlformats.org/drawingml/2006/main">
            <a:off x="685800" y="10287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5E7DE"/>
                </a:solidFill>
              </a:defRPr>
            </a:pPr>
            <a:r>
              <a:rPr sz="1200" b="1">
                <a:solidFill>
                  <a:srgbClr val="D5E7DE"/>
                </a:solidFill>
              </a:rPr>
              <a:t>MODULE 1  •  STAGE 4 TECHNOLOGY</a:t>
            </a:r>
          </a:p>
        </p:txBody>
      </p:sp>
      <p:sp>
        <p:nvSpPr>
          <p:cNvPr id="4" name="deck-title">
            <a:extLst xmlns:a="http://schemas.openxmlformats.org/drawingml/2006/main">
              <a:ext uri="{FF2B5EF4-FFF2-40B4-BE49-F238E27FC236}">
                <a16:creationId xmlns:a16="http://schemas.microsoft.com/office/drawing/2014/main" id="{45C6DC86-AA77-4565-B78A-595799087822}"/>
              </a:ext>
            </a:extLst>
          </p:cNvPr>
          <p:cNvSpPr>
            <a:spLocks xmlns:a="http://schemas.openxmlformats.org/drawingml/2006/main" noGrp="1"/>
          </p:cNvSpPr>
          <p:nvPr/>
        </p:nvSpPr>
        <p:spPr>
          <a:xfrm xmlns:a="http://schemas.openxmlformats.org/drawingml/2006/main">
            <a:off x="685800" y="2000250"/>
            <a:ext cx="44767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FFFFFF"/>
                </a:solidFill>
              </a:defRPr>
            </a:pPr>
            <a:r>
              <a:rPr sz="3900" b="1">
                <a:solidFill>
                  <a:srgbClr val="FFFFFF"/>
                </a:solidFill>
              </a:rPr>
              <a:t>Brief and readiness</a:t>
            </a:r>
          </a:p>
        </p:txBody>
      </p:sp>
      <p:sp>
        <p:nvSpPr>
          <p:cNvPr id="5" name="deck-outcome">
            <a:extLst xmlns:a="http://schemas.openxmlformats.org/drawingml/2006/main">
              <a:ext uri="{FF2B5EF4-FFF2-40B4-BE49-F238E27FC236}">
                <a16:creationId xmlns:a16="http://schemas.microsoft.com/office/drawing/2014/main" id="{BA7BB05E-8A23-45BD-9C7B-B83A68FB4EEC}"/>
              </a:ext>
            </a:extLst>
          </p:cNvPr>
          <p:cNvSpPr>
            <a:spLocks xmlns:a="http://schemas.openxmlformats.org/drawingml/2006/main" noGrp="1"/>
          </p:cNvSpPr>
          <p:nvPr/>
        </p:nvSpPr>
        <p:spPr>
          <a:xfrm xmlns:a="http://schemas.openxmlformats.org/drawingml/2006/main">
            <a:off x="685800" y="3943350"/>
            <a:ext cx="41719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E8F3ED"/>
                </a:solidFill>
              </a:defRPr>
            </a:pPr>
            <a:r>
              <a:rPr sz="1725" b="0">
                <a:solidFill>
                  <a:srgbClr val="E8F3ED"/>
                </a:solidFill>
              </a:rPr>
              <a:t>Read the product need, frame a workable brief and decide when you are ready to proceed.</a:t>
            </a:r>
          </a:p>
        </p:txBody>
      </p:sp>
      <p:sp>
        <p:nvSpPr>
          <p:cNvPr id="6" name="title-course">
            <a:extLst xmlns:a="http://schemas.openxmlformats.org/drawingml/2006/main">
              <a:ext uri="{FF2B5EF4-FFF2-40B4-BE49-F238E27FC236}">
                <a16:creationId xmlns:a16="http://schemas.microsoft.com/office/drawing/2014/main" id="{BB7B3E14-C1F2-4B89-9904-8922E471AF86}"/>
              </a:ext>
            </a:extLst>
          </p:cNvPr>
          <p:cNvSpPr>
            <a:spLocks xmlns:a="http://schemas.openxmlformats.org/drawingml/2006/main" noGrp="1"/>
          </p:cNvSpPr>
          <p:nvPr/>
        </p:nvSpPr>
        <p:spPr>
          <a:xfrm xmlns:a="http://schemas.openxmlformats.org/drawingml/2006/main">
            <a:off x="685800" y="60960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FD6CA"/>
                </a:solidFill>
              </a:defRPr>
            </a:pPr>
            <a:r>
              <a:rPr sz="1050" b="1">
                <a:solidFill>
                  <a:srgbClr val="BFD6CA"/>
                </a:solidFill>
              </a:rPr>
              <a:t>Swinging Sign  •  Materials and production processes</a:t>
            </a:r>
          </a:p>
        </p:txBody>
      </p:sp>
    </p:spTree>
    <p:extLst>
      <p:ext uri="{BB962C8B-B14F-4D97-AF65-F5344CB8AC3E}">
        <p14:creationId xmlns:p14="http://schemas.microsoft.com/office/powerpoint/2010/main" val="1956639725"/>
      </p:ext>
    </p:extLst>
  </p:cSld>
</p:sld>
</file>

<file path=ppt/slides/slide2.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9" name="accent-2">
            <a:extLst xmlns:a="http://schemas.openxmlformats.org/drawingml/2006/main">
              <a:ext uri="{FF2B5EF4-FFF2-40B4-BE49-F238E27FC236}">
                <a16:creationId xmlns:a16="http://schemas.microsoft.com/office/drawing/2014/main" id="{098EA6DB-E883-4CD2-9E5E-1FEBE476D1C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2">
            <a:extLst xmlns:a="http://schemas.openxmlformats.org/drawingml/2006/main">
              <a:ext uri="{FF2B5EF4-FFF2-40B4-BE49-F238E27FC236}">
                <a16:creationId xmlns:a16="http://schemas.microsoft.com/office/drawing/2014/main" id="{12D5A077-BA3F-47FA-B55E-28AA1E91EBD9}"/>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1  •  BRIEF AND READINESS</a:t>
            </a:r>
          </a:p>
        </p:txBody>
      </p:sp>
      <p:sp>
        <p:nvSpPr>
          <p:cNvPr id="3" name="slide-title-2">
            <a:extLst xmlns:a="http://schemas.openxmlformats.org/drawingml/2006/main">
              <a:ext uri="{FF2B5EF4-FFF2-40B4-BE49-F238E27FC236}">
                <a16:creationId xmlns:a16="http://schemas.microsoft.com/office/drawing/2014/main" id="{E5E4CE72-B5B5-4EC1-930A-294B919E9EE2}"/>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Three ideas turn a photograph into a responsible design direction</a:t>
            </a:r>
          </a:p>
        </p:txBody>
      </p:sp>
      <p:sp>
        <p:nvSpPr>
          <p:cNvPr id="4" name="map-number-1">
            <a:extLst xmlns:a="http://schemas.openxmlformats.org/drawingml/2006/main">
              <a:ext uri="{FF2B5EF4-FFF2-40B4-BE49-F238E27FC236}">
                <a16:creationId xmlns:a16="http://schemas.microsoft.com/office/drawing/2014/main" id="{E601BB4F-CF29-4303-9C3E-FAF22D21C66E}"/>
              </a:ext>
            </a:extLst>
          </p:cNvPr>
          <p:cNvSpPr>
            <a:spLocks xmlns:a="http://schemas.openxmlformats.org/drawingml/2006/main" noGrp="1"/>
          </p:cNvSpPr>
          <p:nvPr/>
        </p:nvSpPr>
        <p:spPr>
          <a:xfrm xmlns:a="http://schemas.openxmlformats.org/drawingml/2006/main">
            <a:off x="819150" y="1676400"/>
            <a:ext cx="68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E7AD31"/>
                </a:solidFill>
              </a:defRPr>
            </a:pPr>
            <a:r>
              <a:rPr sz="3900" b="1">
                <a:solidFill>
                  <a:srgbClr val="E7AD31"/>
                </a:solidFill>
              </a:rPr>
              <a:t>1</a:t>
            </a:r>
          </a:p>
        </p:txBody>
      </p:sp>
      <p:sp>
        <p:nvSpPr>
          <p:cNvPr id="5" name="map-title-1">
            <a:extLst xmlns:a="http://schemas.openxmlformats.org/drawingml/2006/main">
              <a:ext uri="{FF2B5EF4-FFF2-40B4-BE49-F238E27FC236}">
                <a16:creationId xmlns:a16="http://schemas.microsoft.com/office/drawing/2014/main" id="{32DC7AB0-4D60-4A02-AEE7-5803FABD4CC4}"/>
              </a:ext>
            </a:extLst>
          </p:cNvPr>
          <p:cNvSpPr>
            <a:spLocks xmlns:a="http://schemas.openxmlformats.org/drawingml/2006/main" noGrp="1"/>
          </p:cNvSpPr>
          <p:nvPr/>
        </p:nvSpPr>
        <p:spPr>
          <a:xfrm xmlns:a="http://schemas.openxmlformats.org/drawingml/2006/main">
            <a:off x="1543050" y="1695450"/>
            <a:ext cx="2524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3F30"/>
                </a:solidFill>
              </a:defRPr>
            </a:pPr>
            <a:r>
              <a:rPr sz="1875" b="1">
                <a:solidFill>
                  <a:srgbClr val="113F30"/>
                </a:solidFill>
              </a:rPr>
              <a:t>Read the product and user</a:t>
            </a:r>
          </a:p>
        </p:txBody>
      </p:sp>
      <p:sp>
        <p:nvSpPr>
          <p:cNvPr id="6" name="map-action-1">
            <a:extLst xmlns:a="http://schemas.openxmlformats.org/drawingml/2006/main">
              <a:ext uri="{FF2B5EF4-FFF2-40B4-BE49-F238E27FC236}">
                <a16:creationId xmlns:a16="http://schemas.microsoft.com/office/drawing/2014/main" id="{10210032-EC37-4838-B2FB-C0FA035AF3E0}"/>
              </a:ext>
            </a:extLst>
          </p:cNvPr>
          <p:cNvSpPr>
            <a:spLocks xmlns:a="http://schemas.openxmlformats.org/drawingml/2006/main" noGrp="1"/>
          </p:cNvSpPr>
          <p:nvPr/>
        </p:nvSpPr>
        <p:spPr>
          <a:xfrm xmlns:a="http://schemas.openxmlformats.org/drawingml/2006/main">
            <a:off x="819150" y="2647950"/>
            <a:ext cx="2914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F2A25"/>
                </a:solidFill>
              </a:defRPr>
            </a:pPr>
            <a:r>
              <a:rPr sz="1425" b="0">
                <a:solidFill>
                  <a:srgbClr val="1F2A25"/>
                </a:solidFill>
              </a:rPr>
              <a:t>Name two visible features, explain one likely user effect, then write one practical question to confirm.</a:t>
            </a:r>
          </a:p>
        </p:txBody>
      </p:sp>
      <p:sp>
        <p:nvSpPr>
          <p:cNvPr id="7" name="map-number-2">
            <a:extLst xmlns:a="http://schemas.openxmlformats.org/drawingml/2006/main">
              <a:ext uri="{FF2B5EF4-FFF2-40B4-BE49-F238E27FC236}">
                <a16:creationId xmlns:a16="http://schemas.microsoft.com/office/drawing/2014/main" id="{7261EE09-0EAF-4455-B3FE-0F402614C7C0}"/>
              </a:ext>
            </a:extLst>
          </p:cNvPr>
          <p:cNvSpPr>
            <a:spLocks xmlns:a="http://schemas.openxmlformats.org/drawingml/2006/main" noGrp="1"/>
          </p:cNvSpPr>
          <p:nvPr/>
        </p:nvSpPr>
        <p:spPr>
          <a:xfrm xmlns:a="http://schemas.openxmlformats.org/drawingml/2006/main">
            <a:off x="4248150" y="1676400"/>
            <a:ext cx="68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E7AD31"/>
                </a:solidFill>
              </a:defRPr>
            </a:pPr>
            <a:r>
              <a:rPr sz="3900" b="1">
                <a:solidFill>
                  <a:srgbClr val="E7AD31"/>
                </a:solidFill>
              </a:rPr>
              <a:t>2</a:t>
            </a:r>
          </a:p>
        </p:txBody>
      </p:sp>
      <p:sp>
        <p:nvSpPr>
          <p:cNvPr id="8" name="map-title-2">
            <a:extLst xmlns:a="http://schemas.openxmlformats.org/drawingml/2006/main">
              <a:ext uri="{FF2B5EF4-FFF2-40B4-BE49-F238E27FC236}">
                <a16:creationId xmlns:a16="http://schemas.microsoft.com/office/drawing/2014/main" id="{87743043-53C0-4F81-B1E7-0479E7D0EBDC}"/>
              </a:ext>
            </a:extLst>
          </p:cNvPr>
          <p:cNvSpPr>
            <a:spLocks xmlns:a="http://schemas.openxmlformats.org/drawingml/2006/main" noGrp="1"/>
          </p:cNvSpPr>
          <p:nvPr/>
        </p:nvSpPr>
        <p:spPr>
          <a:xfrm xmlns:a="http://schemas.openxmlformats.org/drawingml/2006/main">
            <a:off x="4972050" y="1695450"/>
            <a:ext cx="2524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3F30"/>
                </a:solidFill>
              </a:defRPr>
            </a:pPr>
            <a:r>
              <a:rPr sz="1875" b="1">
                <a:solidFill>
                  <a:srgbClr val="113F30"/>
                </a:solidFill>
              </a:rPr>
              <a:t>Criteria, constraints and project pathways</a:t>
            </a:r>
          </a:p>
        </p:txBody>
      </p:sp>
      <p:sp>
        <p:nvSpPr>
          <p:cNvPr id="9" name="map-action-2">
            <a:extLst xmlns:a="http://schemas.openxmlformats.org/drawingml/2006/main">
              <a:ext uri="{FF2B5EF4-FFF2-40B4-BE49-F238E27FC236}">
                <a16:creationId xmlns:a16="http://schemas.microsoft.com/office/drawing/2014/main" id="{9A874A55-9B00-4825-A644-39BA10325FF9}"/>
              </a:ext>
            </a:extLst>
          </p:cNvPr>
          <p:cNvSpPr>
            <a:spLocks xmlns:a="http://schemas.openxmlformats.org/drawingml/2006/main" noGrp="1"/>
          </p:cNvSpPr>
          <p:nvPr/>
        </p:nvSpPr>
        <p:spPr>
          <a:xfrm xmlns:a="http://schemas.openxmlformats.org/drawingml/2006/main">
            <a:off x="4248150" y="2647950"/>
            <a:ext cx="2914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F2A25"/>
                </a:solidFill>
              </a:defRPr>
            </a:pPr>
            <a:r>
              <a:rPr sz="1425" b="0">
                <a:solidFill>
                  <a:srgbClr val="1F2A25"/>
                </a:solidFill>
              </a:rPr>
              <a:t>Write one testable criterion and one confirmed constraint for your teacher-nominated pathway.</a:t>
            </a:r>
          </a:p>
        </p:txBody>
      </p:sp>
      <p:sp>
        <p:nvSpPr>
          <p:cNvPr id="10" name="map-number-3">
            <a:extLst xmlns:a="http://schemas.openxmlformats.org/drawingml/2006/main">
              <a:ext uri="{FF2B5EF4-FFF2-40B4-BE49-F238E27FC236}">
                <a16:creationId xmlns:a16="http://schemas.microsoft.com/office/drawing/2014/main" id="{4F0FC557-7D9B-4F92-A448-3287F0D65966}"/>
              </a:ext>
            </a:extLst>
          </p:cNvPr>
          <p:cNvSpPr>
            <a:spLocks xmlns:a="http://schemas.openxmlformats.org/drawingml/2006/main" noGrp="1"/>
          </p:cNvSpPr>
          <p:nvPr/>
        </p:nvSpPr>
        <p:spPr>
          <a:xfrm xmlns:a="http://schemas.openxmlformats.org/drawingml/2006/main">
            <a:off x="7677150" y="1676400"/>
            <a:ext cx="68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E7AD31"/>
                </a:solidFill>
              </a:defRPr>
            </a:pPr>
            <a:r>
              <a:rPr sz="3900" b="1">
                <a:solidFill>
                  <a:srgbClr val="E7AD31"/>
                </a:solidFill>
              </a:rPr>
              <a:t>3</a:t>
            </a:r>
          </a:p>
        </p:txBody>
      </p:sp>
      <p:sp>
        <p:nvSpPr>
          <p:cNvPr id="11" name="map-title-3">
            <a:extLst xmlns:a="http://schemas.openxmlformats.org/drawingml/2006/main">
              <a:ext uri="{FF2B5EF4-FFF2-40B4-BE49-F238E27FC236}">
                <a16:creationId xmlns:a16="http://schemas.microsoft.com/office/drawing/2014/main" id="{54898983-82D5-4CDE-A64F-C41111403228}"/>
              </a:ext>
            </a:extLst>
          </p:cNvPr>
          <p:cNvSpPr>
            <a:spLocks xmlns:a="http://schemas.openxmlformats.org/drawingml/2006/main" noGrp="1"/>
          </p:cNvSpPr>
          <p:nvPr/>
        </p:nvSpPr>
        <p:spPr>
          <a:xfrm xmlns:a="http://schemas.openxmlformats.org/drawingml/2006/main">
            <a:off x="8401050" y="1695450"/>
            <a:ext cx="2524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3F30"/>
                </a:solidFill>
              </a:defRPr>
            </a:pPr>
            <a:r>
              <a:rPr sz="1875" b="1">
                <a:solidFill>
                  <a:srgbClr val="113F30"/>
                </a:solidFill>
              </a:rPr>
              <a:t>Workshop readiness and sustainability</a:t>
            </a:r>
          </a:p>
        </p:txBody>
      </p:sp>
      <p:sp>
        <p:nvSpPr>
          <p:cNvPr id="12" name="map-action-3">
            <a:extLst xmlns:a="http://schemas.openxmlformats.org/drawingml/2006/main">
              <a:ext uri="{FF2B5EF4-FFF2-40B4-BE49-F238E27FC236}">
                <a16:creationId xmlns:a16="http://schemas.microsoft.com/office/drawing/2014/main" id="{C71B3ECE-920B-456F-B5CD-C7064C3063F0}"/>
              </a:ext>
            </a:extLst>
          </p:cNvPr>
          <p:cNvSpPr>
            <a:spLocks xmlns:a="http://schemas.openxmlformats.org/drawingml/2006/main" noGrp="1"/>
          </p:cNvSpPr>
          <p:nvPr/>
        </p:nvSpPr>
        <p:spPr>
          <a:xfrm xmlns:a="http://schemas.openxmlformats.org/drawingml/2006/main">
            <a:off x="7677150" y="2647950"/>
            <a:ext cx="2914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F2A25"/>
                </a:solidFill>
              </a:defRPr>
            </a:pPr>
            <a:r>
              <a:rPr sz="1425" b="0">
                <a:solidFill>
                  <a:srgbClr val="1F2A25"/>
                </a:solidFill>
              </a:rPr>
              <a:t>Explain how pausing for confirmation can improve safety, quality and sustainability together.</a:t>
            </a:r>
          </a:p>
        </p:txBody>
      </p:sp>
      <p:sp>
        <p:nvSpPr>
          <p:cNvPr id="13" name="warm-up-band">
            <a:extLst xmlns:a="http://schemas.openxmlformats.org/drawingml/2006/main">
              <a:ext uri="{FF2B5EF4-FFF2-40B4-BE49-F238E27FC236}">
                <a16:creationId xmlns:a16="http://schemas.microsoft.com/office/drawing/2014/main" id="{DD9B37B7-D91D-498B-8460-87B8C81A6361}"/>
              </a:ext>
            </a:extLst>
          </p:cNvPr>
          <p:cNvSpPr>
            <a:spLocks xmlns:a="http://schemas.openxmlformats.org/drawingml/2006/main" noGrp="1"/>
          </p:cNvSpPr>
          <p:nvPr/>
        </p:nvSpPr>
        <p:spPr>
          <a:xfrm xmlns:a="http://schemas.openxmlformats.org/drawingml/2006/main">
            <a:off x="685800" y="4629150"/>
            <a:ext cx="10820400" cy="1257300"/>
          </a:xfrm>
          <a:prstGeom xmlns:a="http://schemas.openxmlformats.org/drawingml/2006/main" prst="roundRect">
            <a:avLst>
              <a:gd name="adj" fmla="val 15152"/>
            </a:avLst>
          </a:prstGeom>
          <a:solidFill xmlns:a="http://schemas.openxmlformats.org/drawingml/2006/main">
            <a:srgbClr val="E8F3ED"/>
          </a:solidFill>
          <a:ln xmlns:a="http://schemas.openxmlformats.org/drawingml/2006/main" w="9525">
            <a:solidFill>
              <a:srgbClr val="C8D8CF"/>
            </a:solidFill>
            <a:prstDash val="solid"/>
          </a:ln>
        </p:spPr>
      </p:sp>
      <p:sp>
        <p:nvSpPr>
          <p:cNvPr id="14" name="warm-up-label">
            <a:extLst xmlns:a="http://schemas.openxmlformats.org/drawingml/2006/main">
              <a:ext uri="{FF2B5EF4-FFF2-40B4-BE49-F238E27FC236}">
                <a16:creationId xmlns:a16="http://schemas.microsoft.com/office/drawing/2014/main" id="{DCB51F74-BADA-4436-9B2E-422F209782B4}"/>
              </a:ext>
            </a:extLst>
          </p:cNvPr>
          <p:cNvSpPr>
            <a:spLocks xmlns:a="http://schemas.openxmlformats.org/drawingml/2006/main" noGrp="1"/>
          </p:cNvSpPr>
          <p:nvPr/>
        </p:nvSpPr>
        <p:spPr>
          <a:xfrm xmlns:a="http://schemas.openxmlformats.org/drawingml/2006/main">
            <a:off x="990600" y="4876800"/>
            <a:ext cx="259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84932"/>
                </a:solidFill>
              </a:defRPr>
            </a:pPr>
            <a:r>
              <a:rPr sz="1125" b="1">
                <a:solidFill>
                  <a:srgbClr val="B84932"/>
                </a:solidFill>
              </a:rPr>
              <a:t>RETRIEVAL WARM-UP</a:t>
            </a:r>
          </a:p>
        </p:txBody>
      </p:sp>
      <p:sp>
        <p:nvSpPr>
          <p:cNvPr id="15" name="warm-up-question">
            <a:extLst xmlns:a="http://schemas.openxmlformats.org/drawingml/2006/main">
              <a:ext uri="{FF2B5EF4-FFF2-40B4-BE49-F238E27FC236}">
                <a16:creationId xmlns:a16="http://schemas.microsoft.com/office/drawing/2014/main" id="{8E56231C-34ED-4BAF-A69B-78BD04D531C2}"/>
              </a:ext>
            </a:extLst>
          </p:cNvPr>
          <p:cNvSpPr>
            <a:spLocks xmlns:a="http://schemas.openxmlformats.org/drawingml/2006/main" noGrp="1"/>
          </p:cNvSpPr>
          <p:nvPr/>
        </p:nvSpPr>
        <p:spPr>
          <a:xfrm xmlns:a="http://schemas.openxmlformats.org/drawingml/2006/main">
            <a:off x="990600" y="5219700"/>
            <a:ext cx="979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13F30"/>
                </a:solidFill>
              </a:defRPr>
            </a:pPr>
            <a:r>
              <a:rPr sz="1950" b="1">
                <a:solidFill>
                  <a:srgbClr val="113F30"/>
                </a:solidFill>
              </a:rPr>
              <a:t>What can a project photograph prove — and what must still be confirmed?</a:t>
            </a:r>
          </a:p>
        </p:txBody>
      </p:sp>
      <p:sp>
        <p:nvSpPr>
          <p:cNvPr id="16" name="footer-rule-2">
            <a:extLst xmlns:a="http://schemas.openxmlformats.org/drawingml/2006/main">
              <a:ext uri="{FF2B5EF4-FFF2-40B4-BE49-F238E27FC236}">
                <a16:creationId xmlns:a16="http://schemas.microsoft.com/office/drawing/2014/main" id="{80779812-47C4-4A5E-B09E-849307EC87E8}"/>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17" name="footer-label-2">
            <a:extLst xmlns:a="http://schemas.openxmlformats.org/drawingml/2006/main">
              <a:ext uri="{FF2B5EF4-FFF2-40B4-BE49-F238E27FC236}">
                <a16:creationId xmlns:a16="http://schemas.microsoft.com/office/drawing/2014/main" id="{36A9B7A4-7ECD-4D0A-87B1-5DF0E790002E}"/>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1</a:t>
            </a:r>
          </a:p>
        </p:txBody>
      </p:sp>
      <p:sp>
        <p:nvSpPr>
          <p:cNvPr id="18" name="footer-page-2">
            <a:extLst xmlns:a="http://schemas.openxmlformats.org/drawingml/2006/main">
              <a:ext uri="{FF2B5EF4-FFF2-40B4-BE49-F238E27FC236}">
                <a16:creationId xmlns:a16="http://schemas.microsoft.com/office/drawing/2014/main" id="{73E9F9EC-942D-43A5-9BC5-2C562B99AEFB}"/>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2 / 8</a:t>
            </a:r>
          </a:p>
        </p:txBody>
      </p:sp>
    </p:spTree>
    <p:extLst>
      <p:ext uri="{BB962C8B-B14F-4D97-AF65-F5344CB8AC3E}">
        <p14:creationId xmlns:p14="http://schemas.microsoft.com/office/powerpoint/2010/main" val="180859422"/>
      </p:ext>
    </p:extLst>
  </p:cSld>
</p:sld>
</file>

<file path=ppt/slides/slide3.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9" name="accent-3">
            <a:extLst xmlns:a="http://schemas.openxmlformats.org/drawingml/2006/main">
              <a:ext uri="{FF2B5EF4-FFF2-40B4-BE49-F238E27FC236}">
                <a16:creationId xmlns:a16="http://schemas.microsoft.com/office/drawing/2014/main" id="{16E0BB5F-73A2-4D0C-A18B-9400727499F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3">
            <a:extLst xmlns:a="http://schemas.openxmlformats.org/drawingml/2006/main">
              <a:ext uri="{FF2B5EF4-FFF2-40B4-BE49-F238E27FC236}">
                <a16:creationId xmlns:a16="http://schemas.microsoft.com/office/drawing/2014/main" id="{91682BB5-C8D3-4315-A89B-DDA09CD8CA2C}"/>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1  •  BRIEF AND READINESS</a:t>
            </a:r>
          </a:p>
        </p:txBody>
      </p:sp>
      <p:sp>
        <p:nvSpPr>
          <p:cNvPr id="3" name="slide-title-3">
            <a:extLst xmlns:a="http://schemas.openxmlformats.org/drawingml/2006/main">
              <a:ext uri="{FF2B5EF4-FFF2-40B4-BE49-F238E27FC236}">
                <a16:creationId xmlns:a16="http://schemas.microsoft.com/office/drawing/2014/main" id="{E96F5CF7-A6AD-429F-939B-4ADE3802A210}"/>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Read the need before judging the object</a:t>
            </a:r>
          </a:p>
        </p:txBody>
      </p:sp>
      <p:sp>
        <p:nvSpPr>
          <p:cNvPr id="4" name="section-name-3">
            <a:extLst xmlns:a="http://schemas.openxmlformats.org/drawingml/2006/main">
              <a:ext uri="{FF2B5EF4-FFF2-40B4-BE49-F238E27FC236}">
                <a16:creationId xmlns:a16="http://schemas.microsoft.com/office/drawing/2014/main" id="{1B649019-F961-4867-985D-C710B1D2643D}"/>
              </a:ext>
            </a:extLst>
          </p:cNvPr>
          <p:cNvSpPr>
            <a:spLocks xmlns:a="http://schemas.openxmlformats.org/drawingml/2006/main" noGrp="1"/>
          </p:cNvSpPr>
          <p:nvPr/>
        </p:nvSpPr>
        <p:spPr>
          <a:xfrm xmlns:a="http://schemas.openxmlformats.org/drawingml/2006/main">
            <a:off x="685800" y="1285875"/>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READ THE PRODUCT AND USER</a:t>
            </a:r>
          </a:p>
        </p:txBody>
      </p:sp>
      <p:sp>
        <p:nvSpPr>
          <p:cNvPr id="5" name="s3-mark-1">
            <a:extLst xmlns:a="http://schemas.openxmlformats.org/drawingml/2006/main">
              <a:ext uri="{FF2B5EF4-FFF2-40B4-BE49-F238E27FC236}">
                <a16:creationId xmlns:a16="http://schemas.microsoft.com/office/drawing/2014/main" id="{B830DDC2-AFCC-4C39-84BF-772A15080E43}"/>
              </a:ext>
            </a:extLst>
          </p:cNvPr>
          <p:cNvSpPr>
            <a:spLocks xmlns:a="http://schemas.openxmlformats.org/drawingml/2006/main" noGrp="1"/>
          </p:cNvSpPr>
          <p:nvPr/>
        </p:nvSpPr>
        <p:spPr>
          <a:xfrm xmlns:a="http://schemas.openxmlformats.org/drawingml/2006/main">
            <a:off x="685800" y="17907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6" name="s3-text-1">
            <a:extLst xmlns:a="http://schemas.openxmlformats.org/drawingml/2006/main">
              <a:ext uri="{FF2B5EF4-FFF2-40B4-BE49-F238E27FC236}">
                <a16:creationId xmlns:a16="http://schemas.microsoft.com/office/drawing/2014/main" id="{AD4F3BAD-E983-4664-94B0-354474CCB4FC}"/>
              </a:ext>
            </a:extLst>
          </p:cNvPr>
          <p:cNvSpPr>
            <a:spLocks xmlns:a="http://schemas.openxmlformats.org/drawingml/2006/main" noGrp="1"/>
          </p:cNvSpPr>
          <p:nvPr/>
        </p:nvSpPr>
        <p:spPr>
          <a:xfrm xmlns:a="http://schemas.openxmlformats.org/drawingml/2006/main">
            <a:off x="952500" y="17145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Purpose is the job. The user includes owners, viewers and anyone affected by the product.</a:t>
            </a:r>
          </a:p>
        </p:txBody>
      </p:sp>
      <p:sp>
        <p:nvSpPr>
          <p:cNvPr id="7" name="s3-mark-2">
            <a:extLst xmlns:a="http://schemas.openxmlformats.org/drawingml/2006/main">
              <a:ext uri="{FF2B5EF4-FFF2-40B4-BE49-F238E27FC236}">
                <a16:creationId xmlns:a16="http://schemas.microsoft.com/office/drawing/2014/main" id="{C396679C-56E2-4F30-9E46-A6CF1A78FF88}"/>
              </a:ext>
            </a:extLst>
          </p:cNvPr>
          <p:cNvSpPr>
            <a:spLocks xmlns:a="http://schemas.openxmlformats.org/drawingml/2006/main" noGrp="1"/>
          </p:cNvSpPr>
          <p:nvPr/>
        </p:nvSpPr>
        <p:spPr>
          <a:xfrm xmlns:a="http://schemas.openxmlformats.org/drawingml/2006/main">
            <a:off x="685800" y="27813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8" name="s3-text-2">
            <a:extLst xmlns:a="http://schemas.openxmlformats.org/drawingml/2006/main">
              <a:ext uri="{FF2B5EF4-FFF2-40B4-BE49-F238E27FC236}">
                <a16:creationId xmlns:a16="http://schemas.microsoft.com/office/drawing/2014/main" id="{9D950D34-B254-40B9-836C-E89F310E49D4}"/>
              </a:ext>
            </a:extLst>
          </p:cNvPr>
          <p:cNvSpPr>
            <a:spLocks xmlns:a="http://schemas.openxmlformats.org/drawingml/2006/main" noGrp="1"/>
          </p:cNvSpPr>
          <p:nvPr/>
        </p:nvSpPr>
        <p:spPr>
          <a:xfrm xmlns:a="http://schemas.openxmlformats.org/drawingml/2006/main">
            <a:off x="952500" y="27051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Context changes what matters: distance, setting, movement, moisture and competing visual information.</a:t>
            </a:r>
          </a:p>
        </p:txBody>
      </p:sp>
      <p:sp>
        <p:nvSpPr>
          <p:cNvPr id="9" name="s3-mark-3">
            <a:extLst xmlns:a="http://schemas.openxmlformats.org/drawingml/2006/main">
              <a:ext uri="{FF2B5EF4-FFF2-40B4-BE49-F238E27FC236}">
                <a16:creationId xmlns:a16="http://schemas.microsoft.com/office/drawing/2014/main" id="{DE5FC616-D809-46CA-B486-EBB06A0EC78D}"/>
              </a:ext>
            </a:extLst>
          </p:cNvPr>
          <p:cNvSpPr>
            <a:spLocks xmlns:a="http://schemas.openxmlformats.org/drawingml/2006/main" noGrp="1"/>
          </p:cNvSpPr>
          <p:nvPr/>
        </p:nvSpPr>
        <p:spPr>
          <a:xfrm xmlns:a="http://schemas.openxmlformats.org/drawingml/2006/main">
            <a:off x="685800" y="37719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0" name="s3-text-3">
            <a:extLst xmlns:a="http://schemas.openxmlformats.org/drawingml/2006/main">
              <a:ext uri="{FF2B5EF4-FFF2-40B4-BE49-F238E27FC236}">
                <a16:creationId xmlns:a16="http://schemas.microsoft.com/office/drawing/2014/main" id="{2052752A-B67B-4DB1-912A-9609F2F8EF0C}"/>
              </a:ext>
            </a:extLst>
          </p:cNvPr>
          <p:cNvSpPr>
            <a:spLocks xmlns:a="http://schemas.openxmlformats.org/drawingml/2006/main" noGrp="1"/>
          </p:cNvSpPr>
          <p:nvPr/>
        </p:nvSpPr>
        <p:spPr>
          <a:xfrm xmlns:a="http://schemas.openxmlformats.org/drawingml/2006/main">
            <a:off x="952500" y="36957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A photograph can show form and relationships, but not exact materials, dimensions, joints, loads or processes.</a:t>
            </a:r>
          </a:p>
        </p:txBody>
      </p:sp>
      <p:sp>
        <p:nvSpPr>
          <p:cNvPr id="11" name="prompt-band-3">
            <a:extLst xmlns:a="http://schemas.openxmlformats.org/drawingml/2006/main">
              <a:ext uri="{FF2B5EF4-FFF2-40B4-BE49-F238E27FC236}">
                <a16:creationId xmlns:a16="http://schemas.microsoft.com/office/drawing/2014/main" id="{0359A431-74EE-4B05-9A6D-C778B6C8DB1A}"/>
              </a:ext>
            </a:extLst>
          </p:cNvPr>
          <p:cNvSpPr>
            <a:spLocks xmlns:a="http://schemas.openxmlformats.org/drawingml/2006/main" noGrp="1"/>
          </p:cNvSpPr>
          <p:nvPr/>
        </p:nvSpPr>
        <p:spPr>
          <a:xfrm xmlns:a="http://schemas.openxmlformats.org/drawingml/2006/main">
            <a:off x="685800" y="4724400"/>
            <a:ext cx="4171950" cy="1257300"/>
          </a:xfrm>
          <a:prstGeom xmlns:a="http://schemas.openxmlformats.org/drawingml/2006/main" prst="roundRect">
            <a:avLst>
              <a:gd name="adj" fmla="val 12121"/>
            </a:avLst>
          </a:prstGeom>
          <a:solidFill xmlns:a="http://schemas.openxmlformats.org/drawingml/2006/main">
            <a:srgbClr val="E8F3ED"/>
          </a:solidFill>
          <a:ln xmlns:a="http://schemas.openxmlformats.org/drawingml/2006/main" w="9525">
            <a:solidFill>
              <a:srgbClr val="C8D8CF"/>
            </a:solidFill>
            <a:prstDash val="solid"/>
          </a:ln>
        </p:spPr>
      </p:sp>
      <p:sp>
        <p:nvSpPr>
          <p:cNvPr id="12" name="prompt-label-3">
            <a:extLst xmlns:a="http://schemas.openxmlformats.org/drawingml/2006/main">
              <a:ext uri="{FF2B5EF4-FFF2-40B4-BE49-F238E27FC236}">
                <a16:creationId xmlns:a16="http://schemas.microsoft.com/office/drawing/2014/main" id="{3AE9A2B6-D0D6-4849-AC0A-E0ADE7EB67A7}"/>
              </a:ext>
            </a:extLst>
          </p:cNvPr>
          <p:cNvSpPr>
            <a:spLocks xmlns:a="http://schemas.openxmlformats.org/drawingml/2006/main" noGrp="1"/>
          </p:cNvSpPr>
          <p:nvPr/>
        </p:nvSpPr>
        <p:spPr>
          <a:xfrm xmlns:a="http://schemas.openxmlformats.org/drawingml/2006/main">
            <a:off x="895350" y="48577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APPLY IT</a:t>
            </a:r>
          </a:p>
        </p:txBody>
      </p:sp>
      <p:sp>
        <p:nvSpPr>
          <p:cNvPr id="13" name="prompt-3">
            <a:extLst xmlns:a="http://schemas.openxmlformats.org/drawingml/2006/main">
              <a:ext uri="{FF2B5EF4-FFF2-40B4-BE49-F238E27FC236}">
                <a16:creationId xmlns:a16="http://schemas.microsoft.com/office/drawing/2014/main" id="{3FF68338-F3F4-47FA-AC53-3E648F98AAC6}"/>
              </a:ext>
            </a:extLst>
          </p:cNvPr>
          <p:cNvSpPr>
            <a:spLocks xmlns:a="http://schemas.openxmlformats.org/drawingml/2006/main" noGrp="1"/>
          </p:cNvSpPr>
          <p:nvPr/>
        </p:nvSpPr>
        <p:spPr>
          <a:xfrm xmlns:a="http://schemas.openxmlformats.org/drawingml/2006/main">
            <a:off x="895350" y="5143500"/>
            <a:ext cx="3714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3F30"/>
                </a:solidFill>
              </a:defRPr>
            </a:pPr>
            <a:r>
              <a:rPr sz="1350" b="1">
                <a:solidFill>
                  <a:srgbClr val="113F30"/>
                </a:solidFill>
              </a:rPr>
              <a:t>Name two visible features, explain one likely user effect, then write one practical question to confirm.</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33d748b63349402c"/>
          <a:srcRect xmlns:a="http://schemas.openxmlformats.org/drawingml/2006/main" l="226" t="0" r="226" b="0"/>
          <a:stretch xmlns:a="http://schemas.openxmlformats.org/drawingml/2006/main">
            <a:fillRect l="0" t="0" r="0" b="0"/>
          </a:stretch>
        </p:blipFill>
        <p:spPr>
          <a:xfrm xmlns:a="http://schemas.openxmlformats.org/drawingml/2006/main">
            <a:off x="5219700" y="1447800"/>
            <a:ext cx="6286500" cy="4210050"/>
          </a:xfrm>
          <a:prstGeom xmlns:a="http://schemas.openxmlformats.org/drawingml/2006/main" prst="roundRect">
            <a:avLst>
              <a:gd name="adj" fmla="val 4072"/>
            </a:avLst>
          </a:prstGeom>
        </p:spPr>
      </p:pic>
      <p:sp>
        <p:nvSpPr>
          <p:cNvPr id="15" name="caption-3">
            <a:extLst xmlns:a="http://schemas.openxmlformats.org/drawingml/2006/main">
              <a:ext uri="{FF2B5EF4-FFF2-40B4-BE49-F238E27FC236}">
                <a16:creationId xmlns:a16="http://schemas.microsoft.com/office/drawing/2014/main" id="{2085058C-87AD-44EE-8B02-AC3732E8CCBF}"/>
              </a:ext>
            </a:extLst>
          </p:cNvPr>
          <p:cNvSpPr>
            <a:spLocks xmlns:a="http://schemas.openxmlformats.org/drawingml/2006/main" noGrp="1"/>
          </p:cNvSpPr>
          <p:nvPr/>
        </p:nvSpPr>
        <p:spPr>
          <a:xfrm xmlns:a="http://schemas.openxmlformats.org/drawingml/2006/main">
            <a:off x="5334000" y="5772150"/>
            <a:ext cx="605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4645D"/>
                </a:solidFill>
              </a:defRPr>
            </a:pPr>
            <a:r>
              <a:rPr sz="1275" b="0">
                <a:solidFill>
                  <a:srgbClr val="54645D"/>
                </a:solidFill>
              </a:rPr>
              <a:t>Visible form is evidence; hidden construction details are questions.</a:t>
            </a:r>
          </a:p>
        </p:txBody>
      </p:sp>
      <p:sp>
        <p:nvSpPr>
          <p:cNvPr id="16" name="footer-rule-3">
            <a:extLst xmlns:a="http://schemas.openxmlformats.org/drawingml/2006/main">
              <a:ext uri="{FF2B5EF4-FFF2-40B4-BE49-F238E27FC236}">
                <a16:creationId xmlns:a16="http://schemas.microsoft.com/office/drawing/2014/main" id="{63865E0E-C5B0-4F3D-8608-F6797DABAC1F}"/>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17" name="footer-label-3">
            <a:extLst xmlns:a="http://schemas.openxmlformats.org/drawingml/2006/main">
              <a:ext uri="{FF2B5EF4-FFF2-40B4-BE49-F238E27FC236}">
                <a16:creationId xmlns:a16="http://schemas.microsoft.com/office/drawing/2014/main" id="{5D383816-AB10-4CA0-80F3-DC8DF30099F9}"/>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1</a:t>
            </a:r>
          </a:p>
        </p:txBody>
      </p:sp>
      <p:sp>
        <p:nvSpPr>
          <p:cNvPr id="18" name="footer-page-3">
            <a:extLst xmlns:a="http://schemas.openxmlformats.org/drawingml/2006/main">
              <a:ext uri="{FF2B5EF4-FFF2-40B4-BE49-F238E27FC236}">
                <a16:creationId xmlns:a16="http://schemas.microsoft.com/office/drawing/2014/main" id="{648E6A71-241F-4C03-8A1E-3F427B817E32}"/>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3 / 8</a:t>
            </a:r>
          </a:p>
        </p:txBody>
      </p:sp>
    </p:spTree>
    <p:extLst>
      <p:ext uri="{BB962C8B-B14F-4D97-AF65-F5344CB8AC3E}">
        <p14:creationId xmlns:p14="http://schemas.microsoft.com/office/powerpoint/2010/main" val="770065575"/>
      </p:ext>
    </p:extLst>
  </p:cSld>
</p:sld>
</file>

<file path=ppt/slides/slide4.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9" name="accent-4">
            <a:extLst xmlns:a="http://schemas.openxmlformats.org/drawingml/2006/main">
              <a:ext uri="{FF2B5EF4-FFF2-40B4-BE49-F238E27FC236}">
                <a16:creationId xmlns:a16="http://schemas.microsoft.com/office/drawing/2014/main" id="{A445A17C-FD3B-4EEB-92A8-AA06198DEB9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4">
            <a:extLst xmlns:a="http://schemas.openxmlformats.org/drawingml/2006/main">
              <a:ext uri="{FF2B5EF4-FFF2-40B4-BE49-F238E27FC236}">
                <a16:creationId xmlns:a16="http://schemas.microsoft.com/office/drawing/2014/main" id="{E707FCE7-E5CE-41AF-8735-CA7F3C98715F}"/>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1  •  BRIEF AND READINESS</a:t>
            </a:r>
          </a:p>
        </p:txBody>
      </p:sp>
      <p:sp>
        <p:nvSpPr>
          <p:cNvPr id="3" name="slide-title-4">
            <a:extLst xmlns:a="http://schemas.openxmlformats.org/drawingml/2006/main">
              <a:ext uri="{FF2B5EF4-FFF2-40B4-BE49-F238E27FC236}">
                <a16:creationId xmlns:a16="http://schemas.microsoft.com/office/drawing/2014/main" id="{30AABA0A-AEE5-417E-9879-7D159528FFF8}"/>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Criteria show success; constraints draw the boundary</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73546314baa4d38"/>
          <a:srcRect xmlns:a="http://schemas.openxmlformats.org/drawingml/2006/main" l="2338" t="0" r="2338" b="0"/>
          <a:stretch xmlns:a="http://schemas.openxmlformats.org/drawingml/2006/main">
            <a:fillRect l="0" t="0" r="0" b="0"/>
          </a:stretch>
        </p:blipFill>
        <p:spPr>
          <a:xfrm xmlns:a="http://schemas.openxmlformats.org/drawingml/2006/main">
            <a:off x="685800" y="1447800"/>
            <a:ext cx="6019800" cy="4210050"/>
          </a:xfrm>
          <a:prstGeom xmlns:a="http://schemas.openxmlformats.org/drawingml/2006/main" prst="roundRect">
            <a:avLst>
              <a:gd name="adj" fmla="val 4072"/>
            </a:avLst>
          </a:prstGeom>
        </p:spPr>
      </p:pic>
      <p:sp>
        <p:nvSpPr>
          <p:cNvPr id="5" name="caption-4">
            <a:extLst xmlns:a="http://schemas.openxmlformats.org/drawingml/2006/main">
              <a:ext uri="{FF2B5EF4-FFF2-40B4-BE49-F238E27FC236}">
                <a16:creationId xmlns:a16="http://schemas.microsoft.com/office/drawing/2014/main" id="{4F6A3E62-019C-4756-9E93-58E8110462AE}"/>
              </a:ext>
            </a:extLst>
          </p:cNvPr>
          <p:cNvSpPr>
            <a:spLocks xmlns:a="http://schemas.openxmlformats.org/drawingml/2006/main" noGrp="1"/>
          </p:cNvSpPr>
          <p:nvPr/>
        </p:nvSpPr>
        <p:spPr>
          <a:xfrm xmlns:a="http://schemas.openxmlformats.org/drawingml/2006/main">
            <a:off x="800100" y="5772150"/>
            <a:ext cx="579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4645D"/>
                </a:solidFill>
              </a:defRPr>
            </a:pPr>
            <a:r>
              <a:rPr sz="1275" b="0">
                <a:solidFill>
                  <a:srgbClr val="54645D"/>
                </a:solidFill>
              </a:rPr>
              <a:t>Different pathways can produce comparable design evidence.</a:t>
            </a:r>
          </a:p>
        </p:txBody>
      </p:sp>
      <p:sp>
        <p:nvSpPr>
          <p:cNvPr id="6" name="section-name-4">
            <a:extLst xmlns:a="http://schemas.openxmlformats.org/drawingml/2006/main">
              <a:ext uri="{FF2B5EF4-FFF2-40B4-BE49-F238E27FC236}">
                <a16:creationId xmlns:a16="http://schemas.microsoft.com/office/drawing/2014/main" id="{32A66A00-CB19-4B0F-A37D-B1CD2F0A2FCE}"/>
              </a:ext>
            </a:extLst>
          </p:cNvPr>
          <p:cNvSpPr>
            <a:spLocks xmlns:a="http://schemas.openxmlformats.org/drawingml/2006/main" noGrp="1"/>
          </p:cNvSpPr>
          <p:nvPr/>
        </p:nvSpPr>
        <p:spPr>
          <a:xfrm xmlns:a="http://schemas.openxmlformats.org/drawingml/2006/main">
            <a:off x="7105650" y="1438275"/>
            <a:ext cx="440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CRITERIA, CONSTRAINTS AND PROJECT PATHWAYS</a:t>
            </a:r>
          </a:p>
        </p:txBody>
      </p:sp>
      <p:sp>
        <p:nvSpPr>
          <p:cNvPr id="7" name="s4-mark-1">
            <a:extLst xmlns:a="http://schemas.openxmlformats.org/drawingml/2006/main">
              <a:ext uri="{FF2B5EF4-FFF2-40B4-BE49-F238E27FC236}">
                <a16:creationId xmlns:a16="http://schemas.microsoft.com/office/drawing/2014/main" id="{4F3BDA6E-820D-4CF8-A6A5-27037209BE73}"/>
              </a:ext>
            </a:extLst>
          </p:cNvPr>
          <p:cNvSpPr>
            <a:spLocks xmlns:a="http://schemas.openxmlformats.org/drawingml/2006/main" noGrp="1"/>
          </p:cNvSpPr>
          <p:nvPr/>
        </p:nvSpPr>
        <p:spPr>
          <a:xfrm xmlns:a="http://schemas.openxmlformats.org/drawingml/2006/main">
            <a:off x="7105650" y="188595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8" name="s4-text-1">
            <a:extLst xmlns:a="http://schemas.openxmlformats.org/drawingml/2006/main">
              <a:ext uri="{FF2B5EF4-FFF2-40B4-BE49-F238E27FC236}">
                <a16:creationId xmlns:a16="http://schemas.microsoft.com/office/drawing/2014/main" id="{C29F215F-7F1E-4F97-B62A-AADD4B22DF7E}"/>
              </a:ext>
            </a:extLst>
          </p:cNvPr>
          <p:cNvSpPr>
            <a:spLocks xmlns:a="http://schemas.openxmlformats.org/drawingml/2006/main" noGrp="1"/>
          </p:cNvSpPr>
          <p:nvPr/>
        </p:nvSpPr>
        <p:spPr>
          <a:xfrm xmlns:a="http://schemas.openxmlformats.org/drawingml/2006/main">
            <a:off x="7372350" y="1809750"/>
            <a:ext cx="41338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A brief names the need, intended user and context without pretending the solution is already fixed.</a:t>
            </a:r>
          </a:p>
        </p:txBody>
      </p:sp>
      <p:sp>
        <p:nvSpPr>
          <p:cNvPr id="9" name="s4-mark-2">
            <a:extLst xmlns:a="http://schemas.openxmlformats.org/drawingml/2006/main">
              <a:ext uri="{FF2B5EF4-FFF2-40B4-BE49-F238E27FC236}">
                <a16:creationId xmlns:a16="http://schemas.microsoft.com/office/drawing/2014/main" id="{B42C4540-59A1-4E22-AB36-C70CA9117E53}"/>
              </a:ext>
            </a:extLst>
          </p:cNvPr>
          <p:cNvSpPr>
            <a:spLocks xmlns:a="http://schemas.openxmlformats.org/drawingml/2006/main" noGrp="1"/>
          </p:cNvSpPr>
          <p:nvPr/>
        </p:nvSpPr>
        <p:spPr>
          <a:xfrm xmlns:a="http://schemas.openxmlformats.org/drawingml/2006/main">
            <a:off x="7105650" y="28670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0" name="s4-text-2">
            <a:extLst xmlns:a="http://schemas.openxmlformats.org/drawingml/2006/main">
              <a:ext uri="{FF2B5EF4-FFF2-40B4-BE49-F238E27FC236}">
                <a16:creationId xmlns:a16="http://schemas.microsoft.com/office/drawing/2014/main" id="{86796526-0F45-42A5-AE6E-6448F355F66F}"/>
              </a:ext>
            </a:extLst>
          </p:cNvPr>
          <p:cNvSpPr>
            <a:spLocks xmlns:a="http://schemas.openxmlformats.org/drawingml/2006/main" noGrp="1"/>
          </p:cNvSpPr>
          <p:nvPr/>
        </p:nvSpPr>
        <p:spPr>
          <a:xfrm xmlns:a="http://schemas.openxmlformats.org/drawingml/2006/main">
            <a:off x="7372350" y="2790825"/>
            <a:ext cx="41338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Criteria are testable signs of success. Constraints are confirmed limits such as time, resources or approved processes.</a:t>
            </a:r>
          </a:p>
        </p:txBody>
      </p:sp>
      <p:sp>
        <p:nvSpPr>
          <p:cNvPr id="11" name="s4-mark-3">
            <a:extLst xmlns:a="http://schemas.openxmlformats.org/drawingml/2006/main">
              <a:ext uri="{FF2B5EF4-FFF2-40B4-BE49-F238E27FC236}">
                <a16:creationId xmlns:a16="http://schemas.microsoft.com/office/drawing/2014/main" id="{E745E08F-B95F-418D-9B6B-6AE3660EC219}"/>
              </a:ext>
            </a:extLst>
          </p:cNvPr>
          <p:cNvSpPr>
            <a:spLocks xmlns:a="http://schemas.openxmlformats.org/drawingml/2006/main" noGrp="1"/>
          </p:cNvSpPr>
          <p:nvPr/>
        </p:nvSpPr>
        <p:spPr>
          <a:xfrm xmlns:a="http://schemas.openxmlformats.org/drawingml/2006/main">
            <a:off x="7105650" y="38481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2" name="s4-text-3">
            <a:extLst xmlns:a="http://schemas.openxmlformats.org/drawingml/2006/main">
              <a:ext uri="{FF2B5EF4-FFF2-40B4-BE49-F238E27FC236}">
                <a16:creationId xmlns:a16="http://schemas.microsoft.com/office/drawing/2014/main" id="{5E43984D-6E76-4CF1-ADD2-47C34607E99E}"/>
              </a:ext>
            </a:extLst>
          </p:cNvPr>
          <p:cNvSpPr>
            <a:spLocks xmlns:a="http://schemas.openxmlformats.org/drawingml/2006/main" noGrp="1"/>
          </p:cNvSpPr>
          <p:nvPr/>
        </p:nvSpPr>
        <p:spPr>
          <a:xfrm xmlns:a="http://schemas.openxmlformats.org/drawingml/2006/main">
            <a:off x="7372350" y="3771900"/>
            <a:ext cx="41338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The Swinging Sign is primary. Your teacher may nominate the LED tea-light holder or pot-plant holder as alternate or additional work.</a:t>
            </a:r>
          </a:p>
        </p:txBody>
      </p:sp>
      <p:sp>
        <p:nvSpPr>
          <p:cNvPr id="13" name="prompt-band-4">
            <a:extLst xmlns:a="http://schemas.openxmlformats.org/drawingml/2006/main">
              <a:ext uri="{FF2B5EF4-FFF2-40B4-BE49-F238E27FC236}">
                <a16:creationId xmlns:a16="http://schemas.microsoft.com/office/drawing/2014/main" id="{E7A15304-5EFE-4666-970E-BBABAAC91023}"/>
              </a:ext>
            </a:extLst>
          </p:cNvPr>
          <p:cNvSpPr>
            <a:spLocks xmlns:a="http://schemas.openxmlformats.org/drawingml/2006/main" noGrp="1"/>
          </p:cNvSpPr>
          <p:nvPr/>
        </p:nvSpPr>
        <p:spPr>
          <a:xfrm xmlns:a="http://schemas.openxmlformats.org/drawingml/2006/main">
            <a:off x="7105650" y="4762500"/>
            <a:ext cx="4400550" cy="1219200"/>
          </a:xfrm>
          <a:prstGeom xmlns:a="http://schemas.openxmlformats.org/drawingml/2006/main" prst="roundRect">
            <a:avLst>
              <a:gd name="adj" fmla="val 12500"/>
            </a:avLst>
          </a:prstGeom>
          <a:solidFill xmlns:a="http://schemas.openxmlformats.org/drawingml/2006/main">
            <a:srgbClr val="E8F3ED"/>
          </a:solidFill>
          <a:ln xmlns:a="http://schemas.openxmlformats.org/drawingml/2006/main" w="9525">
            <a:solidFill>
              <a:srgbClr val="C8D8CF"/>
            </a:solidFill>
            <a:prstDash val="solid"/>
          </a:ln>
        </p:spPr>
      </p:sp>
      <p:sp>
        <p:nvSpPr>
          <p:cNvPr id="14" name="prompt-label-4">
            <a:extLst xmlns:a="http://schemas.openxmlformats.org/drawingml/2006/main">
              <a:ext uri="{FF2B5EF4-FFF2-40B4-BE49-F238E27FC236}">
                <a16:creationId xmlns:a16="http://schemas.microsoft.com/office/drawing/2014/main" id="{8D2ADAD9-D7B5-4A99-9D96-022CA7AB01D8}"/>
              </a:ext>
            </a:extLst>
          </p:cNvPr>
          <p:cNvSpPr>
            <a:spLocks xmlns:a="http://schemas.openxmlformats.org/drawingml/2006/main" noGrp="1"/>
          </p:cNvSpPr>
          <p:nvPr/>
        </p:nvSpPr>
        <p:spPr>
          <a:xfrm xmlns:a="http://schemas.openxmlformats.org/drawingml/2006/main">
            <a:off x="7315200" y="49053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APPLY IT</a:t>
            </a:r>
          </a:p>
        </p:txBody>
      </p:sp>
      <p:sp>
        <p:nvSpPr>
          <p:cNvPr id="15" name="prompt-4">
            <a:extLst xmlns:a="http://schemas.openxmlformats.org/drawingml/2006/main">
              <a:ext uri="{FF2B5EF4-FFF2-40B4-BE49-F238E27FC236}">
                <a16:creationId xmlns:a16="http://schemas.microsoft.com/office/drawing/2014/main" id="{BC00A312-59FD-4BF8-B8AC-635CA8EC9ED7}"/>
              </a:ext>
            </a:extLst>
          </p:cNvPr>
          <p:cNvSpPr>
            <a:spLocks xmlns:a="http://schemas.openxmlformats.org/drawingml/2006/main" noGrp="1"/>
          </p:cNvSpPr>
          <p:nvPr/>
        </p:nvSpPr>
        <p:spPr>
          <a:xfrm xmlns:a="http://schemas.openxmlformats.org/drawingml/2006/main">
            <a:off x="7315200" y="5191125"/>
            <a:ext cx="3943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3F30"/>
                </a:solidFill>
              </a:defRPr>
            </a:pPr>
            <a:r>
              <a:rPr sz="1350" b="1">
                <a:solidFill>
                  <a:srgbClr val="113F30"/>
                </a:solidFill>
              </a:rPr>
              <a:t>Write one testable criterion and one confirmed constraint for your teacher-nominated pathway.</a:t>
            </a:r>
          </a:p>
        </p:txBody>
      </p:sp>
      <p:sp>
        <p:nvSpPr>
          <p:cNvPr id="16" name="footer-rule-4">
            <a:extLst xmlns:a="http://schemas.openxmlformats.org/drawingml/2006/main">
              <a:ext uri="{FF2B5EF4-FFF2-40B4-BE49-F238E27FC236}">
                <a16:creationId xmlns:a16="http://schemas.microsoft.com/office/drawing/2014/main" id="{BF72AB65-1AB5-408B-9C6D-26F5F4F0AA06}"/>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17" name="footer-label-4">
            <a:extLst xmlns:a="http://schemas.openxmlformats.org/drawingml/2006/main">
              <a:ext uri="{FF2B5EF4-FFF2-40B4-BE49-F238E27FC236}">
                <a16:creationId xmlns:a16="http://schemas.microsoft.com/office/drawing/2014/main" id="{0530B235-F56D-47F9-A455-E11316CCB400}"/>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1</a:t>
            </a:r>
          </a:p>
        </p:txBody>
      </p:sp>
      <p:sp>
        <p:nvSpPr>
          <p:cNvPr id="18" name="footer-page-4">
            <a:extLst xmlns:a="http://schemas.openxmlformats.org/drawingml/2006/main">
              <a:ext uri="{FF2B5EF4-FFF2-40B4-BE49-F238E27FC236}">
                <a16:creationId xmlns:a16="http://schemas.microsoft.com/office/drawing/2014/main" id="{3BDE9029-0B93-4C9B-B77A-C215C846F0D5}"/>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4 / 8</a:t>
            </a:r>
          </a:p>
        </p:txBody>
      </p:sp>
    </p:spTree>
    <p:extLst>
      <p:ext uri="{BB962C8B-B14F-4D97-AF65-F5344CB8AC3E}">
        <p14:creationId xmlns:p14="http://schemas.microsoft.com/office/powerpoint/2010/main" val="717567515"/>
      </p:ext>
    </p:extLst>
  </p:cSld>
</p:sld>
</file>

<file path=ppt/slides/slide5.xml><?xml version="1.0" encoding="utf-8"?>
<p:sld xmlns:p="http://schemas.openxmlformats.org/presentationml/2006/main">
  <p:cSld>
    <p:bg>
      <p:bgPr>
        <a:solidFill xmlns:a="http://schemas.openxmlformats.org/drawingml/2006/main">
          <a:srgbClr val="113F30"/>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f171e2bc5b24492"/>
          <a:srcRect xmlns:a="http://schemas.openxmlformats.org/drawingml/2006/main" l="12870" t="0" r="12870" b="0"/>
          <a:stretch xmlns:a="http://schemas.openxmlformats.org/drawingml/2006/main">
            <a:fillRect l="0" t="0" r="0" b="0"/>
          </a:stretch>
        </p:blipFill>
        <p:spPr>
          <a:xfrm xmlns:a="http://schemas.openxmlformats.org/drawingml/2006/main">
            <a:off x="4552950" y="0"/>
            <a:ext cx="7639050" cy="6858000"/>
          </a:xfrm>
          <a:prstGeom xmlns:a="http://schemas.openxmlformats.org/drawingml/2006/main" prst="roundRect">
            <a:avLst>
              <a:gd name="adj" fmla="val 2500"/>
            </a:avLst>
          </a:prstGeom>
        </p:spPr>
      </p:pic>
      <p:sp>
        <p:nvSpPr>
          <p:cNvPr id="2" name="image-layout-panel-5">
            <a:extLst xmlns:a="http://schemas.openxmlformats.org/drawingml/2006/main">
              <a:ext uri="{FF2B5EF4-FFF2-40B4-BE49-F238E27FC236}">
                <a16:creationId xmlns:a16="http://schemas.microsoft.com/office/drawing/2014/main" id="{5AF2B538-1CC9-4126-8C56-C70CD833A12B}"/>
              </a:ext>
            </a:extLst>
          </p:cNvPr>
          <p:cNvSpPr>
            <a:spLocks xmlns:a="http://schemas.openxmlformats.org/drawingml/2006/main" noGrp="1"/>
          </p:cNvSpPr>
          <p:nvPr/>
        </p:nvSpPr>
        <p:spPr>
          <a:xfrm xmlns:a="http://schemas.openxmlformats.org/drawingml/2006/main">
            <a:off x="0" y="0"/>
            <a:ext cx="5010150" cy="6858000"/>
          </a:xfrm>
          <a:prstGeom xmlns:a="http://schemas.openxmlformats.org/drawingml/2006/main" prst="rect">
            <a:avLst/>
          </a:prstGeom>
          <a:solidFill xmlns:a="http://schemas.openxmlformats.org/drawingml/2006/main">
            <a:srgbClr val="113F30"/>
          </a:solidFill>
          <a:ln xmlns:a="http://schemas.openxmlformats.org/drawingml/2006/main" w="0">
            <a:solidFill>
              <a:srgbClr val="113F30"/>
            </a:solidFill>
            <a:prstDash val="solid"/>
          </a:ln>
        </p:spPr>
      </p:sp>
      <p:sp>
        <p:nvSpPr>
          <p:cNvPr id="3" name="image-layout-accent-5">
            <a:extLst xmlns:a="http://schemas.openxmlformats.org/drawingml/2006/main">
              <a:ext uri="{FF2B5EF4-FFF2-40B4-BE49-F238E27FC236}">
                <a16:creationId xmlns:a16="http://schemas.microsoft.com/office/drawing/2014/main" id="{76AB0B5D-274E-44E2-9521-200D164CAA48}"/>
              </a:ext>
            </a:extLst>
          </p:cNvPr>
          <p:cNvSpPr>
            <a:spLocks xmlns:a="http://schemas.openxmlformats.org/drawingml/2006/main" noGrp="1"/>
          </p:cNvSpPr>
          <p:nvPr/>
        </p:nvSpPr>
        <p:spPr>
          <a:xfrm xmlns:a="http://schemas.openxmlformats.org/drawingml/2006/main">
            <a:off x="685800" y="514350"/>
            <a:ext cx="800100" cy="76200"/>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4" name="module-kicker-5">
            <a:extLst xmlns:a="http://schemas.openxmlformats.org/drawingml/2006/main">
              <a:ext uri="{FF2B5EF4-FFF2-40B4-BE49-F238E27FC236}">
                <a16:creationId xmlns:a16="http://schemas.microsoft.com/office/drawing/2014/main" id="{A77C6687-1377-41A5-B2B1-E396CDCACFDB}"/>
              </a:ext>
            </a:extLst>
          </p:cNvPr>
          <p:cNvSpPr>
            <a:spLocks xmlns:a="http://schemas.openxmlformats.org/drawingml/2006/main" noGrp="1"/>
          </p:cNvSpPr>
          <p:nvPr/>
        </p:nvSpPr>
        <p:spPr>
          <a:xfrm xmlns:a="http://schemas.openxmlformats.org/drawingml/2006/main">
            <a:off x="685800" y="79057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FE1D8"/>
                </a:solidFill>
              </a:defRPr>
            </a:pPr>
            <a:r>
              <a:rPr sz="1050" b="1">
                <a:solidFill>
                  <a:srgbClr val="CFE1D8"/>
                </a:solidFill>
              </a:rPr>
              <a:t>MODULE 1  •  WORKSHOP READINESS AND SUSTAINABILITY</a:t>
            </a:r>
          </a:p>
        </p:txBody>
      </p:sp>
      <p:sp>
        <p:nvSpPr>
          <p:cNvPr id="5" name="stacked-slide-title-5">
            <a:extLst xmlns:a="http://schemas.openxmlformats.org/drawingml/2006/main">
              <a:ext uri="{FF2B5EF4-FFF2-40B4-BE49-F238E27FC236}">
                <a16:creationId xmlns:a16="http://schemas.microsoft.com/office/drawing/2014/main" id="{7C36C911-C9ED-4C85-8832-67A9294E1B05}"/>
              </a:ext>
            </a:extLst>
          </p:cNvPr>
          <p:cNvSpPr>
            <a:spLocks xmlns:a="http://schemas.openxmlformats.org/drawingml/2006/main" noGrp="1"/>
          </p:cNvSpPr>
          <p:nvPr/>
        </p:nvSpPr>
        <p:spPr>
          <a:xfrm xmlns:a="http://schemas.openxmlformats.org/drawingml/2006/main">
            <a:off x="685800" y="1219200"/>
            <a:ext cx="38290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Readiness is a decision, not a PPE checklist</a:t>
            </a:r>
          </a:p>
        </p:txBody>
      </p:sp>
      <p:sp>
        <p:nvSpPr>
          <p:cNvPr id="6" name="s5-mark-1">
            <a:extLst xmlns:a="http://schemas.openxmlformats.org/drawingml/2006/main">
              <a:ext uri="{FF2B5EF4-FFF2-40B4-BE49-F238E27FC236}">
                <a16:creationId xmlns:a16="http://schemas.microsoft.com/office/drawing/2014/main" id="{E893D1CB-7EF0-4650-9184-881BE6487D50}"/>
              </a:ext>
            </a:extLst>
          </p:cNvPr>
          <p:cNvSpPr>
            <a:spLocks xmlns:a="http://schemas.openxmlformats.org/drawingml/2006/main" noGrp="1"/>
          </p:cNvSpPr>
          <p:nvPr/>
        </p:nvSpPr>
        <p:spPr>
          <a:xfrm xmlns:a="http://schemas.openxmlformats.org/drawingml/2006/main">
            <a:off x="685800" y="27146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7" name="s5-text-1">
            <a:extLst xmlns:a="http://schemas.openxmlformats.org/drawingml/2006/main">
              <a:ext uri="{FF2B5EF4-FFF2-40B4-BE49-F238E27FC236}">
                <a16:creationId xmlns:a16="http://schemas.microsoft.com/office/drawing/2014/main" id="{87005EC2-39D5-4DE2-8636-F9026D1C0222}"/>
              </a:ext>
            </a:extLst>
          </p:cNvPr>
          <p:cNvSpPr>
            <a:spLocks xmlns:a="http://schemas.openxmlformats.org/drawingml/2006/main" noGrp="1"/>
          </p:cNvSpPr>
          <p:nvPr/>
        </p:nvSpPr>
        <p:spPr>
          <a:xfrm xmlns:a="http://schemas.openxmlformats.org/drawingml/2006/main">
            <a:off x="952500" y="2638425"/>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FFFFFF"/>
                </a:solidFill>
              </a:defRPr>
            </a:pPr>
            <a:r>
              <a:rPr sz="1575" b="0">
                <a:solidFill>
                  <a:srgbClr val="FFFFFF"/>
                </a:solidFill>
              </a:rPr>
              <a:t>A hazard can cause harm; risk depends on the situation, people, environment and current controls.</a:t>
            </a:r>
          </a:p>
        </p:txBody>
      </p:sp>
      <p:sp>
        <p:nvSpPr>
          <p:cNvPr id="8" name="s5-mark-2">
            <a:extLst xmlns:a="http://schemas.openxmlformats.org/drawingml/2006/main">
              <a:ext uri="{FF2B5EF4-FFF2-40B4-BE49-F238E27FC236}">
                <a16:creationId xmlns:a16="http://schemas.microsoft.com/office/drawing/2014/main" id="{9A4DE015-1053-485A-8189-9FD0785AED19}"/>
              </a:ext>
            </a:extLst>
          </p:cNvPr>
          <p:cNvSpPr>
            <a:spLocks xmlns:a="http://schemas.openxmlformats.org/drawingml/2006/main" noGrp="1"/>
          </p:cNvSpPr>
          <p:nvPr/>
        </p:nvSpPr>
        <p:spPr>
          <a:xfrm xmlns:a="http://schemas.openxmlformats.org/drawingml/2006/main">
            <a:off x="685800" y="36290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9" name="s5-text-2">
            <a:extLst xmlns:a="http://schemas.openxmlformats.org/drawingml/2006/main">
              <a:ext uri="{FF2B5EF4-FFF2-40B4-BE49-F238E27FC236}">
                <a16:creationId xmlns:a16="http://schemas.microsoft.com/office/drawing/2014/main" id="{8452F835-85ED-4008-B5D7-F5547AC5EADE}"/>
              </a:ext>
            </a:extLst>
          </p:cNvPr>
          <p:cNvSpPr>
            <a:spLocks xmlns:a="http://schemas.openxmlformats.org/drawingml/2006/main" noGrp="1"/>
          </p:cNvSpPr>
          <p:nvPr/>
        </p:nvSpPr>
        <p:spPr>
          <a:xfrm xmlns:a="http://schemas.openxmlformats.org/drawingml/2006/main">
            <a:off x="952500" y="3552825"/>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FFFFFF"/>
                </a:solidFill>
              </a:defRPr>
            </a:pPr>
            <a:r>
              <a:rPr sz="1575" b="0">
                <a:solidFill>
                  <a:srgbClr val="FFFFFF"/>
                </a:solidFill>
              </a:rPr>
              <a:t>Pause when instructions, conditions or permission are unclear. Familiarity is not authorisation.</a:t>
            </a:r>
          </a:p>
        </p:txBody>
      </p:sp>
      <p:sp>
        <p:nvSpPr>
          <p:cNvPr id="10" name="s5-mark-3">
            <a:extLst xmlns:a="http://schemas.openxmlformats.org/drawingml/2006/main">
              <a:ext uri="{FF2B5EF4-FFF2-40B4-BE49-F238E27FC236}">
                <a16:creationId xmlns:a16="http://schemas.microsoft.com/office/drawing/2014/main" id="{5D0CA733-4A0D-475C-A23E-DD03BDB2F1D3}"/>
              </a:ext>
            </a:extLst>
          </p:cNvPr>
          <p:cNvSpPr>
            <a:spLocks xmlns:a="http://schemas.openxmlformats.org/drawingml/2006/main" noGrp="1"/>
          </p:cNvSpPr>
          <p:nvPr/>
        </p:nvSpPr>
        <p:spPr>
          <a:xfrm xmlns:a="http://schemas.openxmlformats.org/drawingml/2006/main">
            <a:off x="685800" y="45434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1" name="s5-text-3">
            <a:extLst xmlns:a="http://schemas.openxmlformats.org/drawingml/2006/main">
              <a:ext uri="{FF2B5EF4-FFF2-40B4-BE49-F238E27FC236}">
                <a16:creationId xmlns:a16="http://schemas.microsoft.com/office/drawing/2014/main" id="{DE03E69B-8D21-48E1-BB43-78F10F891880}"/>
              </a:ext>
            </a:extLst>
          </p:cNvPr>
          <p:cNvSpPr>
            <a:spLocks xmlns:a="http://schemas.openxmlformats.org/drawingml/2006/main" noGrp="1"/>
          </p:cNvSpPr>
          <p:nvPr/>
        </p:nvSpPr>
        <p:spPr>
          <a:xfrm xmlns:a="http://schemas.openxmlformats.org/drawingml/2006/main">
            <a:off x="952500" y="4467225"/>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FFFFFF"/>
                </a:solidFill>
              </a:defRPr>
            </a:pPr>
            <a:r>
              <a:rPr sz="1575" b="0">
                <a:solidFill>
                  <a:srgbClr val="FFFFFF"/>
                </a:solidFill>
              </a:rPr>
              <a:t>Sustainability considers sourcing, material use, waste, durability, maintenance and end of life — not recyclability alone.</a:t>
            </a:r>
          </a:p>
        </p:txBody>
      </p:sp>
      <p:sp>
        <p:nvSpPr>
          <p:cNvPr id="12" name="prompt-label-5">
            <a:extLst xmlns:a="http://schemas.openxmlformats.org/drawingml/2006/main">
              <a:ext uri="{FF2B5EF4-FFF2-40B4-BE49-F238E27FC236}">
                <a16:creationId xmlns:a16="http://schemas.microsoft.com/office/drawing/2014/main" id="{E64A9CB9-8A91-4F67-A5D2-FC95DC03B29F}"/>
              </a:ext>
            </a:extLst>
          </p:cNvPr>
          <p:cNvSpPr>
            <a:spLocks xmlns:a="http://schemas.openxmlformats.org/drawingml/2006/main" noGrp="1"/>
          </p:cNvSpPr>
          <p:nvPr/>
        </p:nvSpPr>
        <p:spPr>
          <a:xfrm xmlns:a="http://schemas.openxmlformats.org/drawingml/2006/main">
            <a:off x="685800" y="5467350"/>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E7AD31"/>
                </a:solidFill>
              </a:defRPr>
            </a:pPr>
            <a:r>
              <a:rPr sz="1050" b="1">
                <a:solidFill>
                  <a:srgbClr val="E7AD31"/>
                </a:solidFill>
              </a:rPr>
              <a:t>APPLY IT</a:t>
            </a:r>
          </a:p>
        </p:txBody>
      </p:sp>
      <p:sp>
        <p:nvSpPr>
          <p:cNvPr id="13" name="prompt-5">
            <a:extLst xmlns:a="http://schemas.openxmlformats.org/drawingml/2006/main">
              <a:ext uri="{FF2B5EF4-FFF2-40B4-BE49-F238E27FC236}">
                <a16:creationId xmlns:a16="http://schemas.microsoft.com/office/drawing/2014/main" id="{990CC8DC-8242-4E32-9F83-A5660A0B7C9F}"/>
              </a:ext>
            </a:extLst>
          </p:cNvPr>
          <p:cNvSpPr>
            <a:spLocks xmlns:a="http://schemas.openxmlformats.org/drawingml/2006/main" noGrp="1"/>
          </p:cNvSpPr>
          <p:nvPr/>
        </p:nvSpPr>
        <p:spPr>
          <a:xfrm xmlns:a="http://schemas.openxmlformats.org/drawingml/2006/main">
            <a:off x="685800" y="5772150"/>
            <a:ext cx="3829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Explain how pausing for confirmation can improve safety, quality and sustainability together.</a:t>
            </a:r>
          </a:p>
        </p:txBody>
      </p:sp>
      <p:sp>
        <p:nvSpPr>
          <p:cNvPr id="14" name="caption-5">
            <a:extLst xmlns:a="http://schemas.openxmlformats.org/drawingml/2006/main">
              <a:ext uri="{FF2B5EF4-FFF2-40B4-BE49-F238E27FC236}">
                <a16:creationId xmlns:a16="http://schemas.microsoft.com/office/drawing/2014/main" id="{179A8802-C131-462F-9925-C4DAC65F0A4E}"/>
              </a:ext>
            </a:extLst>
          </p:cNvPr>
          <p:cNvSpPr>
            <a:spLocks xmlns:a="http://schemas.openxmlformats.org/drawingml/2006/main" noGrp="1"/>
          </p:cNvSpPr>
          <p:nvPr/>
        </p:nvSpPr>
        <p:spPr>
          <a:xfrm xmlns:a="http://schemas.openxmlformats.org/drawingml/2006/main">
            <a:off x="5334000" y="6096000"/>
            <a:ext cx="5905500" cy="400050"/>
          </a:xfrm>
          <a:prstGeom xmlns:a="http://schemas.openxmlformats.org/drawingml/2006/main" prst="roundRect">
            <a:avLst>
              <a:gd name="adj" fmla="val 23810"/>
            </a:avLst>
          </a:prstGeom>
          <a:solidFill xmlns:a="http://schemas.openxmlformats.org/drawingml/2006/main">
            <a:srgbClr val="113F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Understand → confirm → authorise → record.</a:t>
            </a:r>
          </a:p>
        </p:txBody>
      </p:sp>
      <p:sp>
        <p:nvSpPr>
          <p:cNvPr id="15" name="footer-rule-5">
            <a:extLst xmlns:a="http://schemas.openxmlformats.org/drawingml/2006/main">
              <a:ext uri="{FF2B5EF4-FFF2-40B4-BE49-F238E27FC236}">
                <a16:creationId xmlns:a16="http://schemas.microsoft.com/office/drawing/2014/main" id="{B16F0B45-8075-464E-9BA0-A2C5DF60CFC5}"/>
              </a:ext>
            </a:extLst>
          </p:cNvPr>
          <p:cNvSpPr>
            <a:spLocks xmlns:a="http://schemas.openxmlformats.org/drawingml/2006/main" noGrp="1"/>
          </p:cNvSpPr>
          <p:nvPr/>
        </p:nvSpPr>
        <p:spPr>
          <a:xfrm xmlns:a="http://schemas.openxmlformats.org/drawingml/2006/main">
            <a:off x="685800" y="6477000"/>
            <a:ext cx="3829050" cy="19050"/>
          </a:xfrm>
          <a:prstGeom xmlns:a="http://schemas.openxmlformats.org/drawingml/2006/main" prst="rect">
            <a:avLst/>
          </a:prstGeom>
          <a:solidFill xmlns:a="http://schemas.openxmlformats.org/drawingml/2006/main">
            <a:srgbClr val="5C8774"/>
          </a:solidFill>
          <a:ln xmlns:a="http://schemas.openxmlformats.org/drawingml/2006/main" w="0">
            <a:solidFill>
              <a:srgbClr val="5C8774"/>
            </a:solidFill>
            <a:prstDash val="solid"/>
          </a:ln>
        </p:spPr>
      </p:sp>
      <p:sp>
        <p:nvSpPr>
          <p:cNvPr id="16" name="footer-label-5">
            <a:extLst xmlns:a="http://schemas.openxmlformats.org/drawingml/2006/main">
              <a:ext uri="{FF2B5EF4-FFF2-40B4-BE49-F238E27FC236}">
                <a16:creationId xmlns:a16="http://schemas.microsoft.com/office/drawing/2014/main" id="{D272BDE7-F74C-4DA8-98C1-7F3DB787BD9D}"/>
              </a:ext>
            </a:extLst>
          </p:cNvPr>
          <p:cNvSpPr>
            <a:spLocks xmlns:a="http://schemas.openxmlformats.org/drawingml/2006/main" noGrp="1"/>
          </p:cNvSpPr>
          <p:nvPr/>
        </p:nvSpPr>
        <p:spPr>
          <a:xfrm xmlns:a="http://schemas.openxmlformats.org/drawingml/2006/main">
            <a:off x="685800" y="65436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8E7DF"/>
                </a:solidFill>
              </a:defRPr>
            </a:pPr>
            <a:r>
              <a:rPr sz="900" b="1">
                <a:solidFill>
                  <a:srgbClr val="D8E7DF"/>
                </a:solidFill>
              </a:rPr>
              <a:t>SWINGING SIGN  •  MODULE 1</a:t>
            </a:r>
          </a:p>
        </p:txBody>
      </p:sp>
      <p:sp>
        <p:nvSpPr>
          <p:cNvPr id="17" name="footer-page-5">
            <a:extLst xmlns:a="http://schemas.openxmlformats.org/drawingml/2006/main">
              <a:ext uri="{FF2B5EF4-FFF2-40B4-BE49-F238E27FC236}">
                <a16:creationId xmlns:a16="http://schemas.microsoft.com/office/drawing/2014/main" id="{42FBB7A2-04BD-4397-99A7-DF29981C51BE}"/>
              </a:ext>
            </a:extLst>
          </p:cNvPr>
          <p:cNvSpPr>
            <a:spLocks xmlns:a="http://schemas.openxmlformats.org/drawingml/2006/main" noGrp="1"/>
          </p:cNvSpPr>
          <p:nvPr/>
        </p:nvSpPr>
        <p:spPr>
          <a:xfrm xmlns:a="http://schemas.openxmlformats.org/drawingml/2006/main">
            <a:off x="10763250" y="6543675"/>
            <a:ext cx="742950" cy="228600"/>
          </a:xfrm>
          <a:prstGeom xmlns:a="http://schemas.openxmlformats.org/drawingml/2006/main" prst="roundRect">
            <a:avLst>
              <a:gd name="adj" fmla="val 25000"/>
            </a:avLst>
          </a:prstGeom>
          <a:solidFill xmlns:a="http://schemas.openxmlformats.org/drawingml/2006/main">
            <a:srgbClr val="113F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FFFFF"/>
                </a:solidFill>
              </a:defRPr>
            </a:pPr>
            <a:r>
              <a:rPr sz="900" b="1">
                <a:solidFill>
                  <a:srgbClr val="FFFFFF"/>
                </a:solidFill>
              </a:rPr>
              <a:t>5 / 8</a:t>
            </a:r>
          </a:p>
        </p:txBody>
      </p:sp>
    </p:spTree>
    <p:extLst>
      <p:ext uri="{BB962C8B-B14F-4D97-AF65-F5344CB8AC3E}">
        <p14:creationId xmlns:p14="http://schemas.microsoft.com/office/powerpoint/2010/main" val="583636811"/>
      </p:ext>
    </p:extLst>
  </p:cSld>
</p:sld>
</file>

<file path=ppt/slides/slide6.xml><?xml version="1.0" encoding="utf-8"?>
<p:sld xmlns:p="http://schemas.openxmlformats.org/presentationml/2006/main">
  <p:cSld>
    <p:bg>
      <p:bgPr>
        <a:solidFill xmlns:a="http://schemas.openxmlformats.org/drawingml/2006/main">
          <a:srgbClr val="113F30"/>
        </a:solidFill>
      </p:bgPr>
    </p:bg>
    <p:spTree>
      <p:nvGrpSpPr>
        <p:cNvPr id="1" name=""/>
        <p:cNvGrpSpPr/>
        <p:nvPr/>
      </p:nvGrpSpPr>
      <p:grpSpPr>
        <a:xfrm xmlns:a="http://schemas.openxmlformats.org/drawingml/2006/main"/>
      </p:grpSpPr>
      <p:sp>
        <p:nvSpPr>
          <p:cNvPr id="20" name="accent-6">
            <a:extLst xmlns:a="http://schemas.openxmlformats.org/drawingml/2006/main">
              <a:ext uri="{FF2B5EF4-FFF2-40B4-BE49-F238E27FC236}">
                <a16:creationId xmlns:a16="http://schemas.microsoft.com/office/drawing/2014/main" id="{F3DA99EC-B7DC-4F8B-9F8F-F50E92BA472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6">
            <a:extLst xmlns:a="http://schemas.openxmlformats.org/drawingml/2006/main">
              <a:ext uri="{FF2B5EF4-FFF2-40B4-BE49-F238E27FC236}">
                <a16:creationId xmlns:a16="http://schemas.microsoft.com/office/drawing/2014/main" id="{3786F50B-EC26-4DE6-B111-886658B94E0A}"/>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FE1D8"/>
                </a:solidFill>
              </a:defRPr>
            </a:pPr>
            <a:r>
              <a:rPr sz="1050" b="1">
                <a:solidFill>
                  <a:srgbClr val="CFE1D8"/>
                </a:solidFill>
              </a:rPr>
              <a:t>MODULE 1  •  BRIEF AND READINESS</a:t>
            </a:r>
          </a:p>
        </p:txBody>
      </p:sp>
      <p:sp>
        <p:nvSpPr>
          <p:cNvPr id="3" name="slide-title-6">
            <a:extLst xmlns:a="http://schemas.openxmlformats.org/drawingml/2006/main">
              <a:ext uri="{FF2B5EF4-FFF2-40B4-BE49-F238E27FC236}">
                <a16:creationId xmlns:a16="http://schemas.microsoft.com/office/drawing/2014/main" id="{F0FB1666-7AE0-4E77-B628-FB3F27909841}"/>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Stop. Think. Explain.</a:t>
            </a:r>
          </a:p>
        </p:txBody>
      </p:sp>
      <p:sp>
        <p:nvSpPr>
          <p:cNvPr id="4" name="retrieval-instruction">
            <a:extLst xmlns:a="http://schemas.openxmlformats.org/drawingml/2006/main">
              <a:ext uri="{FF2B5EF4-FFF2-40B4-BE49-F238E27FC236}">
                <a16:creationId xmlns:a16="http://schemas.microsoft.com/office/drawing/2014/main" id="{75972488-8A99-443B-AB1E-946BE7683030}"/>
              </a:ext>
            </a:extLst>
          </p:cNvPr>
          <p:cNvSpPr>
            <a:spLocks xmlns:a="http://schemas.openxmlformats.org/drawingml/2006/main" noGrp="1"/>
          </p:cNvSpPr>
          <p:nvPr/>
        </p:nvSpPr>
        <p:spPr>
          <a:xfrm xmlns:a="http://schemas.openxmlformats.org/drawingml/2006/main">
            <a:off x="685800" y="1266825"/>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D8E7DF"/>
                </a:solidFill>
              </a:defRPr>
            </a:pPr>
            <a:r>
              <a:rPr sz="1650" b="0">
                <a:solidFill>
                  <a:srgbClr val="D8E7DF"/>
                </a:solidFill>
              </a:rPr>
              <a:t>Answer silently first. Then justify one answer with a partner.</a:t>
            </a:r>
          </a:p>
        </p:txBody>
      </p:sp>
      <p:sp>
        <p:nvSpPr>
          <p:cNvPr id="5" name="retrieval-line-1">
            <a:extLst xmlns:a="http://schemas.openxmlformats.org/drawingml/2006/main">
              <a:ext uri="{FF2B5EF4-FFF2-40B4-BE49-F238E27FC236}">
                <a16:creationId xmlns:a16="http://schemas.microsoft.com/office/drawing/2014/main" id="{5DDD041E-5F00-4C8C-949C-FB586BDC0D94}"/>
              </a:ext>
            </a:extLst>
          </p:cNvPr>
          <p:cNvSpPr>
            <a:spLocks xmlns:a="http://schemas.openxmlformats.org/drawingml/2006/main" noGrp="1"/>
          </p:cNvSpPr>
          <p:nvPr/>
        </p:nvSpPr>
        <p:spPr>
          <a:xfrm xmlns:a="http://schemas.openxmlformats.org/drawingml/2006/main">
            <a:off x="685800" y="1809750"/>
            <a:ext cx="10820400" cy="781050"/>
          </a:xfrm>
          <a:prstGeom xmlns:a="http://schemas.openxmlformats.org/drawingml/2006/main" prst="roundRect">
            <a:avLst>
              <a:gd name="adj" fmla="val 19512"/>
            </a:avLst>
          </a:prstGeom>
          <a:solidFill xmlns:a="http://schemas.openxmlformats.org/drawingml/2006/main">
            <a:srgbClr val="1D503D"/>
          </a:solidFill>
          <a:ln xmlns:a="http://schemas.openxmlformats.org/drawingml/2006/main" w="9525">
            <a:solidFill>
              <a:srgbClr val="4F7D69"/>
            </a:solidFill>
            <a:prstDash val="solid"/>
          </a:ln>
        </p:spPr>
      </p:sp>
      <p:sp>
        <p:nvSpPr>
          <p:cNvPr id="6" name="retrieval-number-1">
            <a:extLst xmlns:a="http://schemas.openxmlformats.org/drawingml/2006/main">
              <a:ext uri="{FF2B5EF4-FFF2-40B4-BE49-F238E27FC236}">
                <a16:creationId xmlns:a16="http://schemas.microsoft.com/office/drawing/2014/main" id="{EC9E27AD-743C-4EB3-8470-6F384FE18B24}"/>
              </a:ext>
            </a:extLst>
          </p:cNvPr>
          <p:cNvSpPr>
            <a:spLocks xmlns:a="http://schemas.openxmlformats.org/drawingml/2006/main" noGrp="1"/>
          </p:cNvSpPr>
          <p:nvPr/>
        </p:nvSpPr>
        <p:spPr>
          <a:xfrm xmlns:a="http://schemas.openxmlformats.org/drawingml/2006/main">
            <a:off x="895350" y="19907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1</a:t>
            </a:r>
          </a:p>
        </p:txBody>
      </p:sp>
      <p:sp>
        <p:nvSpPr>
          <p:cNvPr id="7" name="retrieval-question-1">
            <a:extLst xmlns:a="http://schemas.openxmlformats.org/drawingml/2006/main">
              <a:ext uri="{FF2B5EF4-FFF2-40B4-BE49-F238E27FC236}">
                <a16:creationId xmlns:a16="http://schemas.microsoft.com/office/drawing/2014/main" id="{0C42C6C3-E990-43F6-9A3D-ABDA3DA4457A}"/>
              </a:ext>
            </a:extLst>
          </p:cNvPr>
          <p:cNvSpPr>
            <a:spLocks xmlns:a="http://schemas.openxmlformats.org/drawingml/2006/main" noGrp="1"/>
          </p:cNvSpPr>
          <p:nvPr/>
        </p:nvSpPr>
        <p:spPr>
          <a:xfrm xmlns:a="http://schemas.openxmlformats.org/drawingml/2006/main">
            <a:off x="1524000" y="19621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separates an observation from an inference?</a:t>
            </a:r>
          </a:p>
        </p:txBody>
      </p:sp>
      <p:sp>
        <p:nvSpPr>
          <p:cNvPr id="8" name="retrieval-line-2">
            <a:extLst xmlns:a="http://schemas.openxmlformats.org/drawingml/2006/main">
              <a:ext uri="{FF2B5EF4-FFF2-40B4-BE49-F238E27FC236}">
                <a16:creationId xmlns:a16="http://schemas.microsoft.com/office/drawing/2014/main" id="{132957A2-5840-4118-B584-E04214D1E618}"/>
              </a:ext>
            </a:extLst>
          </p:cNvPr>
          <p:cNvSpPr>
            <a:spLocks xmlns:a="http://schemas.openxmlformats.org/drawingml/2006/main" noGrp="1"/>
          </p:cNvSpPr>
          <p:nvPr/>
        </p:nvSpPr>
        <p:spPr>
          <a:xfrm xmlns:a="http://schemas.openxmlformats.org/drawingml/2006/main">
            <a:off x="685800" y="2800350"/>
            <a:ext cx="10820400" cy="781050"/>
          </a:xfrm>
          <a:prstGeom xmlns:a="http://schemas.openxmlformats.org/drawingml/2006/main" prst="roundRect">
            <a:avLst>
              <a:gd name="adj" fmla="val 19512"/>
            </a:avLst>
          </a:prstGeom>
          <a:solidFill xmlns:a="http://schemas.openxmlformats.org/drawingml/2006/main">
            <a:srgbClr val="245E48"/>
          </a:solidFill>
          <a:ln xmlns:a="http://schemas.openxmlformats.org/drawingml/2006/main" w="9525">
            <a:solidFill>
              <a:srgbClr val="4F7D69"/>
            </a:solidFill>
            <a:prstDash val="solid"/>
          </a:ln>
        </p:spPr>
      </p:sp>
      <p:sp>
        <p:nvSpPr>
          <p:cNvPr id="9" name="retrieval-number-2">
            <a:extLst xmlns:a="http://schemas.openxmlformats.org/drawingml/2006/main">
              <a:ext uri="{FF2B5EF4-FFF2-40B4-BE49-F238E27FC236}">
                <a16:creationId xmlns:a16="http://schemas.microsoft.com/office/drawing/2014/main" id="{9A060226-0EF9-44E0-843B-17D7850028CB}"/>
              </a:ext>
            </a:extLst>
          </p:cNvPr>
          <p:cNvSpPr>
            <a:spLocks xmlns:a="http://schemas.openxmlformats.org/drawingml/2006/main" noGrp="1"/>
          </p:cNvSpPr>
          <p:nvPr/>
        </p:nvSpPr>
        <p:spPr>
          <a:xfrm xmlns:a="http://schemas.openxmlformats.org/drawingml/2006/main">
            <a:off x="895350" y="29813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2</a:t>
            </a:r>
          </a:p>
        </p:txBody>
      </p:sp>
      <p:sp>
        <p:nvSpPr>
          <p:cNvPr id="10" name="retrieval-question-2">
            <a:extLst xmlns:a="http://schemas.openxmlformats.org/drawingml/2006/main">
              <a:ext uri="{FF2B5EF4-FFF2-40B4-BE49-F238E27FC236}">
                <a16:creationId xmlns:a16="http://schemas.microsoft.com/office/drawing/2014/main" id="{70BE1041-406A-493E-9961-D82EB277F012}"/>
              </a:ext>
            </a:extLst>
          </p:cNvPr>
          <p:cNvSpPr>
            <a:spLocks xmlns:a="http://schemas.openxmlformats.org/drawingml/2006/main" noGrp="1"/>
          </p:cNvSpPr>
          <p:nvPr/>
        </p:nvSpPr>
        <p:spPr>
          <a:xfrm xmlns:a="http://schemas.openxmlformats.org/drawingml/2006/main">
            <a:off x="1524000" y="29527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How is a criterion different from a constraint?</a:t>
            </a:r>
          </a:p>
        </p:txBody>
      </p:sp>
      <p:sp>
        <p:nvSpPr>
          <p:cNvPr id="11" name="retrieval-line-3">
            <a:extLst xmlns:a="http://schemas.openxmlformats.org/drawingml/2006/main">
              <a:ext uri="{FF2B5EF4-FFF2-40B4-BE49-F238E27FC236}">
                <a16:creationId xmlns:a16="http://schemas.microsoft.com/office/drawing/2014/main" id="{83183148-99DA-4CA8-A9C4-49399E1B93BA}"/>
              </a:ext>
            </a:extLst>
          </p:cNvPr>
          <p:cNvSpPr>
            <a:spLocks xmlns:a="http://schemas.openxmlformats.org/drawingml/2006/main" noGrp="1"/>
          </p:cNvSpPr>
          <p:nvPr/>
        </p:nvSpPr>
        <p:spPr>
          <a:xfrm xmlns:a="http://schemas.openxmlformats.org/drawingml/2006/main">
            <a:off x="685800" y="3790950"/>
            <a:ext cx="10820400" cy="781050"/>
          </a:xfrm>
          <a:prstGeom xmlns:a="http://schemas.openxmlformats.org/drawingml/2006/main" prst="roundRect">
            <a:avLst>
              <a:gd name="adj" fmla="val 19512"/>
            </a:avLst>
          </a:prstGeom>
          <a:solidFill xmlns:a="http://schemas.openxmlformats.org/drawingml/2006/main">
            <a:srgbClr val="1D503D"/>
          </a:solidFill>
          <a:ln xmlns:a="http://schemas.openxmlformats.org/drawingml/2006/main" w="9525">
            <a:solidFill>
              <a:srgbClr val="4F7D69"/>
            </a:solidFill>
            <a:prstDash val="solid"/>
          </a:ln>
        </p:spPr>
      </p:sp>
      <p:sp>
        <p:nvSpPr>
          <p:cNvPr id="12" name="retrieval-number-3">
            <a:extLst xmlns:a="http://schemas.openxmlformats.org/drawingml/2006/main">
              <a:ext uri="{FF2B5EF4-FFF2-40B4-BE49-F238E27FC236}">
                <a16:creationId xmlns:a16="http://schemas.microsoft.com/office/drawing/2014/main" id="{B9EC84E8-F40C-4D79-8B0C-2DD5C4D7091A}"/>
              </a:ext>
            </a:extLst>
          </p:cNvPr>
          <p:cNvSpPr>
            <a:spLocks xmlns:a="http://schemas.openxmlformats.org/drawingml/2006/main" noGrp="1"/>
          </p:cNvSpPr>
          <p:nvPr/>
        </p:nvSpPr>
        <p:spPr>
          <a:xfrm xmlns:a="http://schemas.openxmlformats.org/drawingml/2006/main">
            <a:off x="895350" y="39719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3</a:t>
            </a:r>
          </a:p>
        </p:txBody>
      </p:sp>
      <p:sp>
        <p:nvSpPr>
          <p:cNvPr id="13" name="retrieval-question-3">
            <a:extLst xmlns:a="http://schemas.openxmlformats.org/drawingml/2006/main">
              <a:ext uri="{FF2B5EF4-FFF2-40B4-BE49-F238E27FC236}">
                <a16:creationId xmlns:a16="http://schemas.microsoft.com/office/drawing/2014/main" id="{BD19C5B8-B9E0-40AC-BB7D-DE6B90632752}"/>
              </a:ext>
            </a:extLst>
          </p:cNvPr>
          <p:cNvSpPr>
            <a:spLocks xmlns:a="http://schemas.openxmlformats.org/drawingml/2006/main" noGrp="1"/>
          </p:cNvSpPr>
          <p:nvPr/>
        </p:nvSpPr>
        <p:spPr>
          <a:xfrm xmlns:a="http://schemas.openxmlformats.org/drawingml/2006/main">
            <a:off x="1524000" y="39433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When should a learner pause and ask?</a:t>
            </a:r>
          </a:p>
        </p:txBody>
      </p:sp>
      <p:sp>
        <p:nvSpPr>
          <p:cNvPr id="14" name="retrieval-line-4">
            <a:extLst xmlns:a="http://schemas.openxmlformats.org/drawingml/2006/main">
              <a:ext uri="{FF2B5EF4-FFF2-40B4-BE49-F238E27FC236}">
                <a16:creationId xmlns:a16="http://schemas.microsoft.com/office/drawing/2014/main" id="{90CD9039-1D0E-4ED7-BFD0-FA9821385A86}"/>
              </a:ext>
            </a:extLst>
          </p:cNvPr>
          <p:cNvSpPr>
            <a:spLocks xmlns:a="http://schemas.openxmlformats.org/drawingml/2006/main" noGrp="1"/>
          </p:cNvSpPr>
          <p:nvPr/>
        </p:nvSpPr>
        <p:spPr>
          <a:xfrm xmlns:a="http://schemas.openxmlformats.org/drawingml/2006/main">
            <a:off x="685800" y="4781550"/>
            <a:ext cx="10820400" cy="781050"/>
          </a:xfrm>
          <a:prstGeom xmlns:a="http://schemas.openxmlformats.org/drawingml/2006/main" prst="roundRect">
            <a:avLst>
              <a:gd name="adj" fmla="val 19512"/>
            </a:avLst>
          </a:prstGeom>
          <a:solidFill xmlns:a="http://schemas.openxmlformats.org/drawingml/2006/main">
            <a:srgbClr val="245E48"/>
          </a:solidFill>
          <a:ln xmlns:a="http://schemas.openxmlformats.org/drawingml/2006/main" w="9525">
            <a:solidFill>
              <a:srgbClr val="4F7D69"/>
            </a:solidFill>
            <a:prstDash val="solid"/>
          </a:ln>
        </p:spPr>
      </p:sp>
      <p:sp>
        <p:nvSpPr>
          <p:cNvPr id="15" name="retrieval-number-4">
            <a:extLst xmlns:a="http://schemas.openxmlformats.org/drawingml/2006/main">
              <a:ext uri="{FF2B5EF4-FFF2-40B4-BE49-F238E27FC236}">
                <a16:creationId xmlns:a16="http://schemas.microsoft.com/office/drawing/2014/main" id="{98F7EED3-FB57-4A6F-B80B-584063AF0F2F}"/>
              </a:ext>
            </a:extLst>
          </p:cNvPr>
          <p:cNvSpPr>
            <a:spLocks xmlns:a="http://schemas.openxmlformats.org/drawingml/2006/main" noGrp="1"/>
          </p:cNvSpPr>
          <p:nvPr/>
        </p:nvSpPr>
        <p:spPr>
          <a:xfrm xmlns:a="http://schemas.openxmlformats.org/drawingml/2006/main">
            <a:off x="895350" y="49625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4</a:t>
            </a:r>
          </a:p>
        </p:txBody>
      </p:sp>
      <p:sp>
        <p:nvSpPr>
          <p:cNvPr id="16" name="retrieval-question-4">
            <a:extLst xmlns:a="http://schemas.openxmlformats.org/drawingml/2006/main">
              <a:ext uri="{FF2B5EF4-FFF2-40B4-BE49-F238E27FC236}">
                <a16:creationId xmlns:a16="http://schemas.microsoft.com/office/drawing/2014/main" id="{7C0BC42E-C399-4531-AE30-5550F786B53B}"/>
              </a:ext>
            </a:extLst>
          </p:cNvPr>
          <p:cNvSpPr>
            <a:spLocks xmlns:a="http://schemas.openxmlformats.org/drawingml/2006/main" noGrp="1"/>
          </p:cNvSpPr>
          <p:nvPr/>
        </p:nvSpPr>
        <p:spPr>
          <a:xfrm xmlns:a="http://schemas.openxmlformats.org/drawingml/2006/main">
            <a:off x="1524000" y="49339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is recyclability alone not proof of sustainability?</a:t>
            </a:r>
          </a:p>
        </p:txBody>
      </p:sp>
      <p:sp>
        <p:nvSpPr>
          <p:cNvPr id="17" name="footer-rule-6">
            <a:extLst xmlns:a="http://schemas.openxmlformats.org/drawingml/2006/main">
              <a:ext uri="{FF2B5EF4-FFF2-40B4-BE49-F238E27FC236}">
                <a16:creationId xmlns:a16="http://schemas.microsoft.com/office/drawing/2014/main" id="{01F2E805-6FF8-41AE-BA13-B2A1E1B5964E}"/>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5C8774"/>
          </a:solidFill>
          <a:ln xmlns:a="http://schemas.openxmlformats.org/drawingml/2006/main" w="0">
            <a:solidFill>
              <a:srgbClr val="5C8774"/>
            </a:solidFill>
            <a:prstDash val="solid"/>
          </a:ln>
        </p:spPr>
      </p:sp>
      <p:sp>
        <p:nvSpPr>
          <p:cNvPr id="18" name="footer-label-6">
            <a:extLst xmlns:a="http://schemas.openxmlformats.org/drawingml/2006/main">
              <a:ext uri="{FF2B5EF4-FFF2-40B4-BE49-F238E27FC236}">
                <a16:creationId xmlns:a16="http://schemas.microsoft.com/office/drawing/2014/main" id="{059D2A4D-E773-4C9D-82F5-3DC9AF656FBC}"/>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8E7DF"/>
                </a:solidFill>
              </a:defRPr>
            </a:pPr>
            <a:r>
              <a:rPr sz="900" b="1">
                <a:solidFill>
                  <a:srgbClr val="D8E7DF"/>
                </a:solidFill>
              </a:rPr>
              <a:t>SWINGING SIGN  •  MODULE 1</a:t>
            </a:r>
          </a:p>
        </p:txBody>
      </p:sp>
      <p:sp>
        <p:nvSpPr>
          <p:cNvPr id="19" name="footer-page-6">
            <a:extLst xmlns:a="http://schemas.openxmlformats.org/drawingml/2006/main">
              <a:ext uri="{FF2B5EF4-FFF2-40B4-BE49-F238E27FC236}">
                <a16:creationId xmlns:a16="http://schemas.microsoft.com/office/drawing/2014/main" id="{8C62FAFB-DE62-44D1-932C-AF4E3B4D53D1}"/>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D8E7DF"/>
                </a:solidFill>
              </a:defRPr>
            </a:pPr>
            <a:r>
              <a:rPr sz="900" b="1">
                <a:solidFill>
                  <a:srgbClr val="D8E7DF"/>
                </a:solidFill>
              </a:rPr>
              <a:t>6 / 8</a:t>
            </a:r>
          </a:p>
        </p:txBody>
      </p:sp>
    </p:spTree>
    <p:extLst>
      <p:ext uri="{BB962C8B-B14F-4D97-AF65-F5344CB8AC3E}">
        <p14:creationId xmlns:p14="http://schemas.microsoft.com/office/powerpoint/2010/main" val="651179357"/>
      </p:ext>
    </p:extLst>
  </p:cSld>
</p:sld>
</file>

<file path=ppt/slides/slide7.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23" name="accent-7">
            <a:extLst xmlns:a="http://schemas.openxmlformats.org/drawingml/2006/main">
              <a:ext uri="{FF2B5EF4-FFF2-40B4-BE49-F238E27FC236}">
                <a16:creationId xmlns:a16="http://schemas.microsoft.com/office/drawing/2014/main" id="{ADC4A105-6C15-48F8-A69F-1C90851636D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7">
            <a:extLst xmlns:a="http://schemas.openxmlformats.org/drawingml/2006/main">
              <a:ext uri="{FF2B5EF4-FFF2-40B4-BE49-F238E27FC236}">
                <a16:creationId xmlns:a16="http://schemas.microsoft.com/office/drawing/2014/main" id="{C8EF82C6-E947-4DEE-AD92-FDDBC4D0D901}"/>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1  •  BRIEF AND READINESS</a:t>
            </a:r>
          </a:p>
        </p:txBody>
      </p:sp>
      <p:sp>
        <p:nvSpPr>
          <p:cNvPr id="3" name="slide-title-7">
            <a:extLst xmlns:a="http://schemas.openxmlformats.org/drawingml/2006/main">
              <a:ext uri="{FF2B5EF4-FFF2-40B4-BE49-F238E27FC236}">
                <a16:creationId xmlns:a16="http://schemas.microsoft.com/office/drawing/2014/main" id="{20B19603-76A0-45E2-8A8E-A2071F3FA4D8}"/>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Build one connected explanation</a:t>
            </a:r>
          </a:p>
        </p:txBody>
      </p:sp>
      <p:sp>
        <p:nvSpPr>
          <p:cNvPr id="4" name="guided-question-surface">
            <a:extLst xmlns:a="http://schemas.openxmlformats.org/drawingml/2006/main">
              <a:ext uri="{FF2B5EF4-FFF2-40B4-BE49-F238E27FC236}">
                <a16:creationId xmlns:a16="http://schemas.microsoft.com/office/drawing/2014/main" id="{9AD4CBC3-68B9-40A1-8F97-085853C240F0}"/>
              </a:ext>
            </a:extLst>
          </p:cNvPr>
          <p:cNvSpPr>
            <a:spLocks xmlns:a="http://schemas.openxmlformats.org/drawingml/2006/main" noGrp="1"/>
          </p:cNvSpPr>
          <p:nvPr/>
        </p:nvSpPr>
        <p:spPr>
          <a:xfrm xmlns:a="http://schemas.openxmlformats.org/drawingml/2006/main">
            <a:off x="685800" y="1352550"/>
            <a:ext cx="108204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9525">
            <a:solidFill>
              <a:srgbClr val="C8D8CF"/>
            </a:solidFill>
            <a:prstDash val="solid"/>
          </a:ln>
        </p:spPr>
      </p:sp>
      <p:sp>
        <p:nvSpPr>
          <p:cNvPr id="5" name="guided-question-label">
            <a:extLst xmlns:a="http://schemas.openxmlformats.org/drawingml/2006/main">
              <a:ext uri="{FF2B5EF4-FFF2-40B4-BE49-F238E27FC236}">
                <a16:creationId xmlns:a16="http://schemas.microsoft.com/office/drawing/2014/main" id="{7C88687E-F11A-43C7-994B-2A53DE8C4461}"/>
              </a:ext>
            </a:extLst>
          </p:cNvPr>
          <p:cNvSpPr>
            <a:spLocks xmlns:a="http://schemas.openxmlformats.org/drawingml/2006/main" noGrp="1"/>
          </p:cNvSpPr>
          <p:nvPr/>
        </p:nvSpPr>
        <p:spPr>
          <a:xfrm xmlns:a="http://schemas.openxmlformats.org/drawingml/2006/main">
            <a:off x="933450" y="15430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THE QUESTION</a:t>
            </a:r>
          </a:p>
        </p:txBody>
      </p:sp>
      <p:sp>
        <p:nvSpPr>
          <p:cNvPr id="6" name="guided-question">
            <a:extLst xmlns:a="http://schemas.openxmlformats.org/drawingml/2006/main">
              <a:ext uri="{FF2B5EF4-FFF2-40B4-BE49-F238E27FC236}">
                <a16:creationId xmlns:a16="http://schemas.microsoft.com/office/drawing/2014/main" id="{EBCFF752-BB83-4A7A-83D2-D5A170B1F7D0}"/>
              </a:ext>
            </a:extLst>
          </p:cNvPr>
          <p:cNvSpPr>
            <a:spLocks xmlns:a="http://schemas.openxmlformats.org/drawingml/2006/main" noGrp="1"/>
          </p:cNvSpPr>
          <p:nvPr/>
        </p:nvSpPr>
        <p:spPr>
          <a:xfrm xmlns:a="http://schemas.openxmlformats.org/drawingml/2006/main">
            <a:off x="933450" y="18669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Analyse one project photograph. Explain how visible features respond to purpose, user and context; then identify a criterion, a constraint and one fact needing confirmation.</a:t>
            </a:r>
          </a:p>
        </p:txBody>
      </p:sp>
      <p:sp>
        <p:nvSpPr>
          <p:cNvPr id="7" name="guided-step-1">
            <a:extLst xmlns:a="http://schemas.openxmlformats.org/drawingml/2006/main">
              <a:ext uri="{FF2B5EF4-FFF2-40B4-BE49-F238E27FC236}">
                <a16:creationId xmlns:a16="http://schemas.microsoft.com/office/drawing/2014/main" id="{4C5782CA-8004-4715-AFFC-80FEC2FBC079}"/>
              </a:ext>
            </a:extLst>
          </p:cNvPr>
          <p:cNvSpPr>
            <a:spLocks xmlns:a="http://schemas.openxmlformats.org/drawingml/2006/main" noGrp="1"/>
          </p:cNvSpPr>
          <p:nvPr/>
        </p:nvSpPr>
        <p:spPr>
          <a:xfrm xmlns:a="http://schemas.openxmlformats.org/drawingml/2006/main">
            <a:off x="685800" y="2990850"/>
            <a:ext cx="2514600" cy="2095500"/>
          </a:xfrm>
          <a:prstGeom xmlns:a="http://schemas.openxmlformats.org/drawingml/2006/main" prst="roundRect">
            <a:avLst>
              <a:gd name="adj" fmla="val 8182"/>
            </a:avLst>
          </a:prstGeom>
          <a:solidFill xmlns:a="http://schemas.openxmlformats.org/drawingml/2006/main">
            <a:srgbClr val="113F30"/>
          </a:solidFill>
          <a:ln xmlns:a="http://schemas.openxmlformats.org/drawingml/2006/main" w="0">
            <a:solidFill>
              <a:srgbClr val="113F30"/>
            </a:solidFill>
            <a:prstDash val="solid"/>
          </a:ln>
        </p:spPr>
      </p:sp>
      <p:sp>
        <p:nvSpPr>
          <p:cNvPr id="8" name="guided-step-name-1">
            <a:extLst xmlns:a="http://schemas.openxmlformats.org/drawingml/2006/main">
              <a:ext uri="{FF2B5EF4-FFF2-40B4-BE49-F238E27FC236}">
                <a16:creationId xmlns:a16="http://schemas.microsoft.com/office/drawing/2014/main" id="{DD39627F-01A3-4DFD-B76C-0AB622E15B1A}"/>
              </a:ext>
            </a:extLst>
          </p:cNvPr>
          <p:cNvSpPr>
            <a:spLocks xmlns:a="http://schemas.openxmlformats.org/drawingml/2006/main" noGrp="1"/>
          </p:cNvSpPr>
          <p:nvPr/>
        </p:nvSpPr>
        <p:spPr>
          <a:xfrm xmlns:a="http://schemas.openxmlformats.org/drawingml/2006/main">
            <a:off x="8953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READ</a:t>
            </a:r>
          </a:p>
        </p:txBody>
      </p:sp>
      <p:sp>
        <p:nvSpPr>
          <p:cNvPr id="9" name="guided-step-body-1">
            <a:extLst xmlns:a="http://schemas.openxmlformats.org/drawingml/2006/main">
              <a:ext uri="{FF2B5EF4-FFF2-40B4-BE49-F238E27FC236}">
                <a16:creationId xmlns:a16="http://schemas.microsoft.com/office/drawing/2014/main" id="{735F604B-8AF0-42C3-A94C-E254093EE244}"/>
              </a:ext>
            </a:extLst>
          </p:cNvPr>
          <p:cNvSpPr>
            <a:spLocks xmlns:a="http://schemas.openxmlformats.org/drawingml/2006/main" noGrp="1"/>
          </p:cNvSpPr>
          <p:nvPr/>
        </p:nvSpPr>
        <p:spPr>
          <a:xfrm xmlns:a="http://schemas.openxmlformats.org/drawingml/2006/main">
            <a:off x="8953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underline the purpose, user and context.</a:t>
            </a:r>
          </a:p>
        </p:txBody>
      </p:sp>
      <p:sp>
        <p:nvSpPr>
          <p:cNvPr id="10" name="guided-step-2">
            <a:extLst xmlns:a="http://schemas.openxmlformats.org/drawingml/2006/main">
              <a:ext uri="{FF2B5EF4-FFF2-40B4-BE49-F238E27FC236}">
                <a16:creationId xmlns:a16="http://schemas.microsoft.com/office/drawing/2014/main" id="{DCCB6FB0-E1AD-45FC-881F-951DAC09D596}"/>
              </a:ext>
            </a:extLst>
          </p:cNvPr>
          <p:cNvSpPr>
            <a:spLocks xmlns:a="http://schemas.openxmlformats.org/drawingml/2006/main" noGrp="1"/>
          </p:cNvSpPr>
          <p:nvPr/>
        </p:nvSpPr>
        <p:spPr>
          <a:xfrm xmlns:a="http://schemas.openxmlformats.org/drawingml/2006/main">
            <a:off x="3429000" y="2990850"/>
            <a:ext cx="2514600" cy="2095500"/>
          </a:xfrm>
          <a:prstGeom xmlns:a="http://schemas.openxmlformats.org/drawingml/2006/main" prst="roundRect">
            <a:avLst>
              <a:gd name="adj" fmla="val 8182"/>
            </a:avLst>
          </a:prstGeom>
          <a:solidFill xmlns:a="http://schemas.openxmlformats.org/drawingml/2006/main">
            <a:srgbClr val="176046"/>
          </a:solidFill>
          <a:ln xmlns:a="http://schemas.openxmlformats.org/drawingml/2006/main" w="0">
            <a:solidFill>
              <a:srgbClr val="176046"/>
            </a:solidFill>
            <a:prstDash val="solid"/>
          </a:ln>
        </p:spPr>
      </p:sp>
      <p:sp>
        <p:nvSpPr>
          <p:cNvPr id="11" name="guided-step-name-2">
            <a:extLst xmlns:a="http://schemas.openxmlformats.org/drawingml/2006/main">
              <a:ext uri="{FF2B5EF4-FFF2-40B4-BE49-F238E27FC236}">
                <a16:creationId xmlns:a16="http://schemas.microsoft.com/office/drawing/2014/main" id="{85C06498-00B6-4F18-ACE6-6BA5A27F342F}"/>
              </a:ext>
            </a:extLst>
          </p:cNvPr>
          <p:cNvSpPr>
            <a:spLocks xmlns:a="http://schemas.openxmlformats.org/drawingml/2006/main" noGrp="1"/>
          </p:cNvSpPr>
          <p:nvPr/>
        </p:nvSpPr>
        <p:spPr>
          <a:xfrm xmlns:a="http://schemas.openxmlformats.org/drawingml/2006/main">
            <a:off x="36385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SELECT</a:t>
            </a:r>
          </a:p>
        </p:txBody>
      </p:sp>
      <p:sp>
        <p:nvSpPr>
          <p:cNvPr id="12" name="guided-step-body-2">
            <a:extLst xmlns:a="http://schemas.openxmlformats.org/drawingml/2006/main">
              <a:ext uri="{FF2B5EF4-FFF2-40B4-BE49-F238E27FC236}">
                <a16:creationId xmlns:a16="http://schemas.microsoft.com/office/drawing/2014/main" id="{112B4C84-EAD7-40F2-B8A1-5545B05E263E}"/>
              </a:ext>
            </a:extLst>
          </p:cNvPr>
          <p:cNvSpPr>
            <a:spLocks xmlns:a="http://schemas.openxmlformats.org/drawingml/2006/main" noGrp="1"/>
          </p:cNvSpPr>
          <p:nvPr/>
        </p:nvSpPr>
        <p:spPr>
          <a:xfrm xmlns:a="http://schemas.openxmlformats.org/drawingml/2006/main">
            <a:off x="36385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choose two visible features and one relevant criterion.</a:t>
            </a:r>
          </a:p>
        </p:txBody>
      </p:sp>
      <p:sp>
        <p:nvSpPr>
          <p:cNvPr id="13" name="guided-step-3">
            <a:extLst xmlns:a="http://schemas.openxmlformats.org/drawingml/2006/main">
              <a:ext uri="{FF2B5EF4-FFF2-40B4-BE49-F238E27FC236}">
                <a16:creationId xmlns:a16="http://schemas.microsoft.com/office/drawing/2014/main" id="{627A7356-B87E-44B5-A15C-58D812F5BD76}"/>
              </a:ext>
            </a:extLst>
          </p:cNvPr>
          <p:cNvSpPr>
            <a:spLocks xmlns:a="http://schemas.openxmlformats.org/drawingml/2006/main" noGrp="1"/>
          </p:cNvSpPr>
          <p:nvPr/>
        </p:nvSpPr>
        <p:spPr>
          <a:xfrm xmlns:a="http://schemas.openxmlformats.org/drawingml/2006/main">
            <a:off x="6172200" y="2990850"/>
            <a:ext cx="2514600" cy="2095500"/>
          </a:xfrm>
          <a:prstGeom xmlns:a="http://schemas.openxmlformats.org/drawingml/2006/main" prst="roundRect">
            <a:avLst>
              <a:gd name="adj" fmla="val 8182"/>
            </a:avLst>
          </a:prstGeom>
          <a:solidFill xmlns:a="http://schemas.openxmlformats.org/drawingml/2006/main">
            <a:srgbClr val="113F30"/>
          </a:solidFill>
          <a:ln xmlns:a="http://schemas.openxmlformats.org/drawingml/2006/main" w="0">
            <a:solidFill>
              <a:srgbClr val="113F30"/>
            </a:solidFill>
            <a:prstDash val="solid"/>
          </a:ln>
        </p:spPr>
      </p:sp>
      <p:sp>
        <p:nvSpPr>
          <p:cNvPr id="14" name="guided-step-name-3">
            <a:extLst xmlns:a="http://schemas.openxmlformats.org/drawingml/2006/main">
              <a:ext uri="{FF2B5EF4-FFF2-40B4-BE49-F238E27FC236}">
                <a16:creationId xmlns:a16="http://schemas.microsoft.com/office/drawing/2014/main" id="{45AD9B65-A72C-4FC8-A2BA-706DEDAB3734}"/>
              </a:ext>
            </a:extLst>
          </p:cNvPr>
          <p:cNvSpPr>
            <a:spLocks xmlns:a="http://schemas.openxmlformats.org/drawingml/2006/main" noGrp="1"/>
          </p:cNvSpPr>
          <p:nvPr/>
        </p:nvSpPr>
        <p:spPr>
          <a:xfrm xmlns:a="http://schemas.openxmlformats.org/drawingml/2006/main">
            <a:off x="63817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EXPLAIN</a:t>
            </a:r>
          </a:p>
        </p:txBody>
      </p:sp>
      <p:sp>
        <p:nvSpPr>
          <p:cNvPr id="15" name="guided-step-body-3">
            <a:extLst xmlns:a="http://schemas.openxmlformats.org/drawingml/2006/main">
              <a:ext uri="{FF2B5EF4-FFF2-40B4-BE49-F238E27FC236}">
                <a16:creationId xmlns:a16="http://schemas.microsoft.com/office/drawing/2014/main" id="{8C66E7CA-0E48-4529-BA1B-69B5D9AE9C54}"/>
              </a:ext>
            </a:extLst>
          </p:cNvPr>
          <p:cNvSpPr>
            <a:spLocks xmlns:a="http://schemas.openxmlformats.org/drawingml/2006/main" noGrp="1"/>
          </p:cNvSpPr>
          <p:nvPr/>
        </p:nvSpPr>
        <p:spPr>
          <a:xfrm xmlns:a="http://schemas.openxmlformats.org/drawingml/2006/main">
            <a:off x="63817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connect each feature to a likely user effect.</a:t>
            </a:r>
          </a:p>
        </p:txBody>
      </p:sp>
      <p:sp>
        <p:nvSpPr>
          <p:cNvPr id="16" name="guided-step-4">
            <a:extLst xmlns:a="http://schemas.openxmlformats.org/drawingml/2006/main">
              <a:ext uri="{FF2B5EF4-FFF2-40B4-BE49-F238E27FC236}">
                <a16:creationId xmlns:a16="http://schemas.microsoft.com/office/drawing/2014/main" id="{B662F0A8-2BB6-4368-B07C-A83ACA7DC3B7}"/>
              </a:ext>
            </a:extLst>
          </p:cNvPr>
          <p:cNvSpPr>
            <a:spLocks xmlns:a="http://schemas.openxmlformats.org/drawingml/2006/main" noGrp="1"/>
          </p:cNvSpPr>
          <p:nvPr/>
        </p:nvSpPr>
        <p:spPr>
          <a:xfrm xmlns:a="http://schemas.openxmlformats.org/drawingml/2006/main">
            <a:off x="8915400" y="2990850"/>
            <a:ext cx="2514600" cy="2095500"/>
          </a:xfrm>
          <a:prstGeom xmlns:a="http://schemas.openxmlformats.org/drawingml/2006/main" prst="roundRect">
            <a:avLst>
              <a:gd name="adj" fmla="val 8182"/>
            </a:avLst>
          </a:prstGeom>
          <a:solidFill xmlns:a="http://schemas.openxmlformats.org/drawingml/2006/main">
            <a:srgbClr val="176046"/>
          </a:solidFill>
          <a:ln xmlns:a="http://schemas.openxmlformats.org/drawingml/2006/main" w="0">
            <a:solidFill>
              <a:srgbClr val="176046"/>
            </a:solidFill>
            <a:prstDash val="solid"/>
          </a:ln>
        </p:spPr>
      </p:sp>
      <p:sp>
        <p:nvSpPr>
          <p:cNvPr id="17" name="guided-step-name-4">
            <a:extLst xmlns:a="http://schemas.openxmlformats.org/drawingml/2006/main">
              <a:ext uri="{FF2B5EF4-FFF2-40B4-BE49-F238E27FC236}">
                <a16:creationId xmlns:a16="http://schemas.microsoft.com/office/drawing/2014/main" id="{B435A5BD-1F2E-4107-8BEA-1DF75F31D79E}"/>
              </a:ext>
            </a:extLst>
          </p:cNvPr>
          <p:cNvSpPr>
            <a:spLocks xmlns:a="http://schemas.openxmlformats.org/drawingml/2006/main" noGrp="1"/>
          </p:cNvSpPr>
          <p:nvPr/>
        </p:nvSpPr>
        <p:spPr>
          <a:xfrm xmlns:a="http://schemas.openxmlformats.org/drawingml/2006/main">
            <a:off x="91249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CHECK</a:t>
            </a:r>
          </a:p>
        </p:txBody>
      </p:sp>
      <p:sp>
        <p:nvSpPr>
          <p:cNvPr id="18" name="guided-step-body-4">
            <a:extLst xmlns:a="http://schemas.openxmlformats.org/drawingml/2006/main">
              <a:ext uri="{FF2B5EF4-FFF2-40B4-BE49-F238E27FC236}">
                <a16:creationId xmlns:a16="http://schemas.microsoft.com/office/drawing/2014/main" id="{BD4BC669-FD8A-4109-BCC1-2ACDA50D5860}"/>
              </a:ext>
            </a:extLst>
          </p:cNvPr>
          <p:cNvSpPr>
            <a:spLocks xmlns:a="http://schemas.openxmlformats.org/drawingml/2006/main" noGrp="1"/>
          </p:cNvSpPr>
          <p:nvPr/>
        </p:nvSpPr>
        <p:spPr>
          <a:xfrm xmlns:a="http://schemas.openxmlformats.org/drawingml/2006/main">
            <a:off x="91249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label one constraint and one unknown without guessing.</a:t>
            </a:r>
          </a:p>
        </p:txBody>
      </p:sp>
      <p:sp>
        <p:nvSpPr>
          <p:cNvPr id="19" name="guided-sentence">
            <a:extLst xmlns:a="http://schemas.openxmlformats.org/drawingml/2006/main">
              <a:ext uri="{FF2B5EF4-FFF2-40B4-BE49-F238E27FC236}">
                <a16:creationId xmlns:a16="http://schemas.microsoft.com/office/drawing/2014/main" id="{3C792A88-1D23-4867-B8F3-6AD320EE8071}"/>
              </a:ext>
            </a:extLst>
          </p:cNvPr>
          <p:cNvSpPr>
            <a:spLocks xmlns:a="http://schemas.openxmlformats.org/drawingml/2006/main" noGrp="1"/>
          </p:cNvSpPr>
          <p:nvPr/>
        </p:nvSpPr>
        <p:spPr>
          <a:xfrm xmlns:a="http://schemas.openxmlformats.org/drawingml/2006/main">
            <a:off x="685800" y="539115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B84932"/>
                </a:solidFill>
              </a:defRPr>
            </a:pPr>
            <a:r>
              <a:rPr sz="1500" b="1">
                <a:solidFill>
                  <a:srgbClr val="B84932"/>
                </a:solidFill>
              </a:rPr>
              <a:t>Sentence support: The strongest evidence is ___ because ___. This means ___. Before practical work, ___ still needs teacher confirmation.</a:t>
            </a:r>
          </a:p>
        </p:txBody>
      </p:sp>
      <p:sp>
        <p:nvSpPr>
          <p:cNvPr id="20" name="footer-rule-7">
            <a:extLst xmlns:a="http://schemas.openxmlformats.org/drawingml/2006/main">
              <a:ext uri="{FF2B5EF4-FFF2-40B4-BE49-F238E27FC236}">
                <a16:creationId xmlns:a16="http://schemas.microsoft.com/office/drawing/2014/main" id="{ADDEB4FD-D3C7-4CF7-BA68-454C65BE52A5}"/>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21" name="footer-label-7">
            <a:extLst xmlns:a="http://schemas.openxmlformats.org/drawingml/2006/main">
              <a:ext uri="{FF2B5EF4-FFF2-40B4-BE49-F238E27FC236}">
                <a16:creationId xmlns:a16="http://schemas.microsoft.com/office/drawing/2014/main" id="{FFD04963-1840-464D-891D-A2459E15BB88}"/>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1</a:t>
            </a:r>
          </a:p>
        </p:txBody>
      </p:sp>
      <p:sp>
        <p:nvSpPr>
          <p:cNvPr id="22" name="footer-page-7">
            <a:extLst xmlns:a="http://schemas.openxmlformats.org/drawingml/2006/main">
              <a:ext uri="{FF2B5EF4-FFF2-40B4-BE49-F238E27FC236}">
                <a16:creationId xmlns:a16="http://schemas.microsoft.com/office/drawing/2014/main" id="{4A398B4A-C0A0-4C48-A00F-3C2C528E2225}"/>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7 / 8</a:t>
            </a:r>
          </a:p>
        </p:txBody>
      </p:sp>
    </p:spTree>
    <p:extLst>
      <p:ext uri="{BB962C8B-B14F-4D97-AF65-F5344CB8AC3E}">
        <p14:creationId xmlns:p14="http://schemas.microsoft.com/office/powerpoint/2010/main" val="248345621"/>
      </p:ext>
    </p:extLst>
  </p:cSld>
</p:sld>
</file>

<file path=ppt/slides/slide8.xml><?xml version="1.0" encoding="utf-8"?>
<p:sld xmlns:p="http://schemas.openxmlformats.org/presentationml/2006/main">
  <p:cSld>
    <p:bg>
      <p:bgPr>
        <a:solidFill xmlns:a="http://schemas.openxmlformats.org/drawingml/2006/main">
          <a:srgbClr val="B84932"/>
        </a:solidFill>
      </p:bgPr>
    </p:bg>
    <p:spTree>
      <p:nvGrpSpPr>
        <p:cNvPr id="1" name=""/>
        <p:cNvGrpSpPr/>
        <p:nvPr/>
      </p:nvGrpSpPr>
      <p:grpSpPr>
        <a:xfrm xmlns:a="http://schemas.openxmlformats.org/drawingml/2006/main"/>
      </p:grpSpPr>
      <p:sp>
        <p:nvSpPr>
          <p:cNvPr id="18" name="exit-accent">
            <a:extLst xmlns:a="http://schemas.openxmlformats.org/drawingml/2006/main">
              <a:ext uri="{FF2B5EF4-FFF2-40B4-BE49-F238E27FC236}">
                <a16:creationId xmlns:a16="http://schemas.microsoft.com/office/drawing/2014/main" id="{B087CDAA-5954-4B4B-AB03-6FC21847B7FE}"/>
              </a:ext>
            </a:extLst>
          </p:cNvPr>
          <p:cNvSpPr>
            <a:spLocks xmlns:a="http://schemas.openxmlformats.org/drawingml/2006/main" noGrp="1"/>
          </p:cNvSpPr>
          <p:nvPr/>
        </p:nvSpPr>
        <p:spPr>
          <a:xfrm xmlns:a="http://schemas.openxmlformats.org/drawingml/2006/main">
            <a:off x="685800" y="533400"/>
            <a:ext cx="800100" cy="76200"/>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exit-kicker">
            <a:extLst xmlns:a="http://schemas.openxmlformats.org/drawingml/2006/main">
              <a:ext uri="{FF2B5EF4-FFF2-40B4-BE49-F238E27FC236}">
                <a16:creationId xmlns:a16="http://schemas.microsoft.com/office/drawing/2014/main" id="{3B8A3D2C-514E-4A0B-A455-94F84341CAA4}"/>
              </a:ext>
            </a:extLst>
          </p:cNvPr>
          <p:cNvSpPr>
            <a:spLocks xmlns:a="http://schemas.openxmlformats.org/drawingml/2006/main" noGrp="1"/>
          </p:cNvSpPr>
          <p:nvPr/>
        </p:nvSpPr>
        <p:spPr>
          <a:xfrm xmlns:a="http://schemas.openxmlformats.org/drawingml/2006/main">
            <a:off x="685800" y="828675"/>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E6D9"/>
                </a:solidFill>
              </a:defRPr>
            </a:pPr>
            <a:r>
              <a:rPr sz="1125" b="1">
                <a:solidFill>
                  <a:srgbClr val="FFE6D9"/>
                </a:solidFill>
              </a:rPr>
              <a:t>MODULE 1  •  EXIT EVIDENCE</a:t>
            </a:r>
          </a:p>
        </p:txBody>
      </p:sp>
      <p:sp>
        <p:nvSpPr>
          <p:cNvPr id="3" name="exit-title">
            <a:extLst xmlns:a="http://schemas.openxmlformats.org/drawingml/2006/main">
              <a:ext uri="{FF2B5EF4-FFF2-40B4-BE49-F238E27FC236}">
                <a16:creationId xmlns:a16="http://schemas.microsoft.com/office/drawing/2014/main" id="{86709FC9-D05D-49C3-B5CD-F68B3B9093EC}"/>
              </a:ext>
            </a:extLst>
          </p:cNvPr>
          <p:cNvSpPr>
            <a:spLocks xmlns:a="http://schemas.openxmlformats.org/drawingml/2006/main" noGrp="1"/>
          </p:cNvSpPr>
          <p:nvPr/>
        </p:nvSpPr>
        <p:spPr>
          <a:xfrm xmlns:a="http://schemas.openxmlformats.org/drawingml/2006/main">
            <a:off x="685800" y="1219200"/>
            <a:ext cx="714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you pack up…</a:t>
            </a:r>
          </a:p>
        </p:txBody>
      </p:sp>
      <p:sp>
        <p:nvSpPr>
          <p:cNvPr id="4" name="exit-row-1">
            <a:extLst xmlns:a="http://schemas.openxmlformats.org/drawingml/2006/main">
              <a:ext uri="{FF2B5EF4-FFF2-40B4-BE49-F238E27FC236}">
                <a16:creationId xmlns:a16="http://schemas.microsoft.com/office/drawing/2014/main" id="{F7D7D89B-18D9-4681-87B6-95D6EBDE913B}"/>
              </a:ext>
            </a:extLst>
          </p:cNvPr>
          <p:cNvSpPr>
            <a:spLocks xmlns:a="http://schemas.openxmlformats.org/drawingml/2006/main" noGrp="1"/>
          </p:cNvSpPr>
          <p:nvPr/>
        </p:nvSpPr>
        <p:spPr>
          <a:xfrm xmlns:a="http://schemas.openxmlformats.org/drawingml/2006/main">
            <a:off x="685800" y="2190750"/>
            <a:ext cx="80962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solidFill>
              <a:srgbClr val="FFFFFF"/>
            </a:solidFill>
            <a:prstDash val="solid"/>
          </a:ln>
        </p:spPr>
      </p:sp>
      <p:sp>
        <p:nvSpPr>
          <p:cNvPr id="5" name="exit-number-1">
            <a:extLst xmlns:a="http://schemas.openxmlformats.org/drawingml/2006/main">
              <a:ext uri="{FF2B5EF4-FFF2-40B4-BE49-F238E27FC236}">
                <a16:creationId xmlns:a16="http://schemas.microsoft.com/office/drawing/2014/main" id="{FD749C43-C790-4C8B-95C0-3BDCD62C6EF8}"/>
              </a:ext>
            </a:extLst>
          </p:cNvPr>
          <p:cNvSpPr>
            <a:spLocks xmlns:a="http://schemas.openxmlformats.org/drawingml/2006/main" noGrp="1"/>
          </p:cNvSpPr>
          <p:nvPr/>
        </p:nvSpPr>
        <p:spPr>
          <a:xfrm xmlns:a="http://schemas.openxmlformats.org/drawingml/2006/main">
            <a:off x="895350" y="23431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84932"/>
                </a:solidFill>
              </a:defRPr>
            </a:pPr>
            <a:r>
              <a:rPr sz="1725" b="1">
                <a:solidFill>
                  <a:srgbClr val="B84932"/>
                </a:solidFill>
              </a:rPr>
              <a:t>1</a:t>
            </a:r>
          </a:p>
        </p:txBody>
      </p:sp>
      <p:sp>
        <p:nvSpPr>
          <p:cNvPr id="6" name="exit-prompt-1">
            <a:extLst xmlns:a="http://schemas.openxmlformats.org/drawingml/2006/main">
              <a:ext uri="{FF2B5EF4-FFF2-40B4-BE49-F238E27FC236}">
                <a16:creationId xmlns:a16="http://schemas.microsoft.com/office/drawing/2014/main" id="{3F2B638E-FBB7-440C-B03F-B36490F5B105}"/>
              </a:ext>
            </a:extLst>
          </p:cNvPr>
          <p:cNvSpPr>
            <a:spLocks xmlns:a="http://schemas.openxmlformats.org/drawingml/2006/main" noGrp="1"/>
          </p:cNvSpPr>
          <p:nvPr/>
        </p:nvSpPr>
        <p:spPr>
          <a:xfrm xmlns:a="http://schemas.openxmlformats.org/drawingml/2006/main">
            <a:off x="1466850" y="2333625"/>
            <a:ext cx="699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One idea I can now explain is…</a:t>
            </a:r>
          </a:p>
        </p:txBody>
      </p:sp>
      <p:sp>
        <p:nvSpPr>
          <p:cNvPr id="7" name="exit-row-2">
            <a:extLst xmlns:a="http://schemas.openxmlformats.org/drawingml/2006/main">
              <a:ext uri="{FF2B5EF4-FFF2-40B4-BE49-F238E27FC236}">
                <a16:creationId xmlns:a16="http://schemas.microsoft.com/office/drawing/2014/main" id="{8E28AEDD-6786-4F16-BCB8-2FBB8F9D484B}"/>
              </a:ext>
            </a:extLst>
          </p:cNvPr>
          <p:cNvSpPr>
            <a:spLocks xmlns:a="http://schemas.openxmlformats.org/drawingml/2006/main" noGrp="1"/>
          </p:cNvSpPr>
          <p:nvPr/>
        </p:nvSpPr>
        <p:spPr>
          <a:xfrm xmlns:a="http://schemas.openxmlformats.org/drawingml/2006/main">
            <a:off x="685800" y="3086100"/>
            <a:ext cx="80962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solidFill>
              <a:srgbClr val="FFFFFF"/>
            </a:solidFill>
            <a:prstDash val="solid"/>
          </a:ln>
        </p:spPr>
      </p:sp>
      <p:sp>
        <p:nvSpPr>
          <p:cNvPr id="8" name="exit-number-2">
            <a:extLst xmlns:a="http://schemas.openxmlformats.org/drawingml/2006/main">
              <a:ext uri="{FF2B5EF4-FFF2-40B4-BE49-F238E27FC236}">
                <a16:creationId xmlns:a16="http://schemas.microsoft.com/office/drawing/2014/main" id="{CFA9E0D0-2A34-49E1-9230-51130D5DDAE6}"/>
              </a:ext>
            </a:extLst>
          </p:cNvPr>
          <p:cNvSpPr>
            <a:spLocks xmlns:a="http://schemas.openxmlformats.org/drawingml/2006/main" noGrp="1"/>
          </p:cNvSpPr>
          <p:nvPr/>
        </p:nvSpPr>
        <p:spPr>
          <a:xfrm xmlns:a="http://schemas.openxmlformats.org/drawingml/2006/main">
            <a:off x="895350" y="32385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84932"/>
                </a:solidFill>
              </a:defRPr>
            </a:pPr>
            <a:r>
              <a:rPr sz="1725" b="1">
                <a:solidFill>
                  <a:srgbClr val="B84932"/>
                </a:solidFill>
              </a:rPr>
              <a:t>2</a:t>
            </a:r>
          </a:p>
        </p:txBody>
      </p:sp>
      <p:sp>
        <p:nvSpPr>
          <p:cNvPr id="9" name="exit-prompt-2">
            <a:extLst xmlns:a="http://schemas.openxmlformats.org/drawingml/2006/main">
              <a:ext uri="{FF2B5EF4-FFF2-40B4-BE49-F238E27FC236}">
                <a16:creationId xmlns:a16="http://schemas.microsoft.com/office/drawing/2014/main" id="{E4288369-E9C0-486B-A160-E2CFAD2E7182}"/>
              </a:ext>
            </a:extLst>
          </p:cNvPr>
          <p:cNvSpPr>
            <a:spLocks xmlns:a="http://schemas.openxmlformats.org/drawingml/2006/main" noGrp="1"/>
          </p:cNvSpPr>
          <p:nvPr/>
        </p:nvSpPr>
        <p:spPr>
          <a:xfrm xmlns:a="http://schemas.openxmlformats.org/drawingml/2006/main">
            <a:off x="1466850" y="3228975"/>
            <a:ext cx="699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One design or production decision this changes is…</a:t>
            </a:r>
          </a:p>
        </p:txBody>
      </p:sp>
      <p:sp>
        <p:nvSpPr>
          <p:cNvPr id="10" name="exit-row-3">
            <a:extLst xmlns:a="http://schemas.openxmlformats.org/drawingml/2006/main">
              <a:ext uri="{FF2B5EF4-FFF2-40B4-BE49-F238E27FC236}">
                <a16:creationId xmlns:a16="http://schemas.microsoft.com/office/drawing/2014/main" id="{4E387562-3B56-4127-8286-C333C854D043}"/>
              </a:ext>
            </a:extLst>
          </p:cNvPr>
          <p:cNvSpPr>
            <a:spLocks xmlns:a="http://schemas.openxmlformats.org/drawingml/2006/main" noGrp="1"/>
          </p:cNvSpPr>
          <p:nvPr/>
        </p:nvSpPr>
        <p:spPr>
          <a:xfrm xmlns:a="http://schemas.openxmlformats.org/drawingml/2006/main">
            <a:off x="685800" y="3981450"/>
            <a:ext cx="80962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solidFill>
              <a:srgbClr val="FFFFFF"/>
            </a:solidFill>
            <a:prstDash val="solid"/>
          </a:ln>
        </p:spPr>
      </p:sp>
      <p:sp>
        <p:nvSpPr>
          <p:cNvPr id="11" name="exit-number-3">
            <a:extLst xmlns:a="http://schemas.openxmlformats.org/drawingml/2006/main">
              <a:ext uri="{FF2B5EF4-FFF2-40B4-BE49-F238E27FC236}">
                <a16:creationId xmlns:a16="http://schemas.microsoft.com/office/drawing/2014/main" id="{0DA99708-58A2-4D7D-B09F-F2E946DFB66D}"/>
              </a:ext>
            </a:extLst>
          </p:cNvPr>
          <p:cNvSpPr>
            <a:spLocks xmlns:a="http://schemas.openxmlformats.org/drawingml/2006/main" noGrp="1"/>
          </p:cNvSpPr>
          <p:nvPr/>
        </p:nvSpPr>
        <p:spPr>
          <a:xfrm xmlns:a="http://schemas.openxmlformats.org/drawingml/2006/main">
            <a:off x="895350" y="41338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84932"/>
                </a:solidFill>
              </a:defRPr>
            </a:pPr>
            <a:r>
              <a:rPr sz="1725" b="1">
                <a:solidFill>
                  <a:srgbClr val="B84932"/>
                </a:solidFill>
              </a:rPr>
              <a:t>3</a:t>
            </a:r>
          </a:p>
        </p:txBody>
      </p:sp>
      <p:sp>
        <p:nvSpPr>
          <p:cNvPr id="12" name="exit-prompt-3">
            <a:extLst xmlns:a="http://schemas.openxmlformats.org/drawingml/2006/main">
              <a:ext uri="{FF2B5EF4-FFF2-40B4-BE49-F238E27FC236}">
                <a16:creationId xmlns:a16="http://schemas.microsoft.com/office/drawing/2014/main" id="{81126D07-4169-4762-A174-DB5327A14413}"/>
              </a:ext>
            </a:extLst>
          </p:cNvPr>
          <p:cNvSpPr>
            <a:spLocks xmlns:a="http://schemas.openxmlformats.org/drawingml/2006/main" noGrp="1"/>
          </p:cNvSpPr>
          <p:nvPr/>
        </p:nvSpPr>
        <p:spPr>
          <a:xfrm xmlns:a="http://schemas.openxmlformats.org/drawingml/2006/main">
            <a:off x="1466850" y="4124325"/>
            <a:ext cx="699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One question I still need answered is…</a:t>
            </a:r>
          </a:p>
        </p:txBody>
      </p:sp>
      <p:sp>
        <p:nvSpPr>
          <p:cNvPr id="13" name="exit-evidence-circle">
            <a:extLst xmlns:a="http://schemas.openxmlformats.org/drawingml/2006/main">
              <a:ext uri="{FF2B5EF4-FFF2-40B4-BE49-F238E27FC236}">
                <a16:creationId xmlns:a16="http://schemas.microsoft.com/office/drawing/2014/main" id="{BA24116D-C3AD-4FE2-A89D-8BE7F9DE62C1}"/>
              </a:ext>
            </a:extLst>
          </p:cNvPr>
          <p:cNvSpPr>
            <a:spLocks xmlns:a="http://schemas.openxmlformats.org/drawingml/2006/main" noGrp="1"/>
          </p:cNvSpPr>
          <p:nvPr/>
        </p:nvSpPr>
        <p:spPr>
          <a:xfrm xmlns:a="http://schemas.openxmlformats.org/drawingml/2006/main">
            <a:off x="9525000" y="2476500"/>
            <a:ext cx="1600200" cy="16002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4" name="exit-evidence-label">
            <a:extLst xmlns:a="http://schemas.openxmlformats.org/drawingml/2006/main">
              <a:ext uri="{FF2B5EF4-FFF2-40B4-BE49-F238E27FC236}">
                <a16:creationId xmlns:a16="http://schemas.microsoft.com/office/drawing/2014/main" id="{D60AD132-6B6C-49CA-9F73-1E8B7CE8596C}"/>
              </a:ext>
            </a:extLst>
          </p:cNvPr>
          <p:cNvSpPr>
            <a:spLocks xmlns:a="http://schemas.openxmlformats.org/drawingml/2006/main" noGrp="1"/>
          </p:cNvSpPr>
          <p:nvPr/>
        </p:nvSpPr>
        <p:spPr>
          <a:xfrm xmlns:a="http://schemas.openxmlformats.org/drawingml/2006/main">
            <a:off x="9744075" y="2819400"/>
            <a:ext cx="11620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13F30"/>
                </a:solidFill>
              </a:defRPr>
            </a:pPr>
            <a:r>
              <a:rPr sz="1725" b="1">
                <a:solidFill>
                  <a:srgbClr val="113F30"/>
                </a:solidFill>
              </a:rPr>
              <a:t>SAVE</a:t>
            </a:r>
          </a:p>
          <a:p xmlns:a="http://schemas.openxmlformats.org/drawingml/2006/main">
            <a:pPr algn="ctr">
              <a:defRPr sz="1725" b="1">
                <a:solidFill>
                  <a:srgbClr val="113F30"/>
                </a:solidFill>
              </a:defRPr>
            </a:pPr>
            <a:r>
              <a:rPr sz="1725" b="1">
                <a:solidFill>
                  <a:srgbClr val="113F30"/>
                </a:solidFill>
              </a:rPr>
              <a:t>YOUR</a:t>
            </a:r>
          </a:p>
          <a:p xmlns:a="http://schemas.openxmlformats.org/drawingml/2006/main">
            <a:pPr algn="ctr">
              <a:defRPr sz="1725" b="1">
                <a:solidFill>
                  <a:srgbClr val="113F30"/>
                </a:solidFill>
              </a:defRPr>
            </a:pPr>
            <a:r>
              <a:rPr sz="1725" b="1">
                <a:solidFill>
                  <a:srgbClr val="113F30"/>
                </a:solidFill>
              </a:rPr>
              <a:t>EVIDENCE</a:t>
            </a:r>
          </a:p>
        </p:txBody>
      </p:sp>
      <p:sp>
        <p:nvSpPr>
          <p:cNvPr id="15" name="exit-folio">
            <a:extLst xmlns:a="http://schemas.openxmlformats.org/drawingml/2006/main">
              <a:ext uri="{FF2B5EF4-FFF2-40B4-BE49-F238E27FC236}">
                <a16:creationId xmlns:a16="http://schemas.microsoft.com/office/drawing/2014/main" id="{A8EB42FA-D89B-48EA-BD94-C0380DFAE360}"/>
              </a:ext>
            </a:extLst>
          </p:cNvPr>
          <p:cNvSpPr>
            <a:spLocks xmlns:a="http://schemas.openxmlformats.org/drawingml/2006/main" noGrp="1"/>
          </p:cNvSpPr>
          <p:nvPr/>
        </p:nvSpPr>
        <p:spPr>
          <a:xfrm xmlns:a="http://schemas.openxmlformats.org/drawingml/2006/main">
            <a:off x="685800" y="5210175"/>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My folio cards 1–3: Design brief and context; Product research; Criteria and constraints.</a:t>
            </a:r>
          </a:p>
        </p:txBody>
      </p:sp>
      <p:sp>
        <p:nvSpPr>
          <p:cNvPr id="16" name="exit-next">
            <a:extLst xmlns:a="http://schemas.openxmlformats.org/drawingml/2006/main">
              <a:ext uri="{FF2B5EF4-FFF2-40B4-BE49-F238E27FC236}">
                <a16:creationId xmlns:a16="http://schemas.microsoft.com/office/drawing/2014/main" id="{00C46096-7A9E-47C6-8197-271EE2045155}"/>
              </a:ext>
            </a:extLst>
          </p:cNvPr>
          <p:cNvSpPr>
            <a:spLocks xmlns:a="http://schemas.openxmlformats.org/drawingml/2006/main" noGrp="1"/>
          </p:cNvSpPr>
          <p:nvPr/>
        </p:nvSpPr>
        <p:spPr>
          <a:xfrm xmlns:a="http://schemas.openxmlformats.org/drawingml/2006/main">
            <a:off x="685800" y="5810250"/>
            <a:ext cx="1043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E6D9"/>
                </a:solidFill>
              </a:defRPr>
            </a:pPr>
            <a:r>
              <a:rPr sz="1425" b="0">
                <a:solidFill>
                  <a:srgbClr val="FFE6D9"/>
                </a:solidFill>
              </a:rPr>
              <a:t>Next: communicate the chosen direction with clean, reviewable Onshape design evidence.</a:t>
            </a:r>
          </a:p>
        </p:txBody>
      </p:sp>
      <p:sp>
        <p:nvSpPr>
          <p:cNvPr id="17" name="exit-page">
            <a:extLst xmlns:a="http://schemas.openxmlformats.org/drawingml/2006/main">
              <a:ext uri="{FF2B5EF4-FFF2-40B4-BE49-F238E27FC236}">
                <a16:creationId xmlns:a16="http://schemas.microsoft.com/office/drawing/2014/main" id="{296D9E8A-3B41-43DA-87BD-F7003EC042C4}"/>
              </a:ext>
            </a:extLst>
          </p:cNvPr>
          <p:cNvSpPr>
            <a:spLocks xmlns:a="http://schemas.openxmlformats.org/drawingml/2006/main" noGrp="1"/>
          </p:cNvSpPr>
          <p:nvPr/>
        </p:nvSpPr>
        <p:spPr>
          <a:xfrm xmlns:a="http://schemas.openxmlformats.org/drawingml/2006/main">
            <a:off x="10744200" y="641985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FE6D9"/>
                </a:solidFill>
              </a:defRPr>
            </a:pPr>
            <a:r>
              <a:rPr sz="900" b="1">
                <a:solidFill>
                  <a:srgbClr val="FFE6D9"/>
                </a:solidFill>
              </a:rPr>
              <a:t>8 / 8</a:t>
            </a:r>
          </a:p>
        </p:txBody>
      </p:sp>
    </p:spTree>
    <p:extLst>
      <p:ext uri="{BB962C8B-B14F-4D97-AF65-F5344CB8AC3E}">
        <p14:creationId xmlns:p14="http://schemas.microsoft.com/office/powerpoint/2010/main" val="17469231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2026-08-31T23:37:06.4750000Z</dcterms:created>
  <dcterms:modified xsi:type="dcterms:W3CDTF">2026-08-31T23:37:06.4750000Z</dcterms:modified>
</coreProperties>
</file>