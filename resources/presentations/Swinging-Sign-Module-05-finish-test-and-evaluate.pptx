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33a77efd9e455c" /><Relationship Type="http://schemas.openxmlformats.org/officeDocument/2006/relationships/extended-properties" Target="/docProps/app.xml" Id="Rf14e706db45e4f3e" /><Relationship Type="http://schemas.openxmlformats.org/officeDocument/2006/relationships/officeDocument" Target="/ppt/presentation.xml" Id="Rcb603179577743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e02cd4c7c94b69"/>
  </p:sldMasterIdLst>
  <p:notesMasterIdLst>
    <p:notesMasterId xmlns:r="http://schemas.openxmlformats.org/officeDocument/2006/relationships" r:id="R59a41a7b4bf143a0"/>
  </p:notesMasterIdLst>
  <p:sldIdLst>
    <p:sldId xmlns:r="http://schemas.openxmlformats.org/officeDocument/2006/relationships" id="256" r:id="R9db73cb8134a4caf"/>
    <p:sldId xmlns:r="http://schemas.openxmlformats.org/officeDocument/2006/relationships" id="257" r:id="R985d485ef1fe45c7"/>
    <p:sldId xmlns:r="http://schemas.openxmlformats.org/officeDocument/2006/relationships" id="258" r:id="Ra2727235b9ae43e1"/>
    <p:sldId xmlns:r="http://schemas.openxmlformats.org/officeDocument/2006/relationships" id="259" r:id="R0112e2a6b9b74187"/>
    <p:sldId xmlns:r="http://schemas.openxmlformats.org/officeDocument/2006/relationships" id="260" r:id="R479274209f484831"/>
    <p:sldId xmlns:r="http://schemas.openxmlformats.org/officeDocument/2006/relationships" id="261" r:id="R25c0059288654c2e"/>
    <p:sldId xmlns:r="http://schemas.openxmlformats.org/officeDocument/2006/relationships" id="262" r:id="R80e2e71196e5463e"/>
    <p:sldId xmlns:r="http://schemas.openxmlformats.org/officeDocument/2006/relationships" id="263" r:id="R306075e70d4447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eb5b72c1de4ac4" /><Relationship Type="http://schemas.openxmlformats.org/officeDocument/2006/relationships/slideMaster" Target="/ppt/slideMasters/slideMaster1.xml" Id="R5ce02cd4c7c94b69" /><Relationship Type="http://schemas.openxmlformats.org/officeDocument/2006/relationships/notesMaster" Target="/ppt/notesMasters/notesMaster1.xml" Id="R59a41a7b4bf143a0" /><Relationship Type="http://schemas.openxmlformats.org/officeDocument/2006/relationships/presProps" Target="/ppt/presProps.xml" Id="Rb0c0c29e4982437b" /><Relationship Type="http://schemas.openxmlformats.org/officeDocument/2006/relationships/tableStyles" Target="/ppt/tableStyles.xml" Id="R0f32f5732e5f4e51" /><Relationship Type="http://schemas.openxmlformats.org/officeDocument/2006/relationships/slide" Target="/ppt/slides/slide1.xml" Id="R9db73cb8134a4caf" /><Relationship Type="http://schemas.openxmlformats.org/officeDocument/2006/relationships/slide" Target="/ppt/slides/slide2.xml" Id="R985d485ef1fe45c7" /><Relationship Type="http://schemas.openxmlformats.org/officeDocument/2006/relationships/slide" Target="/ppt/slides/slide3.xml" Id="Ra2727235b9ae43e1" /><Relationship Type="http://schemas.openxmlformats.org/officeDocument/2006/relationships/slide" Target="/ppt/slides/slide4.xml" Id="R0112e2a6b9b74187" /><Relationship Type="http://schemas.openxmlformats.org/officeDocument/2006/relationships/slide" Target="/ppt/slides/slide5.xml" Id="R479274209f484831" /><Relationship Type="http://schemas.openxmlformats.org/officeDocument/2006/relationships/slide" Target="/ppt/slides/slide6.xml" Id="R25c0059288654c2e" /><Relationship Type="http://schemas.openxmlformats.org/officeDocument/2006/relationships/slide" Target="/ppt/slides/slide7.xml" Id="R80e2e71196e5463e" /><Relationship Type="http://schemas.openxmlformats.org/officeDocument/2006/relationships/slide" Target="/ppt/slides/slide8.xml" Id="R306075e70d4447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b39bd9b87a48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adf7179d144ebd" /><Relationship Type="http://schemas.openxmlformats.org/officeDocument/2006/relationships/notesMaster" Target="/ppt/notesMasters/notesMaster1.xml" Id="R2cd0e757b3134b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87fe06fbda4ed7" /><Relationship Type="http://schemas.openxmlformats.org/officeDocument/2006/relationships/notesMaster" Target="/ppt/notesMasters/notesMaster1.xml" Id="R0abd28a056a340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6ff6ba605e4416" /><Relationship Type="http://schemas.openxmlformats.org/officeDocument/2006/relationships/notesMaster" Target="/ppt/notesMasters/notesMaster1.xml" Id="R0d3790c560ad43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d34fe01b784589" /><Relationship Type="http://schemas.openxmlformats.org/officeDocument/2006/relationships/notesMaster" Target="/ppt/notesMasters/notesMaster1.xml" Id="R52a73527d69541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5cf052a2b143ec" /><Relationship Type="http://schemas.openxmlformats.org/officeDocument/2006/relationships/notesMaster" Target="/ppt/notesMasters/notesMaster1.xml" Id="Rcff36dd167634b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a6edf5a0714bc7" /><Relationship Type="http://schemas.openxmlformats.org/officeDocument/2006/relationships/notesMaster" Target="/ppt/notesMasters/notesMaster1.xml" Id="R03adc795e52d4a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11c1a634404689" /><Relationship Type="http://schemas.openxmlformats.org/officeDocument/2006/relationships/notesMaster" Target="/ppt/notesMasters/notesMaster1.xml" Id="R9575ba0be4554c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96e9b3800b43ff" /><Relationship Type="http://schemas.openxmlformats.org/officeDocument/2006/relationships/notesMaster" Target="/ppt/notesMasters/notesMaster1.xml" Id="R6c3c855d95524f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establish why Module 5 matters and connect it to the student's approved project pathway.</a:t>
            </a:r>
          </a:p>
          <a:p xmlns:a="http://schemas.openxmlformats.org/drawingml/2006/main">
            <a:r>
              <a:t>Say: Connect finish, approved use testing and evaluation so the final result can be judged and improved responsibly.</a:t>
            </a:r>
          </a:p>
          <a:p xmlns:a="http://schemas.openxmlformats.org/drawingml/2006/main">
            <a:r>
              <a:t>Prompt: Which word in the outcome names the decision students will make or explain?</a:t>
            </a:r>
          </a:p>
          <a:p xmlns:a="http://schemas.openxmlformats.org/drawingml/2006/main">
            <a:r>
              <a:t>Transition: The next slide maps the three ideas that build that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procedure boundary: This deck teaches design and production thinking only. Before any practical action, follow the current teacher-approved plan, demonstration, risk controls, materials, tools, process and authorisation.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NSW Curriculum, Technology 7–8 (2023), overview: https://curriculum.nsw.edu.au/learning-areas/tas/technology-7-8-2023/overview/course</a:t>
            </a:r>
          </a:p>
          <a:p xmlns:a="http://schemas.openxmlformats.org/drawingml/2006/main">
            <a:r>
              <a:t>- NSW Curriculum, Technology 7–8 (2023), outcomes: https://curriculum.nsw.edu.au/learning-areas/tas/technology-7-8-2023/outcomes</a:t>
            </a:r>
          </a:p>
          <a:p xmlns:a="http://schemas.openxmlformats.org/drawingml/2006/main">
            <a:r>
              <a:t>- NSW Curriculum, Technology 7–8 (2023), Stage 4 content: https://curriculum.nsw.edu.au/learning-areas/tas/technology-7-8-2023/content/stage-4/fadc5a8620</a:t>
            </a:r>
          </a:p>
          <a:p xmlns:a="http://schemas.openxmlformats.org/drawingml/2006/main">
            <a:r>
              <a:t>- Teacher-authored five-week unit guide supplied privately for this build; no private link embedded.</a:t>
            </a:r>
          </a:p>
          <a:p xmlns:a="http://schemas.openxmlformats.org/drawingml/2006/main">
            <a:r>
              <a:t>- Original generated course visual: outputs/swinging-sign-course-site/assets/teaching/module-05-overview.png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preview the three named sections as one connected learning progression.</a:t>
            </a:r>
          </a:p>
          <a:p xmlns:a="http://schemas.openxmlformats.org/drawingml/2006/main">
            <a:r>
              <a:t>Warm-up prompt: Retrieval: what makes quality evidence stronger than a personal opinion?</a:t>
            </a:r>
          </a:p>
          <a:p xmlns:a="http://schemas.openxmlformats.org/drawingml/2006/main">
            <a:r>
              <a:t>Invite a silent answer first, then take two contrasting responses. Do not resolve every detail yet.</a:t>
            </a:r>
          </a:p>
          <a:p xmlns:a="http://schemas.openxmlformats.org/drawingml/2006/main">
            <a:r>
              <a:t>Transition: Move from the route map into the first idea and ask students to listen for evidence they can reuse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procedure boundary: This deck teaches design and production thinking only. Before any practical action, follow the current teacher-approved plan, demonstration, risk controls, materials, tools, process and authorisation.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NSW Curriculum, Technology 7–8 (2023), overview: https://curriculum.nsw.edu.au/learning-areas/tas/technology-7-8-2023/overview/course</a:t>
            </a:r>
          </a:p>
          <a:p xmlns:a="http://schemas.openxmlformats.org/drawingml/2006/main">
            <a:r>
              <a:t>- NSW Curriculum, Technology 7–8 (2023), outcomes: https://curriculum.nsw.edu.au/learning-areas/tas/technology-7-8-2023/outcomes</a:t>
            </a:r>
          </a:p>
          <a:p xmlns:a="http://schemas.openxmlformats.org/drawingml/2006/main">
            <a:r>
              <a:t>- NSW Curriculum, Technology 7–8 (2023), Stage 4 content: https://curriculum.nsw.edu.au/learning-areas/tas/technology-7-8-2023/content/stage-4/fadc5a8620</a:t>
            </a:r>
          </a:p>
          <a:p xmlns:a="http://schemas.openxmlformats.org/drawingml/2006/main">
            <a:r>
              <a:t>- Teacher-authored five-week unit guide supplied privately for this build; no private link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teach surface preparation and coatings as part of the module's connected decision-making sequence.</a:t>
            </a:r>
          </a:p>
          <a:p xmlns:a="http://schemas.openxmlformats.org/drawingml/2006/main">
            <a:r>
              <a:t>Key explanation: The substrate, approved preparation, primer, topcoat, environment and curing time work as one finish system. Each layer has a purpose. Compatibility and surface condition affect adhesion, appearance and service performance. Judge the finish against confirmed criteria; never substitute an unapproved product or application method.</a:t>
            </a:r>
          </a:p>
          <a:p xmlns:a="http://schemas.openxmlformats.org/drawingml/2006/main">
            <a:r>
              <a:t>Prompt to the room: Explain what evidence would show that a finish system meets both appearance and service needs.</a:t>
            </a:r>
          </a:p>
          <a:p xmlns:a="http://schemas.openxmlformats.org/drawingml/2006/main">
            <a:r>
              <a:t>Likely misconception: Finishing is more than colour, and products are not interchangeable.</a:t>
            </a:r>
          </a:p>
          <a:p xmlns:a="http://schemas.openxmlformats.org/drawingml/2006/main">
            <a:r>
              <a:t>Transition: Ask students to keep one precise term or relationship for the retrieval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procedure boundary: The teacher confirms every coating product, preparation method, application step, environment and curing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NSW Curriculum, Technology 7–8 (2023), overview: https://curriculum.nsw.edu.au/learning-areas/tas/technology-7-8-2023/overview/course</a:t>
            </a:r>
          </a:p>
          <a:p xmlns:a="http://schemas.openxmlformats.org/drawingml/2006/main">
            <a:r>
              <a:t>- NSW Curriculum, Technology 7–8 (2023), outcomes: https://curriculum.nsw.edu.au/learning-areas/tas/technology-7-8-2023/outcomes</a:t>
            </a:r>
          </a:p>
          <a:p xmlns:a="http://schemas.openxmlformats.org/drawingml/2006/main">
            <a:r>
              <a:t>- NSW Curriculum, Technology 7–8 (2023), Stage 4 content: https://curriculum.nsw.edu.au/learning-areas/tas/technology-7-8-2023/content/stage-4/fadc5a8620</a:t>
            </a:r>
          </a:p>
          <a:p xmlns:a="http://schemas.openxmlformats.org/drawingml/2006/main">
            <a:r>
              <a:t>- Teacher-authored five-week unit guide supplied privately for this build; no private link embedded.</a:t>
            </a:r>
          </a:p>
          <a:p xmlns:a="http://schemas.openxmlformats.org/drawingml/2006/main">
            <a:r>
              <a:t>- Original generated course visual: outputs/swinging-sign-course-site/assets/teaching/m05s01-surface-preparation-coatings.png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teach hanging, stability and use as part of the module's connected decision-making sequence.</a:t>
            </a:r>
          </a:p>
          <a:p xmlns:a="http://schemas.openxmlformats.org/drawingml/2006/main">
            <a:r>
              <a:t>Key explanation: A hanging system includes the product, every connection, the support and the conditions in which it will be used. A load path explains how effects travel through the system. Looking level once does not prove capacity or long-term suitability. Use only teacher-approved test criteria and installation decisions for the actual context.</a:t>
            </a:r>
          </a:p>
          <a:p xmlns:a="http://schemas.openxmlformats.org/drawingml/2006/main">
            <a:r>
              <a:t>Prompt to the room: Trace the system from product to support and name the evidence needed before approved use.</a:t>
            </a:r>
          </a:p>
          <a:p xmlns:a="http://schemas.openxmlformats.org/drawingml/2006/main">
            <a:r>
              <a:t>Likely misconception: One successful hold does not prove a safe load or installation.</a:t>
            </a:r>
          </a:p>
          <a:p xmlns:a="http://schemas.openxmlformats.org/drawingml/2006/main">
            <a:r>
              <a:t>Transition: Ask students to keep one precise term or relationship for the retrieval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procedure boundary: Loads, supports, installation and testing are teacher-controlled. Pot-holder stability and loading remain Teacher to confirm.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NSW Curriculum, Technology 7–8 (2023), overview: https://curriculum.nsw.edu.au/learning-areas/tas/technology-7-8-2023/overview/course</a:t>
            </a:r>
          </a:p>
          <a:p xmlns:a="http://schemas.openxmlformats.org/drawingml/2006/main">
            <a:r>
              <a:t>- NSW Curriculum, Technology 7–8 (2023), outcomes: https://curriculum.nsw.edu.au/learning-areas/tas/technology-7-8-2023/outcomes</a:t>
            </a:r>
          </a:p>
          <a:p xmlns:a="http://schemas.openxmlformats.org/drawingml/2006/main">
            <a:r>
              <a:t>- NSW Curriculum, Technology 7–8 (2023), Stage 4 content: https://curriculum.nsw.edu.au/learning-areas/tas/technology-7-8-2023/content/stage-4/fadc5a8620</a:t>
            </a:r>
          </a:p>
          <a:p xmlns:a="http://schemas.openxmlformats.org/drawingml/2006/main">
            <a:r>
              <a:t>- Teacher-authored five-week unit guide supplied privately for this build; no private link embedded.</a:t>
            </a:r>
          </a:p>
          <a:p xmlns:a="http://schemas.openxmlformats.org/drawingml/2006/main">
            <a:r>
              <a:t>- Original generated course visual: outputs/swinging-sign-course-site/assets/teaching/m05s02-hanging-stability-use.png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teach evaluate, feedback and improve as part of the module's connected decision-making sequence.</a:t>
            </a:r>
          </a:p>
          <a:p xmlns:a="http://schemas.openxmlformats.org/drawingml/2006/main">
            <a:r>
              <a:t>Key explanation: A balanced evaluation judges the result against confirmed criteria using specific evidence, not preference alone. Feedback must be interpreted: decide whether it is relevant, reliable and connected to the user's need. A useful improvement names the change, reason, expected benefit and evidence that would show it worked.</a:t>
            </a:r>
          </a:p>
          <a:p xmlns:a="http://schemas.openxmlformats.org/drawingml/2006/main">
            <a:r>
              <a:t>Prompt to the room: Choose one high-priority improvement and justify why it matters more than the alternatives.</a:t>
            </a:r>
          </a:p>
          <a:p xmlns:a="http://schemas.openxmlformats.org/drawingml/2006/main">
            <a:r>
              <a:t>Likely misconception: Evaluation is not a list of faults or a statement of whether you liked the product.</a:t>
            </a:r>
          </a:p>
          <a:p xmlns:a="http://schemas.openxmlformats.org/drawingml/2006/main">
            <a:r>
              <a:t>Transition: Ask students to keep one precise term or relationship for the retrieval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procedure boundary: Formal marks, due dates, weightings and submission requirements come only from the official teacher-issued task notice.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NSW Curriculum, Technology 7–8 (2023), overview: https://curriculum.nsw.edu.au/learning-areas/tas/technology-7-8-2023/overview/course</a:t>
            </a:r>
          </a:p>
          <a:p xmlns:a="http://schemas.openxmlformats.org/drawingml/2006/main">
            <a:r>
              <a:t>- NSW Curriculum, Technology 7–8 (2023), outcomes: https://curriculum.nsw.edu.au/learning-areas/tas/technology-7-8-2023/outcomes</a:t>
            </a:r>
          </a:p>
          <a:p xmlns:a="http://schemas.openxmlformats.org/drawingml/2006/main">
            <a:r>
              <a:t>- NSW Curriculum, Technology 7–8 (2023), Stage 4 content: https://curriculum.nsw.edu.au/learning-areas/tas/technology-7-8-2023/content/stage-4/fadc5a8620</a:t>
            </a:r>
          </a:p>
          <a:p xmlns:a="http://schemas.openxmlformats.org/drawingml/2006/main">
            <a:r>
              <a:t>- Teacher-authored five-week unit guide supplied privately for this build; no private link embedded.</a:t>
            </a:r>
          </a:p>
          <a:p xmlns:a="http://schemas.openxmlformats.org/drawingml/2006/main">
            <a:r>
              <a:t>- Original generated course visual: outputs/swinging-sign-course-site/assets/teaching/m05s03-evaluate-feedback-improve.png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retrieve all three taught ideas before students construct a longer response.</a:t>
            </a:r>
          </a:p>
          <a:p xmlns:a="http://schemas.openxmlformats.org/drawingml/2006/main">
            <a:r>
              <a:t>Routine: 45 seconds silent thinking, one partner explanation, then sample reasoning from the room.</a:t>
            </a:r>
          </a:p>
          <a:p xmlns:a="http://schemas.openxmlformats.org/drawingml/2006/main">
            <a:r>
              <a:t>Question 1: Why is a finish described as a system?</a:t>
            </a:r>
          </a:p>
          <a:p xmlns:a="http://schemas.openxmlformats.org/drawingml/2006/main">
            <a:r>
              <a:t>Question 2: What belongs in a hanging product's load path?</a:t>
            </a:r>
          </a:p>
          <a:p xmlns:a="http://schemas.openxmlformats.org/drawingml/2006/main">
            <a:r>
              <a:t>Question 3: What can one successful hold prove — and not prove?</a:t>
            </a:r>
          </a:p>
          <a:p xmlns:a="http://schemas.openxmlformats.org/drawingml/2006/main">
            <a:r>
              <a:t>Question 4: What makes an improvement specific and testable?</a:t>
            </a:r>
          </a:p>
          <a:p xmlns:a="http://schemas.openxmlformats.org/drawingml/2006/main">
            <a:r>
              <a:t>Listen for unsupported practical claims. Redirect students to evidence and Teacher to confirm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procedure boundary: This deck teaches design and production thinking only. Before any practical action, follow the current teacher-approved plan, demonstration, risk controls, materials, tools, process and authorisation.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NSW Curriculum, Technology 7–8 (2023), overview: https://curriculum.nsw.edu.au/learning-areas/tas/technology-7-8-2023/overview/course</a:t>
            </a:r>
          </a:p>
          <a:p xmlns:a="http://schemas.openxmlformats.org/drawingml/2006/main">
            <a:r>
              <a:t>- NSW Curriculum, Technology 7–8 (2023), outcomes: https://curriculum.nsw.edu.au/learning-areas/tas/technology-7-8-2023/outcomes</a:t>
            </a:r>
          </a:p>
          <a:p xmlns:a="http://schemas.openxmlformats.org/drawingml/2006/main">
            <a:r>
              <a:t>- NSW Curriculum, Technology 7–8 (2023), Stage 4 content: https://curriculum.nsw.edu.au/learning-areas/tas/technology-7-8-2023/content/stage-4/fadc5a8620</a:t>
            </a:r>
          </a:p>
          <a:p xmlns:a="http://schemas.openxmlformats.org/drawingml/2006/main">
            <a:r>
              <a:t>- Teacher-authored five-week unit guide supplied privately for this build; no private link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scaffold a higher-order response that joins evidence from all three module sections.</a:t>
            </a:r>
          </a:p>
          <a:p xmlns:a="http://schemas.openxmlformats.org/drawingml/2006/main">
            <a:r>
              <a:t>Read the question aloud: Evaluate a completed project or teacher-provided case. Judge finish and use evidence against criteria, interpret feedback and justify one high-priority improvement.</a:t>
            </a:r>
          </a:p>
          <a:p xmlns:a="http://schemas.openxmlformats.org/drawingml/2006/main">
            <a:r>
              <a:t>Scaffold: Read: identify the confirmed criteria and available evidence. Select: choose finish, system and user evidence that is strongest. Explain: make a balanced judgement with strengths and limitations. Check: justify one testable improvement and mark missing evidence honestly.</a:t>
            </a:r>
          </a:p>
          <a:p xmlns:a="http://schemas.openxmlformats.org/drawingml/2006/main">
            <a:r>
              <a:t>Model only the first connection, then release students to complete their own explanation.</a:t>
            </a:r>
          </a:p>
          <a:p xmlns:a="http://schemas.openxmlformats.org/drawingml/2006/main">
            <a:r>
              <a:t>Success check: accurate concepts, explicit evidence, a justified decision and honest treatment of unconfirmed local 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procedure boundary: This deck teaches design and production thinking only. Before any practical action, follow the current teacher-approved plan, demonstration, risk controls, materials, tools, process and authorisation.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NSW Curriculum, Technology 7–8 (2023), overview: https://curriculum.nsw.edu.au/learning-areas/tas/technology-7-8-2023/overview/course</a:t>
            </a:r>
          </a:p>
          <a:p xmlns:a="http://schemas.openxmlformats.org/drawingml/2006/main">
            <a:r>
              <a:t>- NSW Curriculum, Technology 7–8 (2023), outcomes: https://curriculum.nsw.edu.au/learning-areas/tas/technology-7-8-2023/outcomes</a:t>
            </a:r>
          </a:p>
          <a:p xmlns:a="http://schemas.openxmlformats.org/drawingml/2006/main">
            <a:r>
              <a:t>- NSW Curriculum, Technology 7–8 (2023), Stage 4 content: https://curriculum.nsw.edu.au/learning-areas/tas/technology-7-8-2023/content/stage-4/fadc5a8620</a:t>
            </a:r>
          </a:p>
          <a:p xmlns:a="http://schemas.openxmlformats.org/drawingml/2006/main">
            <a:r>
              <a:t>- Teacher-authored five-week unit guide supplied privately for this build; no private link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convert the lesson into immediate, retrievable evidence and make the next step explicit.</a:t>
            </a:r>
          </a:p>
          <a:p xmlns:a="http://schemas.openxmlformats.org/drawingml/2006/main">
            <a:r>
              <a:t>Give students quiet time to complete all three prompts before sharing.</a:t>
            </a:r>
          </a:p>
          <a:p xmlns:a="http://schemas.openxmlformats.org/drawingml/2006/main">
            <a:r>
              <a:t>Evidence destination: My folio cards 10–12: Finish and function check; Evaluation against criteria; Feedback and future improvement.</a:t>
            </a:r>
          </a:p>
          <a:p xmlns:a="http://schemas.openxmlformats.org/drawingml/2006/main">
            <a:r>
              <a:t>Next step: Next: export a whole-course backup and follow the teacher's official submission direction.</a:t>
            </a:r>
          </a:p>
          <a:p xmlns:a="http://schemas.openxmlformats.org/drawingml/2006/main">
            <a:r>
              <a:t>Saving to the browser or exporting a folio is not formal submission. Follow the teacher's current submission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procedure boundary: This deck teaches design and production thinking only. Before any practical action, follow the current teacher-approved plan, demonstration, risk controls, materials, tools, process and authorisation.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NSW Curriculum, Technology 7–8 (2023), overview: https://curriculum.nsw.edu.au/learning-areas/tas/technology-7-8-2023/overview/course</a:t>
            </a:r>
          </a:p>
          <a:p xmlns:a="http://schemas.openxmlformats.org/drawingml/2006/main">
            <a:r>
              <a:t>- NSW Curriculum, Technology 7–8 (2023), outcomes: https://curriculum.nsw.edu.au/learning-areas/tas/technology-7-8-2023/outcomes</a:t>
            </a:r>
          </a:p>
          <a:p xmlns:a="http://schemas.openxmlformats.org/drawingml/2006/main">
            <a:r>
              <a:t>- NSW Curriculum, Technology 7–8 (2023), Stage 4 content: https://curriculum.nsw.edu.au/learning-areas/tas/technology-7-8-2023/content/stage-4/fadc5a8620</a:t>
            </a:r>
          </a:p>
          <a:p xmlns:a="http://schemas.openxmlformats.org/drawingml/2006/main">
            <a:r>
              <a:t>- Teacher-authored five-week unit guide supplied privately for this build; no private link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9cabc497c4f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4c3360fc15463b" /><Relationship Type="http://schemas.openxmlformats.org/officeDocument/2006/relationships/slideLayout" Target="/ppt/slideLayouts/slideLayout1.xml" Id="Re28b8f98786d45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8b8f98786d45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ede1ce9a14af3" /><Relationship Type="http://schemas.openxmlformats.org/officeDocument/2006/relationships/image" Target="/ppt/media/image.png" Id="Rdc69acb85d9049b4" /><Relationship Type="http://schemas.openxmlformats.org/officeDocument/2006/relationships/notesSlide" Target="/ppt/notesSlides/notesSlide1.xml" Id="R75c6924638ac40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9672f5b9748d5" /><Relationship Type="http://schemas.openxmlformats.org/officeDocument/2006/relationships/notesSlide" Target="/ppt/notesSlides/notesSlide2.xml" Id="R385ac323f82747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2a34783e649ed" /><Relationship Type="http://schemas.openxmlformats.org/officeDocument/2006/relationships/image" Target="/ppt/media/image2.png" Id="R33ad58d8f94e487a" /><Relationship Type="http://schemas.openxmlformats.org/officeDocument/2006/relationships/notesSlide" Target="/ppt/notesSlides/notesSlide3.xml" Id="R8fdf2f5a9f0b47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6ff07b819429d" /><Relationship Type="http://schemas.openxmlformats.org/officeDocument/2006/relationships/image" Target="/ppt/media/image3.png" Id="Ra65f2a63d3784db7" /><Relationship Type="http://schemas.openxmlformats.org/officeDocument/2006/relationships/notesSlide" Target="/ppt/notesSlides/notesSlide4.xml" Id="R03b006af8d3942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7cdaf7d274a5b" /><Relationship Type="http://schemas.openxmlformats.org/officeDocument/2006/relationships/image" Target="/ppt/media/image4.png" Id="Rd5d3fae03fd44d78" /><Relationship Type="http://schemas.openxmlformats.org/officeDocument/2006/relationships/notesSlide" Target="/ppt/notesSlides/notesSlide5.xml" Id="Rf29fe049092e42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1095575a54d35" /><Relationship Type="http://schemas.openxmlformats.org/officeDocument/2006/relationships/notesSlide" Target="/ppt/notesSlides/notesSlide6.xml" Id="Raa3a1041f69140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fcd80c2b9452a" /><Relationship Type="http://schemas.openxmlformats.org/officeDocument/2006/relationships/notesSlide" Target="/ppt/notesSlides/notesSlide7.xml" Id="R8e1115f05a6b42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4d100e57e4384" /><Relationship Type="http://schemas.openxmlformats.org/officeDocument/2006/relationships/notesSlide" Target="/ppt/notesSlides/notesSlide8.xml" Id="R02ed3fe3e18044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3F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9acb85d9049b4"/>
          <a:srcRect xmlns:a="http://schemas.openxmlformats.org/drawingml/2006/main" l="23345" t="0" r="233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0"/>
            <a:ext cx="6496050" cy="6858000"/>
          </a:xfrm>
          <a:prstGeom xmlns:a="http://schemas.openxmlformats.org/drawingml/2006/main" prst="roundRect">
            <a:avLst>
              <a:gd name="adj" fmla="val 2639"/>
            </a:avLst>
          </a:prstGeom>
        </p:spPr>
      </p:pic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7C4711D-3360-4713-BAB3-30178FDA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3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82D60568-2EFD-4BBF-A908-B108129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E7DE"/>
                </a:solidFill>
              </a:defRPr>
            </a:pPr>
            <a:r>
              <a:rPr sz="1200" b="1">
                <a:solidFill>
                  <a:srgbClr val="D5E7DE"/>
                </a:solidFill>
              </a:rPr>
              <a:t>MODULE 5  •  STAGE 4 TECHNOLOGY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32AA75E6-F0CD-4A3F-B6EA-F7A545E2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476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Finish, test and evaluate</a:t>
            </a:r>
          </a:p>
        </p:txBody>
      </p:sp>
      <p:sp>
        <p:nvSpPr>
          <p:cNvPr id="5" name="deck-outcome">
            <a:extLst xmlns:a="http://schemas.openxmlformats.org/drawingml/2006/main">
              <a:ext uri="{FF2B5EF4-FFF2-40B4-BE49-F238E27FC236}">
                <a16:creationId xmlns:a16="http://schemas.microsoft.com/office/drawing/2014/main" id="{F96B2C0D-9EE5-4A17-A2BB-7FFC0EE0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171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3ED"/>
                </a:solidFill>
              </a:defRPr>
            </a:pPr>
            <a:r>
              <a:rPr sz="1725" b="0">
                <a:solidFill>
                  <a:srgbClr val="E8F3ED"/>
                </a:solidFill>
              </a:rPr>
              <a:t>Connect finish, approved use testing and evaluation so the final result can be judged and improved responsibly.</a:t>
            </a:r>
          </a:p>
        </p:txBody>
      </p:sp>
      <p:sp>
        <p:nvSpPr>
          <p:cNvPr id="6" name="title-course">
            <a:extLst xmlns:a="http://schemas.openxmlformats.org/drawingml/2006/main">
              <a:ext uri="{FF2B5EF4-FFF2-40B4-BE49-F238E27FC236}">
                <a16:creationId xmlns:a16="http://schemas.microsoft.com/office/drawing/2014/main" id="{BBCA66AC-5538-483B-9D1B-F280EE1D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6CA"/>
                </a:solidFill>
              </a:defRPr>
            </a:pPr>
            <a:r>
              <a:rPr sz="1050" b="1">
                <a:solidFill>
                  <a:srgbClr val="BFD6CA"/>
                </a:solidFill>
              </a:rPr>
              <a:t>Swinging Sign  •  Materials and production processes</a:t>
            </a:r>
          </a:p>
        </p:txBody>
      </p:sp>
    </p:spTree>
    <p:extLst>
      <p:ext uri="{BB962C8B-B14F-4D97-AF65-F5344CB8AC3E}">
        <p14:creationId xmlns:p14="http://schemas.microsoft.com/office/powerpoint/2010/main" val="4677671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-2">
            <a:extLst xmlns:a="http://schemas.openxmlformats.org/drawingml/2006/main">
              <a:ext uri="{FF2B5EF4-FFF2-40B4-BE49-F238E27FC236}">
                <a16:creationId xmlns:a16="http://schemas.microsoft.com/office/drawing/2014/main" id="{9F61D979-A617-460A-8844-FE3FC76C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2" name="module-kicker-2">
            <a:extLst xmlns:a="http://schemas.openxmlformats.org/drawingml/2006/main">
              <a:ext uri="{FF2B5EF4-FFF2-40B4-BE49-F238E27FC236}">
                <a16:creationId xmlns:a16="http://schemas.microsoft.com/office/drawing/2014/main" id="{369954F2-083D-4B11-BC44-C129CA79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932"/>
                </a:solidFill>
              </a:defRPr>
            </a:pPr>
            <a:r>
              <a:rPr sz="1050" b="1">
                <a:solidFill>
                  <a:srgbClr val="B84932"/>
                </a:solidFill>
              </a:rPr>
              <a:t>MODULE 5  •  FINISH, TEST AND EVALUATE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7A00CE63-8C26-4BD6-91F1-4DECD4BD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3F30"/>
                </a:solidFill>
              </a:defRPr>
            </a:pPr>
            <a:r>
              <a:rPr sz="2850" b="1">
                <a:solidFill>
                  <a:srgbClr val="113F30"/>
                </a:solidFill>
              </a:rPr>
              <a:t>Three evidence sets turn a finished object into a defensible evaluation</a:t>
            </a:r>
          </a:p>
        </p:txBody>
      </p:sp>
      <p:sp>
        <p:nvSpPr>
          <p:cNvPr id="4" name="map-number-1">
            <a:extLst xmlns:a="http://schemas.openxmlformats.org/drawingml/2006/main">
              <a:ext uri="{FF2B5EF4-FFF2-40B4-BE49-F238E27FC236}">
                <a16:creationId xmlns:a16="http://schemas.microsoft.com/office/drawing/2014/main" id="{6F4F4C9D-45F5-49F8-ADCC-73A3A2F6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68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7AD31"/>
                </a:solidFill>
              </a:defRPr>
            </a:pPr>
            <a:r>
              <a:rPr sz="3900" b="1">
                <a:solidFill>
                  <a:srgbClr val="E7AD31"/>
                </a:solidFill>
              </a:rPr>
              <a:t>1</a:t>
            </a:r>
          </a:p>
        </p:txBody>
      </p:sp>
      <p:sp>
        <p:nvSpPr>
          <p:cNvPr id="5" name="map-title-1">
            <a:extLst xmlns:a="http://schemas.openxmlformats.org/drawingml/2006/main">
              <a:ext uri="{FF2B5EF4-FFF2-40B4-BE49-F238E27FC236}">
                <a16:creationId xmlns:a16="http://schemas.microsoft.com/office/drawing/2014/main" id="{C6E5F826-C1E0-428D-AFC4-901DB90E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95450"/>
            <a:ext cx="2524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3F30"/>
                </a:solidFill>
              </a:defRPr>
            </a:pPr>
            <a:r>
              <a:rPr sz="1875" b="1">
                <a:solidFill>
                  <a:srgbClr val="113F30"/>
                </a:solidFill>
              </a:rPr>
              <a:t>Surface preparation and coatings</a:t>
            </a:r>
          </a:p>
        </p:txBody>
      </p:sp>
      <p:sp>
        <p:nvSpPr>
          <p:cNvPr id="6" name="map-action-1">
            <a:extLst xmlns:a="http://schemas.openxmlformats.org/drawingml/2006/main">
              <a:ext uri="{FF2B5EF4-FFF2-40B4-BE49-F238E27FC236}">
                <a16:creationId xmlns:a16="http://schemas.microsoft.com/office/drawing/2014/main" id="{81D73682-09C3-4A23-B0BB-BFF6CFF8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914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A25"/>
                </a:solidFill>
              </a:defRPr>
            </a:pPr>
            <a:r>
              <a:rPr sz="1425" b="0">
                <a:solidFill>
                  <a:srgbClr val="1F2A25"/>
                </a:solidFill>
              </a:rPr>
              <a:t>Explain what evidence would show that a finish system meets both appearance and service needs.</a:t>
            </a:r>
          </a:p>
        </p:txBody>
      </p:sp>
      <p:sp>
        <p:nvSpPr>
          <p:cNvPr id="7" name="map-number-2">
            <a:extLst xmlns:a="http://schemas.openxmlformats.org/drawingml/2006/main">
              <a:ext uri="{FF2B5EF4-FFF2-40B4-BE49-F238E27FC236}">
                <a16:creationId xmlns:a16="http://schemas.microsoft.com/office/drawing/2014/main" id="{BB42D844-0EF1-405E-B806-C1ADB9AF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68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7AD31"/>
                </a:solidFill>
              </a:defRPr>
            </a:pPr>
            <a:r>
              <a:rPr sz="3900" b="1">
                <a:solidFill>
                  <a:srgbClr val="E7AD31"/>
                </a:solidFill>
              </a:rPr>
              <a:t>2</a:t>
            </a:r>
          </a:p>
        </p:txBody>
      </p:sp>
      <p:sp>
        <p:nvSpPr>
          <p:cNvPr id="8" name="map-title-2">
            <a:extLst xmlns:a="http://schemas.openxmlformats.org/drawingml/2006/main">
              <a:ext uri="{FF2B5EF4-FFF2-40B4-BE49-F238E27FC236}">
                <a16:creationId xmlns:a16="http://schemas.microsoft.com/office/drawing/2014/main" id="{771E88D7-E3AB-4C1E-A08F-4A19CC9E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95450"/>
            <a:ext cx="2524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3F30"/>
                </a:solidFill>
              </a:defRPr>
            </a:pPr>
            <a:r>
              <a:rPr sz="1875" b="1">
                <a:solidFill>
                  <a:srgbClr val="113F30"/>
                </a:solidFill>
              </a:rPr>
              <a:t>Hanging, stability and use</a:t>
            </a:r>
          </a:p>
        </p:txBody>
      </p:sp>
      <p:sp>
        <p:nvSpPr>
          <p:cNvPr id="9" name="map-action-2">
            <a:extLst xmlns:a="http://schemas.openxmlformats.org/drawingml/2006/main">
              <a:ext uri="{FF2B5EF4-FFF2-40B4-BE49-F238E27FC236}">
                <a16:creationId xmlns:a16="http://schemas.microsoft.com/office/drawing/2014/main" id="{60F3C4C2-0037-42D5-AA4B-9E76C799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2914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A25"/>
                </a:solidFill>
              </a:defRPr>
            </a:pPr>
            <a:r>
              <a:rPr sz="1425" b="0">
                <a:solidFill>
                  <a:srgbClr val="1F2A25"/>
                </a:solidFill>
              </a:rPr>
              <a:t>Trace the system from product to support and name the evidence needed before approved use.</a:t>
            </a:r>
          </a:p>
        </p:txBody>
      </p:sp>
      <p:sp>
        <p:nvSpPr>
          <p:cNvPr id="10" name="map-number-3">
            <a:extLst xmlns:a="http://schemas.openxmlformats.org/drawingml/2006/main">
              <a:ext uri="{FF2B5EF4-FFF2-40B4-BE49-F238E27FC236}">
                <a16:creationId xmlns:a16="http://schemas.microsoft.com/office/drawing/2014/main" id="{CE52DE6D-557C-4BDB-A44E-D089E045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68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7AD31"/>
                </a:solidFill>
              </a:defRPr>
            </a:pPr>
            <a:r>
              <a:rPr sz="3900" b="1">
                <a:solidFill>
                  <a:srgbClr val="E7AD31"/>
                </a:solidFill>
              </a:rPr>
              <a:t>3</a:t>
            </a:r>
          </a:p>
        </p:txBody>
      </p:sp>
      <p:sp>
        <p:nvSpPr>
          <p:cNvPr id="11" name="map-title-3">
            <a:extLst xmlns:a="http://schemas.openxmlformats.org/drawingml/2006/main">
              <a:ext uri="{FF2B5EF4-FFF2-40B4-BE49-F238E27FC236}">
                <a16:creationId xmlns:a16="http://schemas.microsoft.com/office/drawing/2014/main" id="{05ABE251-FDEC-4135-847A-A0DB7713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524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3F30"/>
                </a:solidFill>
              </a:defRPr>
            </a:pPr>
            <a:r>
              <a:rPr sz="1875" b="1">
                <a:solidFill>
                  <a:srgbClr val="113F30"/>
                </a:solidFill>
              </a:rPr>
              <a:t>Evaluate, feedback and improve</a:t>
            </a:r>
          </a:p>
        </p:txBody>
      </p:sp>
      <p:sp>
        <p:nvSpPr>
          <p:cNvPr id="12" name="map-action-3">
            <a:extLst xmlns:a="http://schemas.openxmlformats.org/drawingml/2006/main">
              <a:ext uri="{FF2B5EF4-FFF2-40B4-BE49-F238E27FC236}">
                <a16:creationId xmlns:a16="http://schemas.microsoft.com/office/drawing/2014/main" id="{6A072AFA-DD4A-447D-8037-DF6B0FCF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47950"/>
            <a:ext cx="2914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A25"/>
                </a:solidFill>
              </a:defRPr>
            </a:pPr>
            <a:r>
              <a:rPr sz="1425" b="0">
                <a:solidFill>
                  <a:srgbClr val="1F2A25"/>
                </a:solidFill>
              </a:rPr>
              <a:t>Choose one high-priority improvement and justify why it matters more than the alternatives.</a:t>
            </a:r>
          </a:p>
        </p:txBody>
      </p:sp>
      <p:sp>
        <p:nvSpPr>
          <p:cNvPr id="13" name="warm-up-band">
            <a:extLst xmlns:a="http://schemas.openxmlformats.org/drawingml/2006/main">
              <a:ext uri="{FF2B5EF4-FFF2-40B4-BE49-F238E27FC236}">
                <a16:creationId xmlns:a16="http://schemas.microsoft.com/office/drawing/2014/main" id="{CCD8EA50-26B0-4F20-9137-824975A9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14" name="warm-up-label">
            <a:extLst xmlns:a="http://schemas.openxmlformats.org/drawingml/2006/main">
              <a:ext uri="{FF2B5EF4-FFF2-40B4-BE49-F238E27FC236}">
                <a16:creationId xmlns:a16="http://schemas.microsoft.com/office/drawing/2014/main" id="{66E4ECF6-EEFA-4113-91F0-93E2E769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932"/>
                </a:solidFill>
              </a:defRPr>
            </a:pPr>
            <a:r>
              <a:rPr sz="1125" b="1">
                <a:solidFill>
                  <a:srgbClr val="B84932"/>
                </a:solidFill>
              </a:rPr>
              <a:t>RETRIEVAL WARM-UP</a:t>
            </a:r>
          </a:p>
        </p:txBody>
      </p:sp>
      <p:sp>
        <p:nvSpPr>
          <p:cNvPr id="15" name="warm-up-question">
            <a:extLst xmlns:a="http://schemas.openxmlformats.org/drawingml/2006/main">
              <a:ext uri="{FF2B5EF4-FFF2-40B4-BE49-F238E27FC236}">
                <a16:creationId xmlns:a16="http://schemas.microsoft.com/office/drawing/2014/main" id="{E18244C1-C5E0-47D9-99DC-4E29CBE1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3F30"/>
                </a:solidFill>
              </a:defRPr>
            </a:pPr>
            <a:r>
              <a:rPr sz="1950" b="1">
                <a:solidFill>
                  <a:srgbClr val="113F30"/>
                </a:solidFill>
              </a:rPr>
              <a:t>Retrieval: what makes quality evidence stronger than a personal opinion?</a:t>
            </a:r>
          </a:p>
        </p:txBody>
      </p:sp>
      <p:sp>
        <p:nvSpPr>
          <p:cNvPr id="1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6C9E8E1-5F96-49C8-9472-15472864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CF"/>
          </a:solidFill>
          <a:ln xmlns:a="http://schemas.openxmlformats.org/drawingml/2006/main" w="0">
            <a:solidFill>
              <a:srgbClr val="C8D8CF"/>
            </a:solidFill>
            <a:prstDash val="solid"/>
          </a:ln>
        </p:spPr>
      </p:sp>
      <p:sp>
        <p:nvSpPr>
          <p:cNvPr id="17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5A84A846-6D7A-4AD1-AFD9-2B484B7F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645D"/>
                </a:solidFill>
              </a:defRPr>
            </a:pPr>
            <a:r>
              <a:rPr sz="900" b="1">
                <a:solidFill>
                  <a:srgbClr val="54645D"/>
                </a:solidFill>
              </a:rPr>
              <a:t>SWINGING SIGN  •  MODULE 5</a:t>
            </a:r>
          </a:p>
        </p:txBody>
      </p:sp>
      <p:sp>
        <p:nvSpPr>
          <p:cNvPr id="1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DA9340B0-6D36-4982-B541-08B6026D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45D"/>
                </a:solidFill>
              </a:defRPr>
            </a:pPr>
            <a:r>
              <a:rPr sz="900" b="1">
                <a:solidFill>
                  <a:srgbClr val="54645D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426890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-3">
            <a:extLst xmlns:a="http://schemas.openxmlformats.org/drawingml/2006/main">
              <a:ext uri="{FF2B5EF4-FFF2-40B4-BE49-F238E27FC236}">
                <a16:creationId xmlns:a16="http://schemas.microsoft.com/office/drawing/2014/main" id="{1CD2E864-EAE4-4AF0-9411-8AC269E5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2" name="module-kicker-3">
            <a:extLst xmlns:a="http://schemas.openxmlformats.org/drawingml/2006/main">
              <a:ext uri="{FF2B5EF4-FFF2-40B4-BE49-F238E27FC236}">
                <a16:creationId xmlns:a16="http://schemas.microsoft.com/office/drawing/2014/main" id="{3DD8667C-96D2-45FE-8520-2D0BBC27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932"/>
                </a:solidFill>
              </a:defRPr>
            </a:pPr>
            <a:r>
              <a:rPr sz="1050" b="1">
                <a:solidFill>
                  <a:srgbClr val="B84932"/>
                </a:solidFill>
              </a:rPr>
              <a:t>MODULE 5  •  FINISH, TEST AND EVALUATE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8B598EAD-5DA1-4FDE-B6E1-D66B8190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3F30"/>
                </a:solidFill>
              </a:defRPr>
            </a:pPr>
            <a:r>
              <a:rPr sz="2850" b="1">
                <a:solidFill>
                  <a:srgbClr val="113F30"/>
                </a:solidFill>
              </a:rPr>
              <a:t>A coating works as a compatible surface system</a:t>
            </a:r>
          </a:p>
        </p:txBody>
      </p:sp>
      <p:sp>
        <p:nvSpPr>
          <p:cNvPr id="4" name="section-name-3">
            <a:extLst xmlns:a="http://schemas.openxmlformats.org/drawingml/2006/main">
              <a:ext uri="{FF2B5EF4-FFF2-40B4-BE49-F238E27FC236}">
                <a16:creationId xmlns:a16="http://schemas.microsoft.com/office/drawing/2014/main" id="{1695F1B4-8C30-4FE8-A225-E819C857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932"/>
                </a:solidFill>
              </a:defRPr>
            </a:pPr>
            <a:r>
              <a:rPr sz="1050" b="1">
                <a:solidFill>
                  <a:srgbClr val="B84932"/>
                </a:solidFill>
              </a:rPr>
              <a:t>SURFACE PREPARATION AND COATINGS</a:t>
            </a:r>
          </a:p>
        </p:txBody>
      </p:sp>
      <p:sp>
        <p:nvSpPr>
          <p:cNvPr id="5" name="s3-mark-1">
            <a:extLst xmlns:a="http://schemas.openxmlformats.org/drawingml/2006/main">
              <a:ext uri="{FF2B5EF4-FFF2-40B4-BE49-F238E27FC236}">
                <a16:creationId xmlns:a16="http://schemas.microsoft.com/office/drawing/2014/main" id="{6593472A-042D-4962-8F33-B69472D5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6" name="s3-text-1">
            <a:extLst xmlns:a="http://schemas.openxmlformats.org/drawingml/2006/main">
              <a:ext uri="{FF2B5EF4-FFF2-40B4-BE49-F238E27FC236}">
                <a16:creationId xmlns:a16="http://schemas.microsoft.com/office/drawing/2014/main" id="{689E1202-D13E-416E-9731-4AEF9595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5"/>
                </a:solidFill>
              </a:defRPr>
            </a:pPr>
            <a:r>
              <a:rPr sz="1575" b="0">
                <a:solidFill>
                  <a:srgbClr val="1F2A25"/>
                </a:solidFill>
              </a:rPr>
              <a:t>The substrate, approved preparation, primer, topcoat, environment and curing time work as one finish system.</a:t>
            </a:r>
          </a:p>
        </p:txBody>
      </p:sp>
      <p:sp>
        <p:nvSpPr>
          <p:cNvPr id="7" name="s3-mark-2">
            <a:extLst xmlns:a="http://schemas.openxmlformats.org/drawingml/2006/main">
              <a:ext uri="{FF2B5EF4-FFF2-40B4-BE49-F238E27FC236}">
                <a16:creationId xmlns:a16="http://schemas.microsoft.com/office/drawing/2014/main" id="{0B174EAC-9501-4263-AFF1-10FC3C06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8" name="s3-text-2">
            <a:extLst xmlns:a="http://schemas.openxmlformats.org/drawingml/2006/main">
              <a:ext uri="{FF2B5EF4-FFF2-40B4-BE49-F238E27FC236}">
                <a16:creationId xmlns:a16="http://schemas.microsoft.com/office/drawing/2014/main" id="{80BF81DB-F559-4C19-AD85-E15C0F3D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5"/>
                </a:solidFill>
              </a:defRPr>
            </a:pPr>
            <a:r>
              <a:rPr sz="1575" b="0">
                <a:solidFill>
                  <a:srgbClr val="1F2A25"/>
                </a:solidFill>
              </a:rPr>
              <a:t>Each layer has a purpose. Compatibility and surface condition affect adhesion, appearance and service performance.</a:t>
            </a:r>
          </a:p>
        </p:txBody>
      </p:sp>
      <p:sp>
        <p:nvSpPr>
          <p:cNvPr id="9" name="s3-mark-3">
            <a:extLst xmlns:a="http://schemas.openxmlformats.org/drawingml/2006/main">
              <a:ext uri="{FF2B5EF4-FFF2-40B4-BE49-F238E27FC236}">
                <a16:creationId xmlns:a16="http://schemas.microsoft.com/office/drawing/2014/main" id="{9855C19B-07EB-4060-B909-66592836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10" name="s3-text-3">
            <a:extLst xmlns:a="http://schemas.openxmlformats.org/drawingml/2006/main">
              <a:ext uri="{FF2B5EF4-FFF2-40B4-BE49-F238E27FC236}">
                <a16:creationId xmlns:a16="http://schemas.microsoft.com/office/drawing/2014/main" id="{CDD60613-6C9B-495F-8269-5F6CA0E8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5"/>
                </a:solidFill>
              </a:defRPr>
            </a:pPr>
            <a:r>
              <a:rPr sz="1575" b="0">
                <a:solidFill>
                  <a:srgbClr val="1F2A25"/>
                </a:solidFill>
              </a:rPr>
              <a:t>Judge the finish against confirmed criteria; never substitute an unapproved product or application method.</a:t>
            </a:r>
          </a:p>
        </p:txBody>
      </p:sp>
      <p:sp>
        <p:nvSpPr>
          <p:cNvPr id="11" name="prompt-band-3">
            <a:extLst xmlns:a="http://schemas.openxmlformats.org/drawingml/2006/main">
              <a:ext uri="{FF2B5EF4-FFF2-40B4-BE49-F238E27FC236}">
                <a16:creationId xmlns:a16="http://schemas.microsoft.com/office/drawing/2014/main" id="{A74648D7-F395-497F-B8E7-737AFF8E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1719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12" name="prompt-label-3">
            <a:extLst xmlns:a="http://schemas.openxmlformats.org/drawingml/2006/main">
              <a:ext uri="{FF2B5EF4-FFF2-40B4-BE49-F238E27FC236}">
                <a16:creationId xmlns:a16="http://schemas.microsoft.com/office/drawing/2014/main" id="{A75C27C0-6047-4FD6-9D78-78176049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932"/>
                </a:solidFill>
              </a:defRPr>
            </a:pPr>
            <a:r>
              <a:rPr sz="1050" b="1">
                <a:solidFill>
                  <a:srgbClr val="B84932"/>
                </a:solidFill>
              </a:rPr>
              <a:t>APPLY IT</a:t>
            </a:r>
          </a:p>
        </p:txBody>
      </p:sp>
      <p:sp>
        <p:nvSpPr>
          <p:cNvPr id="13" name="prompt-3">
            <a:extLst xmlns:a="http://schemas.openxmlformats.org/drawingml/2006/main">
              <a:ext uri="{FF2B5EF4-FFF2-40B4-BE49-F238E27FC236}">
                <a16:creationId xmlns:a16="http://schemas.microsoft.com/office/drawing/2014/main" id="{D3A37492-4A31-4633-8CED-75BFB072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3F30"/>
                </a:solidFill>
              </a:defRPr>
            </a:pPr>
            <a:r>
              <a:rPr sz="1350" b="1">
                <a:solidFill>
                  <a:srgbClr val="113F30"/>
                </a:solidFill>
              </a:rPr>
              <a:t>Explain what evidence would show that a finish system meets both appearance and service needs.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d58d8f94e487a"/>
          <a:srcRect xmlns:a="http://schemas.openxmlformats.org/drawingml/2006/main" l="226" t="0" r="2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447800"/>
            <a:ext cx="6286500" cy="4210050"/>
          </a:xfrm>
          <a:prstGeom xmlns:a="http://schemas.openxmlformats.org/drawingml/2006/main" prst="roundRect">
            <a:avLst>
              <a:gd name="adj" fmla="val 4072"/>
            </a:avLst>
          </a:prstGeom>
        </p:spPr>
      </p:pic>
      <p:sp>
        <p:nvSpPr>
          <p:cNvPr id="15" name="caption-3">
            <a:extLst xmlns:a="http://schemas.openxmlformats.org/drawingml/2006/main">
              <a:ext uri="{FF2B5EF4-FFF2-40B4-BE49-F238E27FC236}">
                <a16:creationId xmlns:a16="http://schemas.microsoft.com/office/drawing/2014/main" id="{DC9B311B-419B-42FE-AA70-D78A685E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72150"/>
            <a:ext cx="605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45D"/>
                </a:solidFill>
              </a:defRPr>
            </a:pPr>
            <a:r>
              <a:rPr sz="1275" b="0">
                <a:solidFill>
                  <a:srgbClr val="54645D"/>
                </a:solidFill>
              </a:rPr>
              <a:t>Substrate condition, compatible layers and curing all influence the result.</a:t>
            </a:r>
          </a:p>
        </p:txBody>
      </p:sp>
      <p:sp>
        <p:nvSpPr>
          <p:cNvPr id="16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704B9925-A815-411B-993B-B0B63DEF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CF"/>
          </a:solidFill>
          <a:ln xmlns:a="http://schemas.openxmlformats.org/drawingml/2006/main" w="0">
            <a:solidFill>
              <a:srgbClr val="C8D8CF"/>
            </a:solidFill>
            <a:prstDash val="solid"/>
          </a:ln>
        </p:spPr>
      </p:sp>
      <p:sp>
        <p:nvSpPr>
          <p:cNvPr id="17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22445EF2-BD4E-4C52-BA67-5A672BDC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645D"/>
                </a:solidFill>
              </a:defRPr>
            </a:pPr>
            <a:r>
              <a:rPr sz="900" b="1">
                <a:solidFill>
                  <a:srgbClr val="54645D"/>
                </a:solidFill>
              </a:rPr>
              <a:t>SWINGING SIGN  •  MODULE 5</a:t>
            </a:r>
          </a:p>
        </p:txBody>
      </p:sp>
      <p:sp>
        <p:nvSpPr>
          <p:cNvPr id="18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61186AD-7103-4DCC-A883-3606143A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45D"/>
                </a:solidFill>
              </a:defRPr>
            </a:pPr>
            <a:r>
              <a:rPr sz="900" b="1">
                <a:solidFill>
                  <a:srgbClr val="54645D"/>
                </a:solidFill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695439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-4">
            <a:extLst xmlns:a="http://schemas.openxmlformats.org/drawingml/2006/main">
              <a:ext uri="{FF2B5EF4-FFF2-40B4-BE49-F238E27FC236}">
                <a16:creationId xmlns:a16="http://schemas.microsoft.com/office/drawing/2014/main" id="{670B6F81-1A40-4A0D-8963-1378FC3E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2" name="module-kicker-4">
            <a:extLst xmlns:a="http://schemas.openxmlformats.org/drawingml/2006/main">
              <a:ext uri="{FF2B5EF4-FFF2-40B4-BE49-F238E27FC236}">
                <a16:creationId xmlns:a16="http://schemas.microsoft.com/office/drawing/2014/main" id="{B9F47FDD-750A-4035-AAD0-D24B73FA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932"/>
                </a:solidFill>
              </a:defRPr>
            </a:pPr>
            <a:r>
              <a:rPr sz="1050" b="1">
                <a:solidFill>
                  <a:srgbClr val="B84932"/>
                </a:solidFill>
              </a:rPr>
              <a:t>MODULE 5  •  FINISH, TEST AND EVALUATE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F22AAF97-D35B-4725-BA88-99E11559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3F30"/>
                </a:solidFill>
              </a:defRPr>
            </a:pPr>
            <a:r>
              <a:rPr sz="2850" b="1">
                <a:solidFill>
                  <a:srgbClr val="113F30"/>
                </a:solidFill>
              </a:rPr>
              <a:t>Product, connections and support form one system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f2a63d3784db7"/>
          <a:srcRect xmlns:a="http://schemas.openxmlformats.org/drawingml/2006/main" l="2338" t="0" r="23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47800"/>
            <a:ext cx="6019800" cy="4210050"/>
          </a:xfrm>
          <a:prstGeom xmlns:a="http://schemas.openxmlformats.org/drawingml/2006/main" prst="roundRect">
            <a:avLst>
              <a:gd name="adj" fmla="val 4072"/>
            </a:avLst>
          </a:prstGeom>
        </p:spPr>
      </p:pic>
      <p:sp>
        <p:nvSpPr>
          <p:cNvPr id="5" name="caption-4">
            <a:extLst xmlns:a="http://schemas.openxmlformats.org/drawingml/2006/main">
              <a:ext uri="{FF2B5EF4-FFF2-40B4-BE49-F238E27FC236}">
                <a16:creationId xmlns:a16="http://schemas.microsoft.com/office/drawing/2014/main" id="{120AB2C9-E23F-4E24-B234-1A470AA3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579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45D"/>
                </a:solidFill>
              </a:defRPr>
            </a:pPr>
            <a:r>
              <a:rPr sz="1275" b="0">
                <a:solidFill>
                  <a:srgbClr val="54645D"/>
                </a:solidFill>
              </a:rPr>
              <a:t>Balance is observable; capacity and suitability require approved criteria and testing.</a:t>
            </a:r>
          </a:p>
        </p:txBody>
      </p:sp>
      <p:sp>
        <p:nvSpPr>
          <p:cNvPr id="6" name="section-name-4">
            <a:extLst xmlns:a="http://schemas.openxmlformats.org/drawingml/2006/main">
              <a:ext uri="{FF2B5EF4-FFF2-40B4-BE49-F238E27FC236}">
                <a16:creationId xmlns:a16="http://schemas.microsoft.com/office/drawing/2014/main" id="{FF21A3AE-688C-4846-91D5-FEBA09F8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38275"/>
            <a:ext cx="440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932"/>
                </a:solidFill>
              </a:defRPr>
            </a:pPr>
            <a:r>
              <a:rPr sz="1050" b="1">
                <a:solidFill>
                  <a:srgbClr val="B84932"/>
                </a:solidFill>
              </a:rPr>
              <a:t>HANGING, STABILITY AND USE</a:t>
            </a:r>
          </a:p>
        </p:txBody>
      </p:sp>
      <p:sp>
        <p:nvSpPr>
          <p:cNvPr id="7" name="s4-mark-1">
            <a:extLst xmlns:a="http://schemas.openxmlformats.org/drawingml/2006/main">
              <a:ext uri="{FF2B5EF4-FFF2-40B4-BE49-F238E27FC236}">
                <a16:creationId xmlns:a16="http://schemas.microsoft.com/office/drawing/2014/main" id="{F9F740B9-AE7D-4F6F-9298-1A64B988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85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8" name="s4-text-1">
            <a:extLst xmlns:a="http://schemas.openxmlformats.org/drawingml/2006/main">
              <a:ext uri="{FF2B5EF4-FFF2-40B4-BE49-F238E27FC236}">
                <a16:creationId xmlns:a16="http://schemas.microsoft.com/office/drawing/2014/main" id="{69BDC739-E38D-4E6E-BF3F-1E5FCE05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09750"/>
            <a:ext cx="41338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5"/>
                </a:solidFill>
              </a:defRPr>
            </a:pPr>
            <a:r>
              <a:rPr sz="1575" b="0">
                <a:solidFill>
                  <a:srgbClr val="1F2A25"/>
                </a:solidFill>
              </a:rPr>
              <a:t>A hanging system includes the product, every connection, the support and the conditions in which it will be used.</a:t>
            </a:r>
          </a:p>
        </p:txBody>
      </p:sp>
      <p:sp>
        <p:nvSpPr>
          <p:cNvPr id="9" name="s4-mark-2">
            <a:extLst xmlns:a="http://schemas.openxmlformats.org/drawingml/2006/main">
              <a:ext uri="{FF2B5EF4-FFF2-40B4-BE49-F238E27FC236}">
                <a16:creationId xmlns:a16="http://schemas.microsoft.com/office/drawing/2014/main" id="{098F75CA-6E6B-498C-B494-474A3CEC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670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10" name="s4-text-2">
            <a:extLst xmlns:a="http://schemas.openxmlformats.org/drawingml/2006/main">
              <a:ext uri="{FF2B5EF4-FFF2-40B4-BE49-F238E27FC236}">
                <a16:creationId xmlns:a16="http://schemas.microsoft.com/office/drawing/2014/main" id="{FD118AEE-5BF6-464D-9A31-17DE64C9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90825"/>
            <a:ext cx="41338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5"/>
                </a:solidFill>
              </a:defRPr>
            </a:pPr>
            <a:r>
              <a:rPr sz="1575" b="0">
                <a:solidFill>
                  <a:srgbClr val="1F2A25"/>
                </a:solidFill>
              </a:rPr>
              <a:t>A load path explains how effects travel through the system. Looking level once does not prove capacity or long-term suitability.</a:t>
            </a:r>
          </a:p>
        </p:txBody>
      </p:sp>
      <p:sp>
        <p:nvSpPr>
          <p:cNvPr id="11" name="s4-mark-3">
            <a:extLst xmlns:a="http://schemas.openxmlformats.org/drawingml/2006/main">
              <a:ext uri="{FF2B5EF4-FFF2-40B4-BE49-F238E27FC236}">
                <a16:creationId xmlns:a16="http://schemas.microsoft.com/office/drawing/2014/main" id="{3BD787BC-563D-4616-A17E-9B2AF623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48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12" name="s4-text-3">
            <a:extLst xmlns:a="http://schemas.openxmlformats.org/drawingml/2006/main">
              <a:ext uri="{FF2B5EF4-FFF2-40B4-BE49-F238E27FC236}">
                <a16:creationId xmlns:a16="http://schemas.microsoft.com/office/drawing/2014/main" id="{5A8FC49A-45C8-4A6E-B037-5F349EBC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71900"/>
            <a:ext cx="41338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5"/>
                </a:solidFill>
              </a:defRPr>
            </a:pPr>
            <a:r>
              <a:rPr sz="1575" b="0">
                <a:solidFill>
                  <a:srgbClr val="1F2A25"/>
                </a:solidFill>
              </a:rPr>
              <a:t>Use only teacher-approved test criteria and installation decisions for the actual context.</a:t>
            </a:r>
          </a:p>
        </p:txBody>
      </p:sp>
      <p:sp>
        <p:nvSpPr>
          <p:cNvPr id="13" name="prompt-band-4">
            <a:extLst xmlns:a="http://schemas.openxmlformats.org/drawingml/2006/main">
              <a:ext uri="{FF2B5EF4-FFF2-40B4-BE49-F238E27FC236}">
                <a16:creationId xmlns:a16="http://schemas.microsoft.com/office/drawing/2014/main" id="{BEAD9D07-A7D2-468B-B680-53E9E40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62500"/>
            <a:ext cx="44005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14" name="prompt-label-4">
            <a:extLst xmlns:a="http://schemas.openxmlformats.org/drawingml/2006/main">
              <a:ext uri="{FF2B5EF4-FFF2-40B4-BE49-F238E27FC236}">
                <a16:creationId xmlns:a16="http://schemas.microsoft.com/office/drawing/2014/main" id="{35178006-FAD0-49AA-94A4-D7BADB05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053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932"/>
                </a:solidFill>
              </a:defRPr>
            </a:pPr>
            <a:r>
              <a:rPr sz="1050" b="1">
                <a:solidFill>
                  <a:srgbClr val="B84932"/>
                </a:solidFill>
              </a:rPr>
              <a:t>APPLY IT</a:t>
            </a:r>
          </a:p>
        </p:txBody>
      </p:sp>
      <p:sp>
        <p:nvSpPr>
          <p:cNvPr id="15" name="prompt-4">
            <a:extLst xmlns:a="http://schemas.openxmlformats.org/drawingml/2006/main">
              <a:ext uri="{FF2B5EF4-FFF2-40B4-BE49-F238E27FC236}">
                <a16:creationId xmlns:a16="http://schemas.microsoft.com/office/drawing/2014/main" id="{D177EF45-51B4-4090-B586-CDDCEA34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91125"/>
            <a:ext cx="3943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3F30"/>
                </a:solidFill>
              </a:defRPr>
            </a:pPr>
            <a:r>
              <a:rPr sz="1350" b="1">
                <a:solidFill>
                  <a:srgbClr val="113F30"/>
                </a:solidFill>
              </a:rPr>
              <a:t>Trace the system from product to support and name the evidence needed before approved use.</a:t>
            </a:r>
          </a:p>
        </p:txBody>
      </p:sp>
      <p:sp>
        <p:nvSpPr>
          <p:cNvPr id="16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41CAE89E-F268-4A94-8222-A2C280C1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CF"/>
          </a:solidFill>
          <a:ln xmlns:a="http://schemas.openxmlformats.org/drawingml/2006/main" w="0">
            <a:solidFill>
              <a:srgbClr val="C8D8CF"/>
            </a:solidFill>
            <a:prstDash val="solid"/>
          </a:ln>
        </p:spPr>
      </p:sp>
      <p:sp>
        <p:nvSpPr>
          <p:cNvPr id="17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43726C82-4B71-4D86-AFB1-E09504F6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645D"/>
                </a:solidFill>
              </a:defRPr>
            </a:pPr>
            <a:r>
              <a:rPr sz="900" b="1">
                <a:solidFill>
                  <a:srgbClr val="54645D"/>
                </a:solidFill>
              </a:rPr>
              <a:t>SWINGING SIGN  •  MODULE 5</a:t>
            </a:r>
          </a:p>
        </p:txBody>
      </p:sp>
      <p:sp>
        <p:nvSpPr>
          <p:cNvPr id="18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F0E77C82-6C05-4FBD-8128-9F44A83B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45D"/>
                </a:solidFill>
              </a:defRPr>
            </a:pPr>
            <a:r>
              <a:rPr sz="900" b="1">
                <a:solidFill>
                  <a:srgbClr val="54645D"/>
                </a:solidFill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280190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3F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3fae03fd44d78"/>
          <a:srcRect xmlns:a="http://schemas.openxmlformats.org/drawingml/2006/main" l="12870" t="0" r="128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0"/>
            <a:ext cx="7639050" cy="685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2" name="image-layout-panel-5">
            <a:extLst xmlns:a="http://schemas.openxmlformats.org/drawingml/2006/main">
              <a:ext uri="{FF2B5EF4-FFF2-40B4-BE49-F238E27FC236}">
                <a16:creationId xmlns:a16="http://schemas.microsoft.com/office/drawing/2014/main" id="{D02B22D2-47A8-4672-BED3-3A0F53F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10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F30"/>
          </a:solidFill>
          <a:ln xmlns:a="http://schemas.openxmlformats.org/drawingml/2006/main" w="0">
            <a:solidFill>
              <a:srgbClr val="113F30"/>
            </a:solidFill>
            <a:prstDash val="solid"/>
          </a:ln>
        </p:spPr>
      </p:sp>
      <p:sp>
        <p:nvSpPr>
          <p:cNvPr id="3" name="image-layout-accent-5">
            <a:extLst xmlns:a="http://schemas.openxmlformats.org/drawingml/2006/main">
              <a:ext uri="{FF2B5EF4-FFF2-40B4-BE49-F238E27FC236}">
                <a16:creationId xmlns:a16="http://schemas.microsoft.com/office/drawing/2014/main" id="{12E0C069-BDC2-4F23-8546-9104EFE5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4" name="module-kicker-5">
            <a:extLst xmlns:a="http://schemas.openxmlformats.org/drawingml/2006/main">
              <a:ext uri="{FF2B5EF4-FFF2-40B4-BE49-F238E27FC236}">
                <a16:creationId xmlns:a16="http://schemas.microsoft.com/office/drawing/2014/main" id="{C1EFBF0C-7B53-4E0B-BC07-5BD0D31C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FE1D8"/>
                </a:solidFill>
              </a:defRPr>
            </a:pPr>
            <a:r>
              <a:rPr sz="1050" b="1">
                <a:solidFill>
                  <a:srgbClr val="CFE1D8"/>
                </a:solidFill>
              </a:rPr>
              <a:t>MODULE 5  •  EVALUATE, FEEDBACK AND IMPROVE</a:t>
            </a:r>
          </a:p>
        </p:txBody>
      </p:sp>
      <p:sp>
        <p:nvSpPr>
          <p:cNvPr id="5" name="stacked-slide-title-5">
            <a:extLst xmlns:a="http://schemas.openxmlformats.org/drawingml/2006/main">
              <a:ext uri="{FF2B5EF4-FFF2-40B4-BE49-F238E27FC236}">
                <a16:creationId xmlns:a16="http://schemas.microsoft.com/office/drawing/2014/main" id="{7E35244F-6013-44A0-9471-E35C4124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829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is a judgement backed by criteria</a:t>
            </a:r>
          </a:p>
        </p:txBody>
      </p:sp>
      <p:sp>
        <p:nvSpPr>
          <p:cNvPr id="6" name="s5-mark-1">
            <a:extLst xmlns:a="http://schemas.openxmlformats.org/drawingml/2006/main">
              <a:ext uri="{FF2B5EF4-FFF2-40B4-BE49-F238E27FC236}">
                <a16:creationId xmlns:a16="http://schemas.microsoft.com/office/drawing/2014/main" id="{18BADF22-0073-4ECC-ACE8-0235B75C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7" name="s5-text-1">
            <a:extLst xmlns:a="http://schemas.openxmlformats.org/drawingml/2006/main">
              <a:ext uri="{FF2B5EF4-FFF2-40B4-BE49-F238E27FC236}">
                <a16:creationId xmlns:a16="http://schemas.microsoft.com/office/drawing/2014/main" id="{517137DA-34C5-4EBD-923C-5BFD9A06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3562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 balanced evaluation judges the result against confirmed criteria using specific evidence, not preference alone.</a:t>
            </a:r>
          </a:p>
        </p:txBody>
      </p:sp>
      <p:sp>
        <p:nvSpPr>
          <p:cNvPr id="8" name="s5-mark-2">
            <a:extLst xmlns:a="http://schemas.openxmlformats.org/drawingml/2006/main">
              <a:ext uri="{FF2B5EF4-FFF2-40B4-BE49-F238E27FC236}">
                <a16:creationId xmlns:a16="http://schemas.microsoft.com/office/drawing/2014/main" id="{BF27A270-F917-4078-B6F4-4297293B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9" name="s5-text-2">
            <a:extLst xmlns:a="http://schemas.openxmlformats.org/drawingml/2006/main">
              <a:ext uri="{FF2B5EF4-FFF2-40B4-BE49-F238E27FC236}">
                <a16:creationId xmlns:a16="http://schemas.microsoft.com/office/drawing/2014/main" id="{57B1E5CB-776C-4911-8369-8E0683BC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3562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Feedback must be interpreted: decide whether it is relevant, reliable and connected to the user's need.</a:t>
            </a:r>
          </a:p>
        </p:txBody>
      </p:sp>
      <p:sp>
        <p:nvSpPr>
          <p:cNvPr id="10" name="s5-mark-3">
            <a:extLst xmlns:a="http://schemas.openxmlformats.org/drawingml/2006/main">
              <a:ext uri="{FF2B5EF4-FFF2-40B4-BE49-F238E27FC236}">
                <a16:creationId xmlns:a16="http://schemas.microsoft.com/office/drawing/2014/main" id="{61183772-1A0A-4EDD-AC37-42F228A3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11" name="s5-text-3">
            <a:extLst xmlns:a="http://schemas.openxmlformats.org/drawingml/2006/main">
              <a:ext uri="{FF2B5EF4-FFF2-40B4-BE49-F238E27FC236}">
                <a16:creationId xmlns:a16="http://schemas.microsoft.com/office/drawing/2014/main" id="{15679E75-1DDA-44DA-B54A-54462CEC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3562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 useful improvement names the change, reason, expected benefit and evidence that would show it worked.</a:t>
            </a:r>
          </a:p>
        </p:txBody>
      </p:sp>
      <p:sp>
        <p:nvSpPr>
          <p:cNvPr id="12" name="prompt-label-5">
            <a:extLst xmlns:a="http://schemas.openxmlformats.org/drawingml/2006/main">
              <a:ext uri="{FF2B5EF4-FFF2-40B4-BE49-F238E27FC236}">
                <a16:creationId xmlns:a16="http://schemas.microsoft.com/office/drawing/2014/main" id="{155AFBE6-9DF5-43D4-9212-CDC94C0C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AD31"/>
                </a:solidFill>
              </a:defRPr>
            </a:pPr>
            <a:r>
              <a:rPr sz="1050" b="1">
                <a:solidFill>
                  <a:srgbClr val="E7AD31"/>
                </a:solidFill>
              </a:rPr>
              <a:t>APPLY IT</a:t>
            </a:r>
          </a:p>
        </p:txBody>
      </p:sp>
      <p:sp>
        <p:nvSpPr>
          <p:cNvPr id="13" name="prompt-5">
            <a:extLst xmlns:a="http://schemas.openxmlformats.org/drawingml/2006/main">
              <a:ext uri="{FF2B5EF4-FFF2-40B4-BE49-F238E27FC236}">
                <a16:creationId xmlns:a16="http://schemas.microsoft.com/office/drawing/2014/main" id="{29FED0D3-FD85-4799-B275-5364C349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829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Choose one high-priority improvement and justify why it matters more than the alternatives.</a:t>
            </a:r>
          </a:p>
        </p:txBody>
      </p:sp>
      <p:sp>
        <p:nvSpPr>
          <p:cNvPr id="14" name="caption-5">
            <a:extLst xmlns:a="http://schemas.openxmlformats.org/drawingml/2006/main">
              <a:ext uri="{FF2B5EF4-FFF2-40B4-BE49-F238E27FC236}">
                <a16:creationId xmlns:a16="http://schemas.microsoft.com/office/drawing/2014/main" id="{6C3C6767-6770-43A7-AEA1-D320A7C5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96000"/>
            <a:ext cx="59055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3F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Use evidence to judge strengths and limits, then prioritise one testable improvement.</a:t>
            </a:r>
          </a:p>
        </p:txBody>
      </p:sp>
      <p:sp>
        <p:nvSpPr>
          <p:cNvPr id="15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25560AF1-AD28-43D3-A72F-5CC0272B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2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774"/>
          </a:solidFill>
          <a:ln xmlns:a="http://schemas.openxmlformats.org/drawingml/2006/main" w="0">
            <a:solidFill>
              <a:srgbClr val="5C8774"/>
            </a:solidFill>
            <a:prstDash val="solid"/>
          </a:ln>
        </p:spPr>
      </p:sp>
      <p:sp>
        <p:nvSpPr>
          <p:cNvPr id="16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4A363E75-D2ED-497B-AD51-8D6DE44A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7DF"/>
                </a:solidFill>
              </a:defRPr>
            </a:pPr>
            <a:r>
              <a:rPr sz="900" b="1">
                <a:solidFill>
                  <a:srgbClr val="D8E7DF"/>
                </a:solidFill>
              </a:rPr>
              <a:t>SWINGING SIGN  •  MODULE 5</a:t>
            </a:r>
          </a:p>
        </p:txBody>
      </p:sp>
      <p:sp>
        <p:nvSpPr>
          <p:cNvPr id="1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3ECB49C5-45E2-4C31-AEB3-803844CE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7429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3F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784634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3F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cent-6">
            <a:extLst xmlns:a="http://schemas.openxmlformats.org/drawingml/2006/main">
              <a:ext uri="{FF2B5EF4-FFF2-40B4-BE49-F238E27FC236}">
                <a16:creationId xmlns:a16="http://schemas.microsoft.com/office/drawing/2014/main" id="{3DC1C0FC-A62A-4530-B7DA-5167D23A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2" name="module-kicker-6">
            <a:extLst xmlns:a="http://schemas.openxmlformats.org/drawingml/2006/main">
              <a:ext uri="{FF2B5EF4-FFF2-40B4-BE49-F238E27FC236}">
                <a16:creationId xmlns:a16="http://schemas.microsoft.com/office/drawing/2014/main" id="{5410452F-0341-41BD-8891-2623CC82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FE1D8"/>
                </a:solidFill>
              </a:defRPr>
            </a:pPr>
            <a:r>
              <a:rPr sz="1050" b="1">
                <a:solidFill>
                  <a:srgbClr val="CFE1D8"/>
                </a:solidFill>
              </a:rPr>
              <a:t>MODULE 5  •  FINISH, TEST AND EVALUATE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2AE5D90F-760A-4793-ABBD-465ACA5A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4" name="retrieval-instruction">
            <a:extLst xmlns:a="http://schemas.openxmlformats.org/drawingml/2006/main">
              <a:ext uri="{FF2B5EF4-FFF2-40B4-BE49-F238E27FC236}">
                <a16:creationId xmlns:a16="http://schemas.microsoft.com/office/drawing/2014/main" id="{4A59A16A-6B28-422F-991A-40BD727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7DF"/>
                </a:solidFill>
              </a:defRPr>
            </a:pPr>
            <a:r>
              <a:rPr sz="1650" b="0">
                <a:solidFill>
                  <a:srgbClr val="D8E7DF"/>
                </a:solidFill>
              </a:rPr>
              <a:t>Answer silently first. Then justify one answer with a partner.</a:t>
            </a:r>
          </a:p>
        </p:txBody>
      </p:sp>
      <p:sp>
        <p:nvSpPr>
          <p:cNvPr id="5" name="retrieval-line-1">
            <a:extLst xmlns:a="http://schemas.openxmlformats.org/drawingml/2006/main">
              <a:ext uri="{FF2B5EF4-FFF2-40B4-BE49-F238E27FC236}">
                <a16:creationId xmlns:a16="http://schemas.microsoft.com/office/drawing/2014/main" id="{46919F2C-9182-4C94-B6A9-D1C815CE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D503D"/>
          </a:solidFill>
          <a:ln xmlns:a="http://schemas.openxmlformats.org/drawingml/2006/main" w="9525">
            <a:solidFill>
              <a:srgbClr val="4F7D69"/>
            </a:solidFill>
            <a:prstDash val="solid"/>
          </a:ln>
        </p:spPr>
      </p:sp>
      <p:sp>
        <p:nvSpPr>
          <p:cNvPr id="6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A6D87626-3213-43CA-8F1C-5F2C5419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7AD31"/>
                </a:solidFill>
              </a:defRPr>
            </a:pPr>
            <a:r>
              <a:rPr sz="1875" b="1">
                <a:solidFill>
                  <a:srgbClr val="E7AD31"/>
                </a:solidFill>
              </a:rPr>
              <a:t>1</a:t>
            </a:r>
          </a:p>
        </p:txBody>
      </p:sp>
      <p:sp>
        <p:nvSpPr>
          <p:cNvPr id="7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1DF8E208-46F5-4A6C-BD99-77D7140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62150"/>
            <a:ext cx="965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Why is a finish described as a system?</a:t>
            </a:r>
          </a:p>
        </p:txBody>
      </p:sp>
      <p:sp>
        <p:nvSpPr>
          <p:cNvPr id="8" name="retrieval-line-2">
            <a:extLst xmlns:a="http://schemas.openxmlformats.org/drawingml/2006/main">
              <a:ext uri="{FF2B5EF4-FFF2-40B4-BE49-F238E27FC236}">
                <a16:creationId xmlns:a16="http://schemas.microsoft.com/office/drawing/2014/main" id="{5719D4FC-45CF-4BF7-8A0C-626F294F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45E48"/>
          </a:solidFill>
          <a:ln xmlns:a="http://schemas.openxmlformats.org/drawingml/2006/main" w="9525">
            <a:solidFill>
              <a:srgbClr val="4F7D69"/>
            </a:solidFill>
            <a:prstDash val="solid"/>
          </a:ln>
        </p:spPr>
      </p:sp>
      <p:sp>
        <p:nvSpPr>
          <p:cNvPr id="9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1227FA64-95E0-4450-B5F3-1F4E0495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13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7AD31"/>
                </a:solidFill>
              </a:defRPr>
            </a:pPr>
            <a:r>
              <a:rPr sz="1875" b="1">
                <a:solidFill>
                  <a:srgbClr val="E7AD31"/>
                </a:solidFill>
              </a:rPr>
              <a:t>2</a:t>
            </a:r>
          </a:p>
        </p:txBody>
      </p:sp>
      <p:sp>
        <p:nvSpPr>
          <p:cNvPr id="10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D41A9F8F-CB31-48EE-88A9-837EE316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965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belongs in a hanging product's load path?</a:t>
            </a:r>
          </a:p>
        </p:txBody>
      </p:sp>
      <p:sp>
        <p:nvSpPr>
          <p:cNvPr id="11" name="retrieval-line-3">
            <a:extLst xmlns:a="http://schemas.openxmlformats.org/drawingml/2006/main">
              <a:ext uri="{FF2B5EF4-FFF2-40B4-BE49-F238E27FC236}">
                <a16:creationId xmlns:a16="http://schemas.microsoft.com/office/drawing/2014/main" id="{0974A4AD-1915-44E8-AD50-6E31C655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D503D"/>
          </a:solidFill>
          <a:ln xmlns:a="http://schemas.openxmlformats.org/drawingml/2006/main" w="9525">
            <a:solidFill>
              <a:srgbClr val="4F7D69"/>
            </a:solidFill>
            <a:prstDash val="solid"/>
          </a:ln>
        </p:spPr>
      </p:sp>
      <p:sp>
        <p:nvSpPr>
          <p:cNvPr id="12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7C345F9F-FC90-42A2-A172-2838F1D5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7AD31"/>
                </a:solidFill>
              </a:defRPr>
            </a:pPr>
            <a:r>
              <a:rPr sz="1875" b="1">
                <a:solidFill>
                  <a:srgbClr val="E7AD31"/>
                </a:solidFill>
              </a:rPr>
              <a:t>3</a:t>
            </a:r>
          </a:p>
        </p:txBody>
      </p:sp>
      <p:sp>
        <p:nvSpPr>
          <p:cNvPr id="13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4914A741-8604-47CE-AB64-2D66A267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965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can one successful hold prove — and not prove?</a:t>
            </a:r>
          </a:p>
        </p:txBody>
      </p:sp>
      <p:sp>
        <p:nvSpPr>
          <p:cNvPr id="14" name="retrieval-line-4">
            <a:extLst xmlns:a="http://schemas.openxmlformats.org/drawingml/2006/main">
              <a:ext uri="{FF2B5EF4-FFF2-40B4-BE49-F238E27FC236}">
                <a16:creationId xmlns:a16="http://schemas.microsoft.com/office/drawing/2014/main" id="{733D4A16-7416-4EB6-A3A7-EC32ABAC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45E48"/>
          </a:solidFill>
          <a:ln xmlns:a="http://schemas.openxmlformats.org/drawingml/2006/main" w="9525">
            <a:solidFill>
              <a:srgbClr val="4F7D69"/>
            </a:solidFill>
            <a:prstDash val="solid"/>
          </a:ln>
        </p:spPr>
      </p:sp>
      <p:sp>
        <p:nvSpPr>
          <p:cNvPr id="15" name="retrieval-number-4">
            <a:extLst xmlns:a="http://schemas.openxmlformats.org/drawingml/2006/main">
              <a:ext uri="{FF2B5EF4-FFF2-40B4-BE49-F238E27FC236}">
                <a16:creationId xmlns:a16="http://schemas.microsoft.com/office/drawing/2014/main" id="{8CA7657A-C411-4D1D-B2B8-71E63BAD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7AD31"/>
                </a:solidFill>
              </a:defRPr>
            </a:pPr>
            <a:r>
              <a:rPr sz="1875" b="1">
                <a:solidFill>
                  <a:srgbClr val="E7AD31"/>
                </a:solidFill>
              </a:rPr>
              <a:t>4</a:t>
            </a:r>
          </a:p>
        </p:txBody>
      </p:sp>
      <p:sp>
        <p:nvSpPr>
          <p:cNvPr id="16" name="retrieval-question-4">
            <a:extLst xmlns:a="http://schemas.openxmlformats.org/drawingml/2006/main">
              <a:ext uri="{FF2B5EF4-FFF2-40B4-BE49-F238E27FC236}">
                <a16:creationId xmlns:a16="http://schemas.microsoft.com/office/drawing/2014/main" id="{EAD1EAA9-03FF-4327-8BE3-19D8F700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965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makes an improvement specific and testable?</a:t>
            </a:r>
          </a:p>
        </p:txBody>
      </p:sp>
      <p:sp>
        <p:nvSpPr>
          <p:cNvPr id="17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3430DBFC-6DE1-4562-B486-1BACFBD9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774"/>
          </a:solidFill>
          <a:ln xmlns:a="http://schemas.openxmlformats.org/drawingml/2006/main" w="0">
            <a:solidFill>
              <a:srgbClr val="5C8774"/>
            </a:solidFill>
            <a:prstDash val="solid"/>
          </a:ln>
        </p:spPr>
      </p:sp>
      <p:sp>
        <p:nvSpPr>
          <p:cNvPr id="1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433A281E-476B-4C4B-937C-C53E3A6F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7DF"/>
                </a:solidFill>
              </a:defRPr>
            </a:pPr>
            <a:r>
              <a:rPr sz="900" b="1">
                <a:solidFill>
                  <a:srgbClr val="D8E7DF"/>
                </a:solidFill>
              </a:rPr>
              <a:t>SWINGING SIGN  •  MODULE 5</a:t>
            </a:r>
          </a:p>
        </p:txBody>
      </p:sp>
      <p:sp>
        <p:nvSpPr>
          <p:cNvPr id="1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179C0E8-4202-4FA8-972F-9A83B0CC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E7DF"/>
                </a:solidFill>
              </a:defRPr>
            </a:pPr>
            <a:r>
              <a:rPr sz="900" b="1">
                <a:solidFill>
                  <a:srgbClr val="D8E7DF"/>
                </a:solidFill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962767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ccent-7">
            <a:extLst xmlns:a="http://schemas.openxmlformats.org/drawingml/2006/main">
              <a:ext uri="{FF2B5EF4-FFF2-40B4-BE49-F238E27FC236}">
                <a16:creationId xmlns:a16="http://schemas.microsoft.com/office/drawing/2014/main" id="{5DB3FE72-6A25-4A7A-AE30-8395C4D2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2" name="module-kicker-7">
            <a:extLst xmlns:a="http://schemas.openxmlformats.org/drawingml/2006/main">
              <a:ext uri="{FF2B5EF4-FFF2-40B4-BE49-F238E27FC236}">
                <a16:creationId xmlns:a16="http://schemas.microsoft.com/office/drawing/2014/main" id="{EA05C011-48E0-4B8F-859C-424ECF16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932"/>
                </a:solidFill>
              </a:defRPr>
            </a:pPr>
            <a:r>
              <a:rPr sz="1050" b="1">
                <a:solidFill>
                  <a:srgbClr val="B84932"/>
                </a:solidFill>
              </a:rPr>
              <a:t>MODULE 5  •  FINISH, TEST AND EVALUATE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7A76802E-B823-463B-9003-04CF34F3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3F30"/>
                </a:solidFill>
              </a:defRPr>
            </a:pPr>
            <a:r>
              <a:rPr sz="2850" b="1">
                <a:solidFill>
                  <a:srgbClr val="113F30"/>
                </a:solidFill>
              </a:rPr>
              <a:t>Build one connected explanation</a:t>
            </a:r>
          </a:p>
        </p:txBody>
      </p:sp>
      <p:sp>
        <p:nvSpPr>
          <p:cNvPr id="4" name="guided-question-surface">
            <a:extLst xmlns:a="http://schemas.openxmlformats.org/drawingml/2006/main">
              <a:ext uri="{FF2B5EF4-FFF2-40B4-BE49-F238E27FC236}">
                <a16:creationId xmlns:a16="http://schemas.microsoft.com/office/drawing/2014/main" id="{EDEE0EDE-53BD-4927-9E7E-BFFE7302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5" name="guided-question-label">
            <a:extLst xmlns:a="http://schemas.openxmlformats.org/drawingml/2006/main">
              <a:ext uri="{FF2B5EF4-FFF2-40B4-BE49-F238E27FC236}">
                <a16:creationId xmlns:a16="http://schemas.microsoft.com/office/drawing/2014/main" id="{2075F040-10F4-4ADA-8E13-8E0A6330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43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932"/>
                </a:solidFill>
              </a:defRPr>
            </a:pPr>
            <a:r>
              <a:rPr sz="1050" b="1">
                <a:solidFill>
                  <a:srgbClr val="B84932"/>
                </a:solidFill>
              </a:rPr>
              <a:t>THE QUESTION</a:t>
            </a:r>
          </a:p>
        </p:txBody>
      </p:sp>
      <p:sp>
        <p:nvSpPr>
          <p:cNvPr id="6" name="guided-question">
            <a:extLst xmlns:a="http://schemas.openxmlformats.org/drawingml/2006/main">
              <a:ext uri="{FF2B5EF4-FFF2-40B4-BE49-F238E27FC236}">
                <a16:creationId xmlns:a16="http://schemas.microsoft.com/office/drawing/2014/main" id="{5C145C4D-024B-4392-A2AB-1A9B3CA1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F30"/>
                </a:solidFill>
              </a:defRPr>
            </a:pPr>
            <a:r>
              <a:rPr sz="1725" b="1">
                <a:solidFill>
                  <a:srgbClr val="113F30"/>
                </a:solidFill>
              </a:rPr>
              <a:t>Evaluate a completed project or teacher-provided case. Judge finish and use evidence against criteria, interpret feedback and justify one high-priority improvement.</a:t>
            </a:r>
          </a:p>
        </p:txBody>
      </p:sp>
      <p:sp>
        <p:nvSpPr>
          <p:cNvPr id="7" name="guided-step-1">
            <a:extLst xmlns:a="http://schemas.openxmlformats.org/drawingml/2006/main">
              <a:ext uri="{FF2B5EF4-FFF2-40B4-BE49-F238E27FC236}">
                <a16:creationId xmlns:a16="http://schemas.microsoft.com/office/drawing/2014/main" id="{331483FF-D333-4210-91E8-47CE5B4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5146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13F30"/>
          </a:solidFill>
          <a:ln xmlns:a="http://schemas.openxmlformats.org/drawingml/2006/main" w="0">
            <a:solidFill>
              <a:srgbClr val="113F30"/>
            </a:solidFill>
            <a:prstDash val="solid"/>
          </a:ln>
        </p:spPr>
      </p:sp>
      <p:sp>
        <p:nvSpPr>
          <p:cNvPr id="8" name="guided-step-name-1">
            <a:extLst xmlns:a="http://schemas.openxmlformats.org/drawingml/2006/main">
              <a:ext uri="{FF2B5EF4-FFF2-40B4-BE49-F238E27FC236}">
                <a16:creationId xmlns:a16="http://schemas.microsoft.com/office/drawing/2014/main" id="{7C7D2B81-D8E5-4975-8C9F-48F1B3E2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AD31"/>
                </a:solidFill>
              </a:defRPr>
            </a:pPr>
            <a:r>
              <a:rPr sz="1650" b="1">
                <a:solidFill>
                  <a:srgbClr val="E7AD31"/>
                </a:solidFill>
              </a:rPr>
              <a:t>READ</a:t>
            </a:r>
          </a:p>
        </p:txBody>
      </p:sp>
      <p:sp>
        <p:nvSpPr>
          <p:cNvPr id="9" name="guided-step-body-1">
            <a:extLst xmlns:a="http://schemas.openxmlformats.org/drawingml/2006/main">
              <a:ext uri="{FF2B5EF4-FFF2-40B4-BE49-F238E27FC236}">
                <a16:creationId xmlns:a16="http://schemas.microsoft.com/office/drawing/2014/main" id="{C1057B15-E1D4-486C-BCE8-98EF0EC9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identify the confirmed criteria and available evidence.</a:t>
            </a:r>
          </a:p>
        </p:txBody>
      </p:sp>
      <p:sp>
        <p:nvSpPr>
          <p:cNvPr id="10" name="guided-step-2">
            <a:extLst xmlns:a="http://schemas.openxmlformats.org/drawingml/2006/main">
              <a:ext uri="{FF2B5EF4-FFF2-40B4-BE49-F238E27FC236}">
                <a16:creationId xmlns:a16="http://schemas.microsoft.com/office/drawing/2014/main" id="{FE743925-D49A-4EE7-8F54-84385F9D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25146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76046"/>
          </a:solidFill>
          <a:ln xmlns:a="http://schemas.openxmlformats.org/drawingml/2006/main" w="0">
            <a:solidFill>
              <a:srgbClr val="176046"/>
            </a:solidFill>
            <a:prstDash val="solid"/>
          </a:ln>
        </p:spPr>
      </p:sp>
      <p:sp>
        <p:nvSpPr>
          <p:cNvPr id="11" name="guided-step-name-2">
            <a:extLst xmlns:a="http://schemas.openxmlformats.org/drawingml/2006/main">
              <a:ext uri="{FF2B5EF4-FFF2-40B4-BE49-F238E27FC236}">
                <a16:creationId xmlns:a16="http://schemas.microsoft.com/office/drawing/2014/main" id="{6842B77D-9D7E-4DC6-B3F0-51C94F75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AD31"/>
                </a:solidFill>
              </a:defRPr>
            </a:pPr>
            <a:r>
              <a:rPr sz="1650" b="1">
                <a:solidFill>
                  <a:srgbClr val="E7AD31"/>
                </a:solidFill>
              </a:rPr>
              <a:t>SELECT</a:t>
            </a:r>
          </a:p>
        </p:txBody>
      </p:sp>
      <p:sp>
        <p:nvSpPr>
          <p:cNvPr id="12" name="guided-step-body-2">
            <a:extLst xmlns:a="http://schemas.openxmlformats.org/drawingml/2006/main">
              <a:ext uri="{FF2B5EF4-FFF2-40B4-BE49-F238E27FC236}">
                <a16:creationId xmlns:a16="http://schemas.microsoft.com/office/drawing/2014/main" id="{471E1191-3D65-4349-898B-BC6539AC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choose finish, system and user evidence that is strongest.</a:t>
            </a:r>
          </a:p>
        </p:txBody>
      </p:sp>
      <p:sp>
        <p:nvSpPr>
          <p:cNvPr id="13" name="guided-step-3">
            <a:extLst xmlns:a="http://schemas.openxmlformats.org/drawingml/2006/main">
              <a:ext uri="{FF2B5EF4-FFF2-40B4-BE49-F238E27FC236}">
                <a16:creationId xmlns:a16="http://schemas.microsoft.com/office/drawing/2014/main" id="{1D787FFF-097A-44B5-9393-E07F33C0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25146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13F30"/>
          </a:solidFill>
          <a:ln xmlns:a="http://schemas.openxmlformats.org/drawingml/2006/main" w="0">
            <a:solidFill>
              <a:srgbClr val="113F30"/>
            </a:solidFill>
            <a:prstDash val="solid"/>
          </a:ln>
        </p:spPr>
      </p:sp>
      <p:sp>
        <p:nvSpPr>
          <p:cNvPr id="14" name="guided-step-name-3">
            <a:extLst xmlns:a="http://schemas.openxmlformats.org/drawingml/2006/main">
              <a:ext uri="{FF2B5EF4-FFF2-40B4-BE49-F238E27FC236}">
                <a16:creationId xmlns:a16="http://schemas.microsoft.com/office/drawing/2014/main" id="{18962221-75B6-47C3-98A3-4A42D5BE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AD31"/>
                </a:solidFill>
              </a:defRPr>
            </a:pPr>
            <a:r>
              <a:rPr sz="1650" b="1">
                <a:solidFill>
                  <a:srgbClr val="E7AD31"/>
                </a:solidFill>
              </a:rPr>
              <a:t>EXPLAIN</a:t>
            </a:r>
          </a:p>
        </p:txBody>
      </p:sp>
      <p:sp>
        <p:nvSpPr>
          <p:cNvPr id="15" name="guided-step-body-3">
            <a:extLst xmlns:a="http://schemas.openxmlformats.org/drawingml/2006/main">
              <a:ext uri="{FF2B5EF4-FFF2-40B4-BE49-F238E27FC236}">
                <a16:creationId xmlns:a16="http://schemas.microsoft.com/office/drawing/2014/main" id="{53102EF2-ACDE-431F-BD79-2E306A31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make a balanced judgement with strengths and limitations.</a:t>
            </a:r>
          </a:p>
        </p:txBody>
      </p:sp>
      <p:sp>
        <p:nvSpPr>
          <p:cNvPr id="16" name="guided-step-4">
            <a:extLst xmlns:a="http://schemas.openxmlformats.org/drawingml/2006/main">
              <a:ext uri="{FF2B5EF4-FFF2-40B4-BE49-F238E27FC236}">
                <a16:creationId xmlns:a16="http://schemas.microsoft.com/office/drawing/2014/main" id="{F525DD18-AB93-4015-B694-D843550D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25146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76046"/>
          </a:solidFill>
          <a:ln xmlns:a="http://schemas.openxmlformats.org/drawingml/2006/main" w="0">
            <a:solidFill>
              <a:srgbClr val="176046"/>
            </a:solidFill>
            <a:prstDash val="solid"/>
          </a:ln>
        </p:spPr>
      </p:sp>
      <p:sp>
        <p:nvSpPr>
          <p:cNvPr id="17" name="guided-step-name-4">
            <a:extLst xmlns:a="http://schemas.openxmlformats.org/drawingml/2006/main">
              <a:ext uri="{FF2B5EF4-FFF2-40B4-BE49-F238E27FC236}">
                <a16:creationId xmlns:a16="http://schemas.microsoft.com/office/drawing/2014/main" id="{3B59E48C-4FFE-44F2-9873-C75C4FC5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AD31"/>
                </a:solidFill>
              </a:defRPr>
            </a:pPr>
            <a:r>
              <a:rPr sz="1650" b="1">
                <a:solidFill>
                  <a:srgbClr val="E7AD31"/>
                </a:solidFill>
              </a:rPr>
              <a:t>CHECK</a:t>
            </a:r>
          </a:p>
        </p:txBody>
      </p:sp>
      <p:sp>
        <p:nvSpPr>
          <p:cNvPr id="18" name="guided-step-body-4">
            <a:extLst xmlns:a="http://schemas.openxmlformats.org/drawingml/2006/main">
              <a:ext uri="{FF2B5EF4-FFF2-40B4-BE49-F238E27FC236}">
                <a16:creationId xmlns:a16="http://schemas.microsoft.com/office/drawing/2014/main" id="{2C93E7F9-420E-4EE1-908F-260175FD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justify one testable improvement and mark missing evidence honestly.</a:t>
            </a:r>
          </a:p>
        </p:txBody>
      </p:sp>
      <p:sp>
        <p:nvSpPr>
          <p:cNvPr id="19" name="guided-sentence">
            <a:extLst xmlns:a="http://schemas.openxmlformats.org/drawingml/2006/main">
              <a:ext uri="{FF2B5EF4-FFF2-40B4-BE49-F238E27FC236}">
                <a16:creationId xmlns:a16="http://schemas.microsoft.com/office/drawing/2014/main" id="{17AE515C-4A84-4221-85EA-46966032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4932"/>
                </a:solidFill>
              </a:defRPr>
            </a:pPr>
            <a:r>
              <a:rPr sz="1500" b="1">
                <a:solidFill>
                  <a:srgbClr val="B84932"/>
                </a:solidFill>
              </a:rPr>
              <a:t>Sentence support: The strongest evidence is ___ because ___. This means ___. Before practical work, ___ still needs teacher confirmation.</a:t>
            </a:r>
          </a:p>
        </p:txBody>
      </p:sp>
      <p:sp>
        <p:nvSpPr>
          <p:cNvPr id="20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589FDAAF-6DD2-4ABA-8810-565642FC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CF"/>
          </a:solidFill>
          <a:ln xmlns:a="http://schemas.openxmlformats.org/drawingml/2006/main" w="0">
            <a:solidFill>
              <a:srgbClr val="C8D8CF"/>
            </a:solidFill>
            <a:prstDash val="solid"/>
          </a:ln>
        </p:spPr>
      </p:sp>
      <p:sp>
        <p:nvSpPr>
          <p:cNvPr id="21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9C8D83CB-EBCA-420A-8F2C-77F0A816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645D"/>
                </a:solidFill>
              </a:defRPr>
            </a:pPr>
            <a:r>
              <a:rPr sz="900" b="1">
                <a:solidFill>
                  <a:srgbClr val="54645D"/>
                </a:solidFill>
              </a:rPr>
              <a:t>SWINGING SIGN  •  MODULE 5</a:t>
            </a:r>
          </a:p>
        </p:txBody>
      </p:sp>
      <p:sp>
        <p:nvSpPr>
          <p:cNvPr id="2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DA6F6A96-B9AB-448E-901A-EADD048A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627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45D"/>
                </a:solidFill>
              </a:defRPr>
            </a:pPr>
            <a:r>
              <a:rPr sz="900" b="1">
                <a:solidFill>
                  <a:srgbClr val="54645D"/>
                </a:solidFill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5335764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849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xit-accent">
            <a:extLst xmlns:a="http://schemas.openxmlformats.org/drawingml/2006/main">
              <a:ext uri="{FF2B5EF4-FFF2-40B4-BE49-F238E27FC236}">
                <a16:creationId xmlns:a16="http://schemas.microsoft.com/office/drawing/2014/main" id="{5FB24162-7057-44F4-9757-4AAD30EA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2" name="exit-kicker">
            <a:extLst xmlns:a="http://schemas.openxmlformats.org/drawingml/2006/main">
              <a:ext uri="{FF2B5EF4-FFF2-40B4-BE49-F238E27FC236}">
                <a16:creationId xmlns:a16="http://schemas.microsoft.com/office/drawing/2014/main" id="{A4510F6E-1712-47D9-AAA2-FFF82895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E6D9"/>
                </a:solidFill>
              </a:defRPr>
            </a:pPr>
            <a:r>
              <a:rPr sz="1125" b="1">
                <a:solidFill>
                  <a:srgbClr val="FFE6D9"/>
                </a:solidFill>
              </a:rPr>
              <a:t>MODULE 5  •  EXIT EVIDENCE</a:t>
            </a:r>
          </a:p>
        </p:txBody>
      </p:sp>
      <p:sp>
        <p:nvSpPr>
          <p:cNvPr id="3" name="exit-title">
            <a:extLst xmlns:a="http://schemas.openxmlformats.org/drawingml/2006/main">
              <a:ext uri="{FF2B5EF4-FFF2-40B4-BE49-F238E27FC236}">
                <a16:creationId xmlns:a16="http://schemas.microsoft.com/office/drawing/2014/main" id="{46F360A9-91BD-4576-A1EB-11DC2444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4" name="exit-row-1">
            <a:extLst xmlns:a="http://schemas.openxmlformats.org/drawingml/2006/main">
              <a:ext uri="{FF2B5EF4-FFF2-40B4-BE49-F238E27FC236}">
                <a16:creationId xmlns:a16="http://schemas.microsoft.com/office/drawing/2014/main" id="{DC219880-1464-4105-BE3F-412D4C20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096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exit-number-1">
            <a:extLst xmlns:a="http://schemas.openxmlformats.org/drawingml/2006/main">
              <a:ext uri="{FF2B5EF4-FFF2-40B4-BE49-F238E27FC236}">
                <a16:creationId xmlns:a16="http://schemas.microsoft.com/office/drawing/2014/main" id="{F97DAC97-1780-4D6A-AD6F-064ADA2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84932"/>
                </a:solidFill>
              </a:defRPr>
            </a:pPr>
            <a:r>
              <a:rPr sz="1725" b="1">
                <a:solidFill>
                  <a:srgbClr val="B84932"/>
                </a:solidFill>
              </a:rPr>
              <a:t>1</a:t>
            </a:r>
          </a:p>
        </p:txBody>
      </p:sp>
      <p:sp>
        <p:nvSpPr>
          <p:cNvPr id="6" name="exit-prompt-1">
            <a:extLst xmlns:a="http://schemas.openxmlformats.org/drawingml/2006/main">
              <a:ext uri="{FF2B5EF4-FFF2-40B4-BE49-F238E27FC236}">
                <a16:creationId xmlns:a16="http://schemas.microsoft.com/office/drawing/2014/main" id="{18A792FF-744E-41CB-B299-AC5A8B04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33625"/>
            <a:ext cx="699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F30"/>
                </a:solidFill>
              </a:defRPr>
            </a:pPr>
            <a:r>
              <a:rPr sz="1725" b="1">
                <a:solidFill>
                  <a:srgbClr val="113F30"/>
                </a:solidFill>
              </a:rPr>
              <a:t>One idea I can now explain is…</a:t>
            </a:r>
          </a:p>
        </p:txBody>
      </p:sp>
      <p:sp>
        <p:nvSpPr>
          <p:cNvPr id="7" name="exit-row-2">
            <a:extLst xmlns:a="http://schemas.openxmlformats.org/drawingml/2006/main">
              <a:ext uri="{FF2B5EF4-FFF2-40B4-BE49-F238E27FC236}">
                <a16:creationId xmlns:a16="http://schemas.microsoft.com/office/drawing/2014/main" id="{671606AB-A457-464A-BD19-A0939359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096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exit-number-2">
            <a:extLst xmlns:a="http://schemas.openxmlformats.org/drawingml/2006/main">
              <a:ext uri="{FF2B5EF4-FFF2-40B4-BE49-F238E27FC236}">
                <a16:creationId xmlns:a16="http://schemas.microsoft.com/office/drawing/2014/main" id="{0383A2F3-A422-4055-9E03-A57D4A98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84932"/>
                </a:solidFill>
              </a:defRPr>
            </a:pPr>
            <a:r>
              <a:rPr sz="1725" b="1">
                <a:solidFill>
                  <a:srgbClr val="B84932"/>
                </a:solidFill>
              </a:rPr>
              <a:t>2</a:t>
            </a:r>
          </a:p>
        </p:txBody>
      </p:sp>
      <p:sp>
        <p:nvSpPr>
          <p:cNvPr id="9" name="exit-prompt-2">
            <a:extLst xmlns:a="http://schemas.openxmlformats.org/drawingml/2006/main">
              <a:ext uri="{FF2B5EF4-FFF2-40B4-BE49-F238E27FC236}">
                <a16:creationId xmlns:a16="http://schemas.microsoft.com/office/drawing/2014/main" id="{6CCBD55D-7BEF-4B8E-8DF0-67F86F52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28975"/>
            <a:ext cx="699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F30"/>
                </a:solidFill>
              </a:defRPr>
            </a:pPr>
            <a:r>
              <a:rPr sz="1725" b="1">
                <a:solidFill>
                  <a:srgbClr val="113F30"/>
                </a:solidFill>
              </a:rPr>
              <a:t>One design or production decision this changes is…</a:t>
            </a:r>
          </a:p>
        </p:txBody>
      </p:sp>
      <p:sp>
        <p:nvSpPr>
          <p:cNvPr id="10" name="exit-row-3">
            <a:extLst xmlns:a="http://schemas.openxmlformats.org/drawingml/2006/main">
              <a:ext uri="{FF2B5EF4-FFF2-40B4-BE49-F238E27FC236}">
                <a16:creationId xmlns:a16="http://schemas.microsoft.com/office/drawing/2014/main" id="{4153229A-AEAC-4D63-BF7D-7ADAB12F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8096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exit-number-3">
            <a:extLst xmlns:a="http://schemas.openxmlformats.org/drawingml/2006/main">
              <a:ext uri="{FF2B5EF4-FFF2-40B4-BE49-F238E27FC236}">
                <a16:creationId xmlns:a16="http://schemas.microsoft.com/office/drawing/2014/main" id="{66304207-E49A-4540-861F-00758301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84932"/>
                </a:solidFill>
              </a:defRPr>
            </a:pPr>
            <a:r>
              <a:rPr sz="1725" b="1">
                <a:solidFill>
                  <a:srgbClr val="B84932"/>
                </a:solidFill>
              </a:rPr>
              <a:t>3</a:t>
            </a:r>
          </a:p>
        </p:txBody>
      </p:sp>
      <p:sp>
        <p:nvSpPr>
          <p:cNvPr id="12" name="exit-prompt-3">
            <a:extLst xmlns:a="http://schemas.openxmlformats.org/drawingml/2006/main">
              <a:ext uri="{FF2B5EF4-FFF2-40B4-BE49-F238E27FC236}">
                <a16:creationId xmlns:a16="http://schemas.microsoft.com/office/drawing/2014/main" id="{ED46689A-E7C0-428A-B83C-B7B76F65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24325"/>
            <a:ext cx="699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F30"/>
                </a:solidFill>
              </a:defRPr>
            </a:pPr>
            <a:r>
              <a:rPr sz="1725" b="1">
                <a:solidFill>
                  <a:srgbClr val="113F30"/>
                </a:solidFill>
              </a:rPr>
              <a:t>One question I still need answered is…</a:t>
            </a:r>
          </a:p>
        </p:txBody>
      </p:sp>
      <p:sp>
        <p:nvSpPr>
          <p:cNvPr id="13" name="exit-evidence-circle">
            <a:extLst xmlns:a="http://schemas.openxmlformats.org/drawingml/2006/main">
              <a:ext uri="{FF2B5EF4-FFF2-40B4-BE49-F238E27FC236}">
                <a16:creationId xmlns:a16="http://schemas.microsoft.com/office/drawing/2014/main" id="{0A436F4D-6AE7-474C-AB2E-B1B3F11A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600200" cy="160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D31"/>
          </a:solidFill>
          <a:ln xmlns:a="http://schemas.openxmlformats.org/drawingml/2006/main" w="0">
            <a:solidFill>
              <a:srgbClr val="E7AD31"/>
            </a:solidFill>
            <a:prstDash val="solid"/>
          </a:ln>
        </p:spPr>
      </p:sp>
      <p:sp>
        <p:nvSpPr>
          <p:cNvPr id="14" name="exit-evidence-label">
            <a:extLst xmlns:a="http://schemas.openxmlformats.org/drawingml/2006/main">
              <a:ext uri="{FF2B5EF4-FFF2-40B4-BE49-F238E27FC236}">
                <a16:creationId xmlns:a16="http://schemas.microsoft.com/office/drawing/2014/main" id="{2A9EBCA4-5935-4184-A386-60DA536B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819400"/>
            <a:ext cx="1162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3F30"/>
                </a:solidFill>
              </a:defRPr>
            </a:pPr>
            <a:r>
              <a:rPr sz="1725" b="1">
                <a:solidFill>
                  <a:srgbClr val="113F30"/>
                </a:solidFill>
              </a:rPr>
              <a:t>SAVE</a:t>
            </a:r>
          </a:p>
          <a:p xmlns:a="http://schemas.openxmlformats.org/drawingml/2006/main">
            <a:pPr algn="ctr">
              <a:defRPr sz="1725" b="1">
                <a:solidFill>
                  <a:srgbClr val="113F30"/>
                </a:solidFill>
              </a:defRPr>
            </a:pPr>
            <a:r>
              <a:rPr sz="1725" b="1">
                <a:solidFill>
                  <a:srgbClr val="113F30"/>
                </a:solidFill>
              </a:rPr>
              <a:t>YOUR</a:t>
            </a:r>
          </a:p>
          <a:p xmlns:a="http://schemas.openxmlformats.org/drawingml/2006/main">
            <a:pPr algn="ctr">
              <a:defRPr sz="1725" b="1">
                <a:solidFill>
                  <a:srgbClr val="113F30"/>
                </a:solidFill>
              </a:defRPr>
            </a:pPr>
            <a:r>
              <a:rPr sz="1725" b="1">
                <a:solidFill>
                  <a:srgbClr val="113F30"/>
                </a:solidFill>
              </a:rPr>
              <a:t>EVIDENCE</a:t>
            </a:r>
          </a:p>
        </p:txBody>
      </p:sp>
      <p:sp>
        <p:nvSpPr>
          <p:cNvPr id="15" name="exit-folio">
            <a:extLst xmlns:a="http://schemas.openxmlformats.org/drawingml/2006/main">
              <a:ext uri="{FF2B5EF4-FFF2-40B4-BE49-F238E27FC236}">
                <a16:creationId xmlns:a16="http://schemas.microsoft.com/office/drawing/2014/main" id="{43C6F829-EBA3-4F88-B61F-2AE7E664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My folio cards 10–12: Finish and function check; Evaluation against criteria; Feedback and future improvement.</a:t>
            </a:r>
          </a:p>
        </p:txBody>
      </p:sp>
      <p:sp>
        <p:nvSpPr>
          <p:cNvPr id="16" name="exit-next">
            <a:extLst xmlns:a="http://schemas.openxmlformats.org/drawingml/2006/main">
              <a:ext uri="{FF2B5EF4-FFF2-40B4-BE49-F238E27FC236}">
                <a16:creationId xmlns:a16="http://schemas.microsoft.com/office/drawing/2014/main" id="{1ECE0D60-12B9-439E-A05E-1FFC5B40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E6D9"/>
                </a:solidFill>
              </a:defRPr>
            </a:pPr>
            <a:r>
              <a:rPr sz="1425" b="0">
                <a:solidFill>
                  <a:srgbClr val="FFE6D9"/>
                </a:solidFill>
              </a:rPr>
              <a:t>Next: export a whole-course backup and follow the teacher's official submission direction.</a:t>
            </a:r>
          </a:p>
        </p:txBody>
      </p:sp>
      <p:sp>
        <p:nvSpPr>
          <p:cNvPr id="17" name="exit-page">
            <a:extLst xmlns:a="http://schemas.openxmlformats.org/drawingml/2006/main">
              <a:ext uri="{FF2B5EF4-FFF2-40B4-BE49-F238E27FC236}">
                <a16:creationId xmlns:a16="http://schemas.microsoft.com/office/drawing/2014/main" id="{55EBFCA7-B986-43D9-A57F-E6ACC2A5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E6D9"/>
                </a:solidFill>
              </a:defRPr>
            </a:pPr>
            <a:r>
              <a:rPr sz="900" b="1">
                <a:solidFill>
                  <a:srgbClr val="FFE6D9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213090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2026-08-31T23:37:19.6290000Z</dcterms:created>
  <dcterms:modified xsi:type="dcterms:W3CDTF">2026-08-31T23:37:19.6290000Z</dcterms:modified>
</coreProperties>
</file>