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f26ba121424797" /><Relationship Type="http://schemas.openxmlformats.org/officeDocument/2006/relationships/extended-properties" Target="/docProps/app.xml" Id="Ra653d3c07b314b60" /><Relationship Type="http://schemas.openxmlformats.org/officeDocument/2006/relationships/officeDocument" Target="/ppt/presentation.xml" Id="Rcbfde729a66741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5f7e17d10f43ea"/>
  </p:sldMasterIdLst>
  <p:notesMasterIdLst>
    <p:notesMasterId xmlns:r="http://schemas.openxmlformats.org/officeDocument/2006/relationships" r:id="R71cd510b40164748"/>
  </p:notesMasterIdLst>
  <p:sldIdLst>
    <p:sldId xmlns:r="http://schemas.openxmlformats.org/officeDocument/2006/relationships" id="256" r:id="R3dfa800da19e4bf6"/>
    <p:sldId xmlns:r="http://schemas.openxmlformats.org/officeDocument/2006/relationships" id="257" r:id="Rf949a49224294905"/>
    <p:sldId xmlns:r="http://schemas.openxmlformats.org/officeDocument/2006/relationships" id="258" r:id="Rad8ebbccf23847b4"/>
    <p:sldId xmlns:r="http://schemas.openxmlformats.org/officeDocument/2006/relationships" id="259" r:id="Rbd62eeedf23c4f25"/>
    <p:sldId xmlns:r="http://schemas.openxmlformats.org/officeDocument/2006/relationships" id="260" r:id="Rc909b8e266774ac4"/>
    <p:sldId xmlns:r="http://schemas.openxmlformats.org/officeDocument/2006/relationships" id="261" r:id="R39ba1a06578949ae"/>
    <p:sldId xmlns:r="http://schemas.openxmlformats.org/officeDocument/2006/relationships" id="262" r:id="Rbc4d242e81034d4a"/>
    <p:sldId xmlns:r="http://schemas.openxmlformats.org/officeDocument/2006/relationships" id="263" r:id="R12c9aa0474024b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d84b70dd0e54276" /><Relationship Type="http://schemas.openxmlformats.org/officeDocument/2006/relationships/slideMaster" Target="/ppt/slideMasters/slideMaster1.xml" Id="R0a5f7e17d10f43ea" /><Relationship Type="http://schemas.openxmlformats.org/officeDocument/2006/relationships/notesMaster" Target="/ppt/notesMasters/notesMaster1.xml" Id="R71cd510b40164748" /><Relationship Type="http://schemas.openxmlformats.org/officeDocument/2006/relationships/presProps" Target="/ppt/presProps.xml" Id="R7900539f65094573" /><Relationship Type="http://schemas.openxmlformats.org/officeDocument/2006/relationships/tableStyles" Target="/ppt/tableStyles.xml" Id="R826b0b12a0c14009" /><Relationship Type="http://schemas.openxmlformats.org/officeDocument/2006/relationships/slide" Target="/ppt/slides/slide1.xml" Id="R3dfa800da19e4bf6" /><Relationship Type="http://schemas.openxmlformats.org/officeDocument/2006/relationships/slide" Target="/ppt/slides/slide2.xml" Id="Rf949a49224294905" /><Relationship Type="http://schemas.openxmlformats.org/officeDocument/2006/relationships/slide" Target="/ppt/slides/slide3.xml" Id="Rad8ebbccf23847b4" /><Relationship Type="http://schemas.openxmlformats.org/officeDocument/2006/relationships/slide" Target="/ppt/slides/slide4.xml" Id="Rbd62eeedf23c4f25" /><Relationship Type="http://schemas.openxmlformats.org/officeDocument/2006/relationships/slide" Target="/ppt/slides/slide5.xml" Id="Rc909b8e266774ac4" /><Relationship Type="http://schemas.openxmlformats.org/officeDocument/2006/relationships/slide" Target="/ppt/slides/slide6.xml" Id="R39ba1a06578949ae" /><Relationship Type="http://schemas.openxmlformats.org/officeDocument/2006/relationships/slide" Target="/ppt/slides/slide7.xml" Id="Rbc4d242e81034d4a" /><Relationship Type="http://schemas.openxmlformats.org/officeDocument/2006/relationships/slide" Target="/ppt/slides/slide8.xml" Id="R12c9aa0474024b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ec3971c5db40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07b0dca745e448d" /><Relationship Type="http://schemas.openxmlformats.org/officeDocument/2006/relationships/notesMaster" Target="/ppt/notesMasters/notesMaster1.xml" Id="R7152a5de9b0f4b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faf94b18a54b44" /><Relationship Type="http://schemas.openxmlformats.org/officeDocument/2006/relationships/notesMaster" Target="/ppt/notesMasters/notesMaster1.xml" Id="R53124111892a4d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528dda94f743af" /><Relationship Type="http://schemas.openxmlformats.org/officeDocument/2006/relationships/notesMaster" Target="/ppt/notesMasters/notesMaster1.xml" Id="R6ddc4f3008af47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e716db67784aaf" /><Relationship Type="http://schemas.openxmlformats.org/officeDocument/2006/relationships/notesMaster" Target="/ppt/notesMasters/notesMaster1.xml" Id="R474c829571e74e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63a0ba299c43d4" /><Relationship Type="http://schemas.openxmlformats.org/officeDocument/2006/relationships/notesMaster" Target="/ppt/notesMasters/notesMaster1.xml" Id="Rd85f1934d9e649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7637be6f634649" /><Relationship Type="http://schemas.openxmlformats.org/officeDocument/2006/relationships/notesMaster" Target="/ppt/notesMasters/notesMaster1.xml" Id="R364a62669dee4e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dfd71420de4f34" /><Relationship Type="http://schemas.openxmlformats.org/officeDocument/2006/relationships/notesMaster" Target="/ppt/notesMasters/notesMaster1.xml" Id="Rad080a3e268741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a483e8e262f4c5e" /><Relationship Type="http://schemas.openxmlformats.org/officeDocument/2006/relationships/notesMaster" Target="/ppt/notesMasters/notesMaster1.xml" Id="R9c97c41d32c243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purpose: establish why Module 5 matters and connect it to the student's approved project pathway.</a:t>
            </a:r>
          </a:p>
          <a:p xmlns:a="http://schemas.openxmlformats.org/drawingml/2006/main">
            <a:r>
              <a:t>Say: Connect finish, approved use testing and evaluation so the final result can be judged and improved responsibly.</a:t>
            </a:r>
          </a:p>
          <a:p xmlns:a="http://schemas.openxmlformats.org/drawingml/2006/main">
            <a:r>
              <a:t>Prompt: Which word in the outcome names the decision students will make or explain?</a:t>
            </a:r>
          </a:p>
          <a:p xmlns:a="http://schemas.openxmlformats.org/drawingml/2006/main">
            <a:r>
              <a:t>Transition: The next slide maps the three ideas that build that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procedure boundary: This deck teaches design and production thinking only. Before any practical action, follow the current teacher-approved plan, demonstration, risk controls, materials, tools, process and authorisation.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NSW Curriculum, Technology 7–8 (2023), overview: https://curriculum.nsw.edu.au/learning-areas/tas/technology-7-8-2023/overview/course</a:t>
            </a:r>
          </a:p>
          <a:p xmlns:a="http://schemas.openxmlformats.org/drawingml/2006/main">
            <a:r>
              <a:t>- NSW Curriculum, Technology 7–8 (2023), outcomes: https://curriculum.nsw.edu.au/learning-areas/tas/technology-7-8-2023/outcomes</a:t>
            </a:r>
          </a:p>
          <a:p xmlns:a="http://schemas.openxmlformats.org/drawingml/2006/main">
            <a:r>
              <a:t>- NSW Curriculum, Technology 7–8 (2023), Stage 4 content: https://curriculum.nsw.edu.au/learning-areas/tas/technology-7-8-2023/content/stage-4/fadc5a8620</a:t>
            </a:r>
          </a:p>
          <a:p xmlns:a="http://schemas.openxmlformats.org/drawingml/2006/main">
            <a:r>
              <a:t>- Teacher-authored five-week unit guide supplied privately for this build; no private link embedded.</a:t>
            </a:r>
          </a:p>
          <a:p xmlns:a="http://schemas.openxmlformats.org/drawingml/2006/main">
            <a:r>
              <a:t>- Original generated course visual: outputs/swinging-sign-course-site/assets/teaching/module-05-overview.png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purpose: preview the three named sections as one connected learning progression.</a:t>
            </a:r>
          </a:p>
          <a:p xmlns:a="http://schemas.openxmlformats.org/drawingml/2006/main">
            <a:r>
              <a:t>Warm-up prompt: Retrieval: what makes quality evidence stronger than a personal opinion?</a:t>
            </a:r>
          </a:p>
          <a:p xmlns:a="http://schemas.openxmlformats.org/drawingml/2006/main">
            <a:r>
              <a:t>Invite a silent answer first, then take two contrasting responses. Do not resolve every detail yet.</a:t>
            </a:r>
          </a:p>
          <a:p xmlns:a="http://schemas.openxmlformats.org/drawingml/2006/main">
            <a:r>
              <a:t>Transition: Move from the route map into the first idea and ask students to listen for evidence they can reuse later.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procedure boundary: This deck teaches design and production thinking only. Before any practical action, follow the current teacher-approved plan, demonstration, risk controls, materials, tools, process and authorisation.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NSW Curriculum, Technology 7–8 (2023), overview: https://curriculum.nsw.edu.au/learning-areas/tas/technology-7-8-2023/overview/course</a:t>
            </a:r>
          </a:p>
          <a:p xmlns:a="http://schemas.openxmlformats.org/drawingml/2006/main">
            <a:r>
              <a:t>- NSW Curriculum, Technology 7–8 (2023), outcomes: https://curriculum.nsw.edu.au/learning-areas/tas/technology-7-8-2023/outcomes</a:t>
            </a:r>
          </a:p>
          <a:p xmlns:a="http://schemas.openxmlformats.org/drawingml/2006/main">
            <a:r>
              <a:t>- NSW Curriculum, Technology 7–8 (2023), Stage 4 content: https://curriculum.nsw.edu.au/learning-areas/tas/technology-7-8-2023/content/stage-4/fadc5a8620</a:t>
            </a:r>
          </a:p>
          <a:p xmlns:a="http://schemas.openxmlformats.org/drawingml/2006/main">
            <a:r>
              <a:t>- Teacher-authored five-week unit guide supplied privately for this build; no private link embedded.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purpose: teach surface preparation and coatings as part of the module's connected decision-making sequence.</a:t>
            </a:r>
          </a:p>
          <a:p xmlns:a="http://schemas.openxmlformats.org/drawingml/2006/main">
            <a:r>
              <a:t>Key explanation: The substrate, approved preparation, primer, topcoat, environment and curing time work as one finish system. Each layer has a purpose. Compatibility and surface condition affect adhesion, appearance and service performance. Judge the finish against confirmed criteria; never substitute an unapproved product or application method.</a:t>
            </a:r>
          </a:p>
          <a:p xmlns:a="http://schemas.openxmlformats.org/drawingml/2006/main">
            <a:r>
              <a:t>Prompt to the room: Explain what evidence would show that a finish system meets both appearance and service needs.</a:t>
            </a:r>
          </a:p>
          <a:p xmlns:a="http://schemas.openxmlformats.org/drawingml/2006/main">
            <a:r>
              <a:t>Likely misconception: Finishing is more than colour, and products are not interchangeable.</a:t>
            </a:r>
          </a:p>
          <a:p xmlns:a="http://schemas.openxmlformats.org/drawingml/2006/main">
            <a:r>
              <a:t>Transition: Ask students to keep one precise term or relationship for the retrieval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procedure boundary: The teacher confirms every coating product, preparation method, application step, environment and curing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NSW Curriculum, Technology 7–8 (2023), overview: https://curriculum.nsw.edu.au/learning-areas/tas/technology-7-8-2023/overview/course</a:t>
            </a:r>
          </a:p>
          <a:p xmlns:a="http://schemas.openxmlformats.org/drawingml/2006/main">
            <a:r>
              <a:t>- NSW Curriculum, Technology 7–8 (2023), outcomes: https://curriculum.nsw.edu.au/learning-areas/tas/technology-7-8-2023/outcomes</a:t>
            </a:r>
          </a:p>
          <a:p xmlns:a="http://schemas.openxmlformats.org/drawingml/2006/main">
            <a:r>
              <a:t>- NSW Curriculum, Technology 7–8 (2023), Stage 4 content: https://curriculum.nsw.edu.au/learning-areas/tas/technology-7-8-2023/content/stage-4/fadc5a8620</a:t>
            </a:r>
          </a:p>
          <a:p xmlns:a="http://schemas.openxmlformats.org/drawingml/2006/main">
            <a:r>
              <a:t>- Teacher-authored five-week unit guide supplied privately for this build; no private link embedded.</a:t>
            </a:r>
          </a:p>
          <a:p xmlns:a="http://schemas.openxmlformats.org/drawingml/2006/main">
            <a:r>
              <a:t>- Original generated course visual: outputs/swinging-sign-course-site/assets/teaching/m05s01-surface-preparation-coatings.png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purpose: teach hanging, stability and use as part of the module's connected decision-making sequence.</a:t>
            </a:r>
          </a:p>
          <a:p xmlns:a="http://schemas.openxmlformats.org/drawingml/2006/main">
            <a:r>
              <a:t>Key explanation: A hanging system includes the product, every connection, the support and the conditions in which it will be used. A load path explains how effects travel through the system. Looking level once does not prove capacity or long-term suitability. Use only teacher-approved test criteria and installation decisions for the actual context.</a:t>
            </a:r>
          </a:p>
          <a:p xmlns:a="http://schemas.openxmlformats.org/drawingml/2006/main">
            <a:r>
              <a:t>Prompt to the room: Trace the system from product to support and name the evidence needed before approved use.</a:t>
            </a:r>
          </a:p>
          <a:p xmlns:a="http://schemas.openxmlformats.org/drawingml/2006/main">
            <a:r>
              <a:t>Likely misconception: One successful hold does not prove a safe load or installation.</a:t>
            </a:r>
          </a:p>
          <a:p xmlns:a="http://schemas.openxmlformats.org/drawingml/2006/main">
            <a:r>
              <a:t>Transition: Ask students to keep one precise term or relationship for the retrieval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procedure boundary: Loads, supports, installation and testing are teacher-controlled. Pot-holder stability and loading remain Teacher to confirm.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NSW Curriculum, Technology 7–8 (2023), overview: https://curriculum.nsw.edu.au/learning-areas/tas/technology-7-8-2023/overview/course</a:t>
            </a:r>
          </a:p>
          <a:p xmlns:a="http://schemas.openxmlformats.org/drawingml/2006/main">
            <a:r>
              <a:t>- NSW Curriculum, Technology 7–8 (2023), outcomes: https://curriculum.nsw.edu.au/learning-areas/tas/technology-7-8-2023/outcomes</a:t>
            </a:r>
          </a:p>
          <a:p xmlns:a="http://schemas.openxmlformats.org/drawingml/2006/main">
            <a:r>
              <a:t>- NSW Curriculum, Technology 7–8 (2023), Stage 4 content: https://curriculum.nsw.edu.au/learning-areas/tas/technology-7-8-2023/content/stage-4/fadc5a8620</a:t>
            </a:r>
          </a:p>
          <a:p xmlns:a="http://schemas.openxmlformats.org/drawingml/2006/main">
            <a:r>
              <a:t>- Teacher-authored five-week unit guide supplied privately for this build; no private link embedded.</a:t>
            </a:r>
          </a:p>
          <a:p xmlns:a="http://schemas.openxmlformats.org/drawingml/2006/main">
            <a:r>
              <a:t>- Original generated course visual: outputs/swinging-sign-course-site/assets/teaching/m05s02-hanging-stability-use.png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purpose: teach evaluate, feedback and improve as part of the module's connected decision-making sequence.</a:t>
            </a:r>
          </a:p>
          <a:p xmlns:a="http://schemas.openxmlformats.org/drawingml/2006/main">
            <a:r>
              <a:t>Key explanation: A balanced evaluation judges the result against confirmed criteria using specific evidence, not preference alone. Feedback must be interpreted: decide whether it is relevant, reliable and connected to the user's need. A useful improvement names the change, reason, expected benefit and evidence that would show it worked.</a:t>
            </a:r>
          </a:p>
          <a:p xmlns:a="http://schemas.openxmlformats.org/drawingml/2006/main">
            <a:r>
              <a:t>Prompt to the room: Choose one high-priority improvement and justify why it matters more than the alternatives.</a:t>
            </a:r>
          </a:p>
          <a:p xmlns:a="http://schemas.openxmlformats.org/drawingml/2006/main">
            <a:r>
              <a:t>Likely misconception: Evaluation is not a list of faults or a statement of whether you liked the product.</a:t>
            </a:r>
          </a:p>
          <a:p xmlns:a="http://schemas.openxmlformats.org/drawingml/2006/main">
            <a:r>
              <a:t>Transition: Ask students to keep one precise term or relationship for the retrieval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procedure boundary: Formal marks, due dates, weightings and submission requirements come only from the official teacher-issued task notice.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NSW Curriculum, Technology 7–8 (2023), overview: https://curriculum.nsw.edu.au/learning-areas/tas/technology-7-8-2023/overview/course</a:t>
            </a:r>
          </a:p>
          <a:p xmlns:a="http://schemas.openxmlformats.org/drawingml/2006/main">
            <a:r>
              <a:t>- NSW Curriculum, Technology 7–8 (2023), outcomes: https://curriculum.nsw.edu.au/learning-areas/tas/technology-7-8-2023/outcomes</a:t>
            </a:r>
          </a:p>
          <a:p xmlns:a="http://schemas.openxmlformats.org/drawingml/2006/main">
            <a:r>
              <a:t>- NSW Curriculum, Technology 7–8 (2023), Stage 4 content: https://curriculum.nsw.edu.au/learning-areas/tas/technology-7-8-2023/content/stage-4/fadc5a8620</a:t>
            </a:r>
          </a:p>
          <a:p xmlns:a="http://schemas.openxmlformats.org/drawingml/2006/main">
            <a:r>
              <a:t>- Teacher-authored five-week unit guide supplied privately for this build; no private link embedded.</a:t>
            </a:r>
          </a:p>
          <a:p xmlns:a="http://schemas.openxmlformats.org/drawingml/2006/main">
            <a:r>
              <a:t>- Original generated course visual: outputs/swinging-sign-course-site/assets/teaching/m05s03-evaluate-feedback-improve.png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purpose: retrieve all three taught ideas before students construct a longer response.</a:t>
            </a:r>
          </a:p>
          <a:p xmlns:a="http://schemas.openxmlformats.org/drawingml/2006/main">
            <a:r>
              <a:t>Routine: 45 seconds silent thinking, one partner explanation, then sample reasoning from the room.</a:t>
            </a:r>
          </a:p>
          <a:p xmlns:a="http://schemas.openxmlformats.org/drawingml/2006/main">
            <a:r>
              <a:t>Question 1: Why is a finish described as a system?</a:t>
            </a:r>
          </a:p>
          <a:p xmlns:a="http://schemas.openxmlformats.org/drawingml/2006/main">
            <a:r>
              <a:t>Question 2: What belongs in a hanging product's load path?</a:t>
            </a:r>
          </a:p>
          <a:p xmlns:a="http://schemas.openxmlformats.org/drawingml/2006/main">
            <a:r>
              <a:t>Question 3: What can one successful hold prove — and not prove?</a:t>
            </a:r>
          </a:p>
          <a:p xmlns:a="http://schemas.openxmlformats.org/drawingml/2006/main">
            <a:r>
              <a:t>Question 4: What makes an improvement specific and testable?</a:t>
            </a:r>
          </a:p>
          <a:p xmlns:a="http://schemas.openxmlformats.org/drawingml/2006/main">
            <a:r>
              <a:t>Listen for unsupported practical claims. Redirect students to evidence and Teacher to confirm where needed.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procedure boundary: This deck teaches design and production thinking only. Before any practical action, follow the current teacher-approved plan, demonstration, risk controls, materials, tools, process and authorisation.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NSW Curriculum, Technology 7–8 (2023), overview: https://curriculum.nsw.edu.au/learning-areas/tas/technology-7-8-2023/overview/course</a:t>
            </a:r>
          </a:p>
          <a:p xmlns:a="http://schemas.openxmlformats.org/drawingml/2006/main">
            <a:r>
              <a:t>- NSW Curriculum, Technology 7–8 (2023), outcomes: https://curriculum.nsw.edu.au/learning-areas/tas/technology-7-8-2023/outcomes</a:t>
            </a:r>
          </a:p>
          <a:p xmlns:a="http://schemas.openxmlformats.org/drawingml/2006/main">
            <a:r>
              <a:t>- NSW Curriculum, Technology 7–8 (2023), Stage 4 content: https://curriculum.nsw.edu.au/learning-areas/tas/technology-7-8-2023/content/stage-4/fadc5a8620</a:t>
            </a:r>
          </a:p>
          <a:p xmlns:a="http://schemas.openxmlformats.org/drawingml/2006/main">
            <a:r>
              <a:t>- Teacher-authored five-week unit guide supplied privately for this build; no private link embedded.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purpose: scaffold a higher-order response that joins evidence from all three module sections.</a:t>
            </a:r>
          </a:p>
          <a:p xmlns:a="http://schemas.openxmlformats.org/drawingml/2006/main">
            <a:r>
              <a:t>Read the question aloud: Evaluate a completed project or teacher-provided case. Judge finish and use evidence against criteria, interpret feedback and justify one high-priority improvement.</a:t>
            </a:r>
          </a:p>
          <a:p xmlns:a="http://schemas.openxmlformats.org/drawingml/2006/main">
            <a:r>
              <a:t>Scaffold: Read: identify the confirmed criteria and available evidence. Select: choose finish, system and user evidence that is strongest. Explain: make a balanced judgement with strengths and limitations. Check: justify one testable improvement and mark missing evidence honestly.</a:t>
            </a:r>
          </a:p>
          <a:p xmlns:a="http://schemas.openxmlformats.org/drawingml/2006/main">
            <a:r>
              <a:t>Model only the first connection, then release students to complete their own explanation.</a:t>
            </a:r>
          </a:p>
          <a:p xmlns:a="http://schemas.openxmlformats.org/drawingml/2006/main">
            <a:r>
              <a:t>Success check: accurate concepts, explicit evidence, a justified decision and honest treatment of unconfirmed local facts.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procedure boundary: This deck teaches design and production thinking only. Before any practical action, follow the current teacher-approved plan, demonstration, risk controls, materials, tools, process and authorisation.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NSW Curriculum, Technology 7–8 (2023), overview: https://curriculum.nsw.edu.au/learning-areas/tas/technology-7-8-2023/overview/course</a:t>
            </a:r>
          </a:p>
          <a:p xmlns:a="http://schemas.openxmlformats.org/drawingml/2006/main">
            <a:r>
              <a:t>- NSW Curriculum, Technology 7–8 (2023), outcomes: https://curriculum.nsw.edu.au/learning-areas/tas/technology-7-8-2023/outcomes</a:t>
            </a:r>
          </a:p>
          <a:p xmlns:a="http://schemas.openxmlformats.org/drawingml/2006/main">
            <a:r>
              <a:t>- NSW Curriculum, Technology 7–8 (2023), Stage 4 content: https://curriculum.nsw.edu.au/learning-areas/tas/technology-7-8-2023/content/stage-4/fadc5a8620</a:t>
            </a:r>
          </a:p>
          <a:p xmlns:a="http://schemas.openxmlformats.org/drawingml/2006/main">
            <a:r>
              <a:t>- Teacher-authored five-week unit guide supplied privately for this build; no private link embedded.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purpose: convert the lesson into immediate, retrievable evidence and make the next step explicit.</a:t>
            </a:r>
          </a:p>
          <a:p xmlns:a="http://schemas.openxmlformats.org/drawingml/2006/main">
            <a:r>
              <a:t>Give students quiet time to complete all three prompts before sharing.</a:t>
            </a:r>
          </a:p>
          <a:p xmlns:a="http://schemas.openxmlformats.org/drawingml/2006/main">
            <a:r>
              <a:t>Evidence destination: My folio cards 10–12: Finish and function check; Evaluation against criteria; Feedback and future improvement.</a:t>
            </a:r>
          </a:p>
          <a:p xmlns:a="http://schemas.openxmlformats.org/drawingml/2006/main">
            <a:r>
              <a:t>Next step: Next: export a whole-course backup and follow the teacher's official submission direction.</a:t>
            </a:r>
          </a:p>
          <a:p xmlns:a="http://schemas.openxmlformats.org/drawingml/2006/main">
            <a:r>
              <a:t>Saving to the browser or exporting a folio is not formal submission. Follow the teacher's current submission direction.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procedure boundary: This deck teaches design and production thinking only. Before any practical action, follow the current teacher-approved plan, demonstration, risk controls, materials, tools, process and authorisation.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NSW Curriculum, Technology 7–8 (2023), overview: https://curriculum.nsw.edu.au/learning-areas/tas/technology-7-8-2023/overview/course</a:t>
            </a:r>
          </a:p>
          <a:p xmlns:a="http://schemas.openxmlformats.org/drawingml/2006/main">
            <a:r>
              <a:t>- NSW Curriculum, Technology 7–8 (2023), outcomes: https://curriculum.nsw.edu.au/learning-areas/tas/technology-7-8-2023/outcomes</a:t>
            </a:r>
          </a:p>
          <a:p xmlns:a="http://schemas.openxmlformats.org/drawingml/2006/main">
            <a:r>
              <a:t>- NSW Curriculum, Technology 7–8 (2023), Stage 4 content: https://curriculum.nsw.edu.au/learning-areas/tas/technology-7-8-2023/content/stage-4/fadc5a8620</a:t>
            </a:r>
          </a:p>
          <a:p xmlns:a="http://schemas.openxmlformats.org/drawingml/2006/main">
            <a:r>
              <a:t>- Teacher-authored five-week unit guide supplied privately for this build; no private link embedded.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709b4e68014e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4bd96ef1bb463d" /><Relationship Type="http://schemas.openxmlformats.org/officeDocument/2006/relationships/slideLayout" Target="/ppt/slideLayouts/slideLayout1.xml" Id="Rf36765522dbd418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6765522dbd418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eb0b1e5bd4390" /><Relationship Type="http://schemas.openxmlformats.org/officeDocument/2006/relationships/image" Target="/ppt/media/image.png" Id="Rf756466123154291" /><Relationship Type="http://schemas.openxmlformats.org/officeDocument/2006/relationships/notesSlide" Target="/ppt/notesSlides/notesSlide1.xml" Id="R91dec65caa7049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8994b8ff1642b5" /><Relationship Type="http://schemas.openxmlformats.org/officeDocument/2006/relationships/notesSlide" Target="/ppt/notesSlides/notesSlide2.xml" Id="R535875f3bf6448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169d3f3464fb7" /><Relationship Type="http://schemas.openxmlformats.org/officeDocument/2006/relationships/image" Target="/ppt/media/image2.png" Id="R45e93342c504468b" /><Relationship Type="http://schemas.openxmlformats.org/officeDocument/2006/relationships/notesSlide" Target="/ppt/notesSlides/notesSlide3.xml" Id="R6954f3fe926a40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b019483b6d4165" /><Relationship Type="http://schemas.openxmlformats.org/officeDocument/2006/relationships/image" Target="/ppt/media/image3.png" Id="R111964a32bc04109" /><Relationship Type="http://schemas.openxmlformats.org/officeDocument/2006/relationships/notesSlide" Target="/ppt/notesSlides/notesSlide4.xml" Id="Rb1b18d258d8644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699b24aac64cde" /><Relationship Type="http://schemas.openxmlformats.org/officeDocument/2006/relationships/image" Target="/ppt/media/image4.png" Id="Ra01515cfb7864855" /><Relationship Type="http://schemas.openxmlformats.org/officeDocument/2006/relationships/notesSlide" Target="/ppt/notesSlides/notesSlide5.xml" Id="Ra96fe897810d49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c871494b674cf1" /><Relationship Type="http://schemas.openxmlformats.org/officeDocument/2006/relationships/notesSlide" Target="/ppt/notesSlides/notesSlide6.xml" Id="Rb5483624857b48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003b48963e416c" /><Relationship Type="http://schemas.openxmlformats.org/officeDocument/2006/relationships/notesSlide" Target="/ppt/notesSlides/notesSlide7.xml" Id="Rd1d135d5760148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7c88dd17e4011" /><Relationship Type="http://schemas.openxmlformats.org/officeDocument/2006/relationships/notesSlide" Target="/ppt/notesSlides/notesSlide8.xml" Id="R9581cb8a21924a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3F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56466123154291"/>
          <a:srcRect xmlns:a="http://schemas.openxmlformats.org/drawingml/2006/main" l="23345" t="0" r="233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95950" y="0"/>
            <a:ext cx="6496050" cy="6858000"/>
          </a:xfrm>
          <a:prstGeom xmlns:a="http://schemas.openxmlformats.org/drawingml/2006/main" prst="roundRect">
            <a:avLst>
              <a:gd name="adj" fmla="val 2639"/>
            </a:avLst>
          </a:prstGeom>
        </p:spPr>
      </p:pic>
      <p:sp>
        <p:nvSpPr>
          <p:cNvPr id="2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80D00522-F8A5-4DDE-AB1E-1966B09F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800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3" name="title-kicker">
            <a:extLst xmlns:a="http://schemas.openxmlformats.org/drawingml/2006/main">
              <a:ext uri="{FF2B5EF4-FFF2-40B4-BE49-F238E27FC236}">
                <a16:creationId xmlns:a16="http://schemas.microsoft.com/office/drawing/2014/main" id="{815B9916-AF8C-4F38-AEF8-B863A890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E7DE"/>
                </a:solidFill>
              </a:defRPr>
            </a:pPr>
            <a:r>
              <a:rPr sz="1200" b="1">
                <a:solidFill>
                  <a:srgbClr val="D5E7DE"/>
                </a:solidFill>
              </a:rPr>
              <a:t>MODULE 5  •  STAGE 4 TECHNOLOGY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C542B2EC-CF5F-42C9-9B4E-2B485E0B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4767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Finish, test and evaluate</a:t>
            </a:r>
          </a:p>
        </p:txBody>
      </p:sp>
      <p:sp>
        <p:nvSpPr>
          <p:cNvPr id="5" name="deck-outcome">
            <a:extLst xmlns:a="http://schemas.openxmlformats.org/drawingml/2006/main">
              <a:ext uri="{FF2B5EF4-FFF2-40B4-BE49-F238E27FC236}">
                <a16:creationId xmlns:a16="http://schemas.microsoft.com/office/drawing/2014/main" id="{EBCA6BF8-A78C-464A-94B7-7CB6A969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41719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E8F3ED"/>
                </a:solidFill>
              </a:defRPr>
            </a:pPr>
            <a:r>
              <a:rPr sz="1725" b="0">
                <a:solidFill>
                  <a:srgbClr val="E8F3ED"/>
                </a:solidFill>
              </a:rPr>
              <a:t>Connect finish, approved use testing and evaluation so the final result can be judged and improved responsibly.</a:t>
            </a:r>
          </a:p>
        </p:txBody>
      </p:sp>
      <p:sp>
        <p:nvSpPr>
          <p:cNvPr id="6" name="title-course">
            <a:extLst xmlns:a="http://schemas.openxmlformats.org/drawingml/2006/main">
              <a:ext uri="{FF2B5EF4-FFF2-40B4-BE49-F238E27FC236}">
                <a16:creationId xmlns:a16="http://schemas.microsoft.com/office/drawing/2014/main" id="{2751C2FA-EBEB-4DA2-A112-F1E15E62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6CA"/>
                </a:solidFill>
              </a:defRPr>
            </a:pPr>
            <a:r>
              <a:rPr sz="1050" b="1">
                <a:solidFill>
                  <a:srgbClr val="BFD6CA"/>
                </a:solidFill>
              </a:rPr>
              <a:t>Swinging Sign  •  Materials and production processes</a:t>
            </a:r>
          </a:p>
        </p:txBody>
      </p:sp>
    </p:spTree>
    <p:extLst>
      <p:ext uri="{BB962C8B-B14F-4D97-AF65-F5344CB8AC3E}">
        <p14:creationId xmlns:p14="http://schemas.microsoft.com/office/powerpoint/2010/main" val="10791602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cent-2">
            <a:extLst xmlns:a="http://schemas.openxmlformats.org/drawingml/2006/main">
              <a:ext uri="{FF2B5EF4-FFF2-40B4-BE49-F238E27FC236}">
                <a16:creationId xmlns:a16="http://schemas.microsoft.com/office/drawing/2014/main" id="{20DAE2EA-4E12-4575-B01C-337261FB1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2" name="module-kicker-2">
            <a:extLst xmlns:a="http://schemas.openxmlformats.org/drawingml/2006/main">
              <a:ext uri="{FF2B5EF4-FFF2-40B4-BE49-F238E27FC236}">
                <a16:creationId xmlns:a16="http://schemas.microsoft.com/office/drawing/2014/main" id="{47AEB6B9-199D-439C-8216-6AC0A9DA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4932"/>
                </a:solidFill>
              </a:defRPr>
            </a:pPr>
            <a:r>
              <a:rPr sz="1050" b="1">
                <a:solidFill>
                  <a:srgbClr val="B84932"/>
                </a:solidFill>
              </a:rPr>
              <a:t>MODULE 5  •  FINISH, TEST AND EVALUATE</a:t>
            </a:r>
          </a:p>
        </p:txBody>
      </p:sp>
      <p:sp>
        <p:nvSpPr>
          <p:cNvPr id="3" name="slide-title-2">
            <a:extLst xmlns:a="http://schemas.openxmlformats.org/drawingml/2006/main">
              <a:ext uri="{FF2B5EF4-FFF2-40B4-BE49-F238E27FC236}">
                <a16:creationId xmlns:a16="http://schemas.microsoft.com/office/drawing/2014/main" id="{EB6F7C79-6DD0-4D09-BEC6-CFB92582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3F30"/>
                </a:solidFill>
              </a:defRPr>
            </a:pPr>
            <a:r>
              <a:rPr sz="2850" b="1">
                <a:solidFill>
                  <a:srgbClr val="113F30"/>
                </a:solidFill>
              </a:rPr>
              <a:t>Three evidence sets turn a finished object into a defensible evaluation</a:t>
            </a:r>
          </a:p>
        </p:txBody>
      </p:sp>
      <p:sp>
        <p:nvSpPr>
          <p:cNvPr id="4" name="map-number-1">
            <a:extLst xmlns:a="http://schemas.openxmlformats.org/drawingml/2006/main">
              <a:ext uri="{FF2B5EF4-FFF2-40B4-BE49-F238E27FC236}">
                <a16:creationId xmlns:a16="http://schemas.microsoft.com/office/drawing/2014/main" id="{2C225B01-0AF2-4B27-BFFA-D742A0C12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685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E7AD31"/>
                </a:solidFill>
              </a:defRPr>
            </a:pPr>
            <a:r>
              <a:rPr sz="3900" b="1">
                <a:solidFill>
                  <a:srgbClr val="E7AD31"/>
                </a:solidFill>
              </a:rPr>
              <a:t>1</a:t>
            </a:r>
          </a:p>
        </p:txBody>
      </p:sp>
      <p:sp>
        <p:nvSpPr>
          <p:cNvPr id="5" name="map-title-1">
            <a:extLst xmlns:a="http://schemas.openxmlformats.org/drawingml/2006/main">
              <a:ext uri="{FF2B5EF4-FFF2-40B4-BE49-F238E27FC236}">
                <a16:creationId xmlns:a16="http://schemas.microsoft.com/office/drawing/2014/main" id="{35DCBAFD-1C9E-426C-A8AF-06B713EB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695450"/>
            <a:ext cx="2524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3F30"/>
                </a:solidFill>
              </a:defRPr>
            </a:pPr>
            <a:r>
              <a:rPr sz="1875" b="1">
                <a:solidFill>
                  <a:srgbClr val="113F30"/>
                </a:solidFill>
              </a:rPr>
              <a:t>Surface preparation and coatings</a:t>
            </a:r>
          </a:p>
        </p:txBody>
      </p:sp>
      <p:sp>
        <p:nvSpPr>
          <p:cNvPr id="6" name="map-action-1">
            <a:extLst xmlns:a="http://schemas.openxmlformats.org/drawingml/2006/main">
              <a:ext uri="{FF2B5EF4-FFF2-40B4-BE49-F238E27FC236}">
                <a16:creationId xmlns:a16="http://schemas.microsoft.com/office/drawing/2014/main" id="{C6AFA3AE-2B27-4C66-AFBD-06A0A2A9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29146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A25"/>
                </a:solidFill>
              </a:defRPr>
            </a:pPr>
            <a:r>
              <a:rPr sz="1425" b="0">
                <a:solidFill>
                  <a:srgbClr val="1F2A25"/>
                </a:solidFill>
              </a:rPr>
              <a:t>Explain what evidence would show that a finish system meets both appearance and service needs.</a:t>
            </a:r>
          </a:p>
        </p:txBody>
      </p:sp>
      <p:sp>
        <p:nvSpPr>
          <p:cNvPr id="7" name="map-number-2">
            <a:extLst xmlns:a="http://schemas.openxmlformats.org/drawingml/2006/main">
              <a:ext uri="{FF2B5EF4-FFF2-40B4-BE49-F238E27FC236}">
                <a16:creationId xmlns:a16="http://schemas.microsoft.com/office/drawing/2014/main" id="{DBA8373A-4750-4789-BFFC-B2F31FC9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676400"/>
            <a:ext cx="685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E7AD31"/>
                </a:solidFill>
              </a:defRPr>
            </a:pPr>
            <a:r>
              <a:rPr sz="3900" b="1">
                <a:solidFill>
                  <a:srgbClr val="E7AD31"/>
                </a:solidFill>
              </a:rPr>
              <a:t>2</a:t>
            </a:r>
          </a:p>
        </p:txBody>
      </p:sp>
      <p:sp>
        <p:nvSpPr>
          <p:cNvPr id="8" name="map-title-2">
            <a:extLst xmlns:a="http://schemas.openxmlformats.org/drawingml/2006/main">
              <a:ext uri="{FF2B5EF4-FFF2-40B4-BE49-F238E27FC236}">
                <a16:creationId xmlns:a16="http://schemas.microsoft.com/office/drawing/2014/main" id="{0A7E66E7-2E1E-4EEA-ACB2-11BC3838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95450"/>
            <a:ext cx="2524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3F30"/>
                </a:solidFill>
              </a:defRPr>
            </a:pPr>
            <a:r>
              <a:rPr sz="1875" b="1">
                <a:solidFill>
                  <a:srgbClr val="113F30"/>
                </a:solidFill>
              </a:rPr>
              <a:t>Hanging, stability and use</a:t>
            </a:r>
          </a:p>
        </p:txBody>
      </p:sp>
      <p:sp>
        <p:nvSpPr>
          <p:cNvPr id="9" name="map-action-2">
            <a:extLst xmlns:a="http://schemas.openxmlformats.org/drawingml/2006/main">
              <a:ext uri="{FF2B5EF4-FFF2-40B4-BE49-F238E27FC236}">
                <a16:creationId xmlns:a16="http://schemas.microsoft.com/office/drawing/2014/main" id="{63C94425-A2A5-43D1-A0EB-9BD5D54D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47950"/>
            <a:ext cx="29146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A25"/>
                </a:solidFill>
              </a:defRPr>
            </a:pPr>
            <a:r>
              <a:rPr sz="1425" b="0">
                <a:solidFill>
                  <a:srgbClr val="1F2A25"/>
                </a:solidFill>
              </a:rPr>
              <a:t>Trace the system from product to support and name the evidence needed before approved use.</a:t>
            </a:r>
          </a:p>
        </p:txBody>
      </p:sp>
      <p:sp>
        <p:nvSpPr>
          <p:cNvPr id="10" name="map-number-3">
            <a:extLst xmlns:a="http://schemas.openxmlformats.org/drawingml/2006/main">
              <a:ext uri="{FF2B5EF4-FFF2-40B4-BE49-F238E27FC236}">
                <a16:creationId xmlns:a16="http://schemas.microsoft.com/office/drawing/2014/main" id="{0EEF165A-348C-43DA-A5BF-639B228C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676400"/>
            <a:ext cx="685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E7AD31"/>
                </a:solidFill>
              </a:defRPr>
            </a:pPr>
            <a:r>
              <a:rPr sz="3900" b="1">
                <a:solidFill>
                  <a:srgbClr val="E7AD31"/>
                </a:solidFill>
              </a:rPr>
              <a:t>3</a:t>
            </a:r>
          </a:p>
        </p:txBody>
      </p:sp>
      <p:sp>
        <p:nvSpPr>
          <p:cNvPr id="11" name="map-title-3">
            <a:extLst xmlns:a="http://schemas.openxmlformats.org/drawingml/2006/main">
              <a:ext uri="{FF2B5EF4-FFF2-40B4-BE49-F238E27FC236}">
                <a16:creationId xmlns:a16="http://schemas.microsoft.com/office/drawing/2014/main" id="{B2C25DE0-824E-425D-97A8-89635789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695450"/>
            <a:ext cx="2524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3F30"/>
                </a:solidFill>
              </a:defRPr>
            </a:pPr>
            <a:r>
              <a:rPr sz="1875" b="1">
                <a:solidFill>
                  <a:srgbClr val="113F30"/>
                </a:solidFill>
              </a:rPr>
              <a:t>Evaluate, feedback and improve</a:t>
            </a:r>
          </a:p>
        </p:txBody>
      </p:sp>
      <p:sp>
        <p:nvSpPr>
          <p:cNvPr id="12" name="map-action-3">
            <a:extLst xmlns:a="http://schemas.openxmlformats.org/drawingml/2006/main">
              <a:ext uri="{FF2B5EF4-FFF2-40B4-BE49-F238E27FC236}">
                <a16:creationId xmlns:a16="http://schemas.microsoft.com/office/drawing/2014/main" id="{0D52B87E-34C5-4FAF-A0BC-0B7A9141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47950"/>
            <a:ext cx="29146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A25"/>
                </a:solidFill>
              </a:defRPr>
            </a:pPr>
            <a:r>
              <a:rPr sz="1425" b="0">
                <a:solidFill>
                  <a:srgbClr val="1F2A25"/>
                </a:solidFill>
              </a:rPr>
              <a:t>Choose one high-priority improvement and justify why it matters more than the alternatives.</a:t>
            </a:r>
          </a:p>
        </p:txBody>
      </p:sp>
      <p:sp>
        <p:nvSpPr>
          <p:cNvPr id="13" name="warm-up-band">
            <a:extLst xmlns:a="http://schemas.openxmlformats.org/drawingml/2006/main">
              <a:ext uri="{FF2B5EF4-FFF2-40B4-BE49-F238E27FC236}">
                <a16:creationId xmlns:a16="http://schemas.microsoft.com/office/drawing/2014/main" id="{AA81F181-9660-42BD-BFBF-2F30C0DF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0820400" cy="125730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E8F3ED"/>
          </a:solidFill>
          <a:ln xmlns:a="http://schemas.openxmlformats.org/drawingml/2006/main" w="9525">
            <a:solidFill>
              <a:srgbClr val="C8D8CF"/>
            </a:solidFill>
            <a:prstDash val="solid"/>
          </a:ln>
        </p:spPr>
      </p:sp>
      <p:sp>
        <p:nvSpPr>
          <p:cNvPr id="14" name="warm-up-label">
            <a:extLst xmlns:a="http://schemas.openxmlformats.org/drawingml/2006/main">
              <a:ext uri="{FF2B5EF4-FFF2-40B4-BE49-F238E27FC236}">
                <a16:creationId xmlns:a16="http://schemas.microsoft.com/office/drawing/2014/main" id="{81AC2EE9-D242-41AC-A3FA-CF41798B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7680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4932"/>
                </a:solidFill>
              </a:defRPr>
            </a:pPr>
            <a:r>
              <a:rPr sz="1125" b="1">
                <a:solidFill>
                  <a:srgbClr val="B84932"/>
                </a:solidFill>
              </a:rPr>
              <a:t>RETRIEVAL WARM-UP</a:t>
            </a:r>
          </a:p>
        </p:txBody>
      </p:sp>
      <p:sp>
        <p:nvSpPr>
          <p:cNvPr id="15" name="warm-up-question">
            <a:extLst xmlns:a="http://schemas.openxmlformats.org/drawingml/2006/main">
              <a:ext uri="{FF2B5EF4-FFF2-40B4-BE49-F238E27FC236}">
                <a16:creationId xmlns:a16="http://schemas.microsoft.com/office/drawing/2014/main" id="{0D0C62E3-72C8-474F-B99B-9C21A47A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979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3F30"/>
                </a:solidFill>
              </a:defRPr>
            </a:pPr>
            <a:r>
              <a:rPr sz="1950" b="1">
                <a:solidFill>
                  <a:srgbClr val="113F30"/>
                </a:solidFill>
              </a:rPr>
              <a:t>Retrieval: what makes quality evidence stronger than a personal opinion?</a:t>
            </a:r>
          </a:p>
        </p:txBody>
      </p:sp>
      <p:sp>
        <p:nvSpPr>
          <p:cNvPr id="16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48C3861-B61F-4EFC-8CA2-82948E4C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8CF"/>
          </a:solidFill>
          <a:ln xmlns:a="http://schemas.openxmlformats.org/drawingml/2006/main" w="0">
            <a:solidFill>
              <a:srgbClr val="C8D8CF"/>
            </a:solidFill>
            <a:prstDash val="solid"/>
          </a:ln>
        </p:spPr>
      </p:sp>
      <p:sp>
        <p:nvSpPr>
          <p:cNvPr id="17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BA7F02BB-0AA2-421B-93A2-A8CFF481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62725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645D"/>
                </a:solidFill>
              </a:defRPr>
            </a:pPr>
            <a:r>
              <a:rPr sz="900" b="1">
                <a:solidFill>
                  <a:srgbClr val="54645D"/>
                </a:solidFill>
              </a:rPr>
              <a:t>SWINGING SIGN  •  MODULE 5</a:t>
            </a:r>
          </a:p>
        </p:txBody>
      </p:sp>
      <p:sp>
        <p:nvSpPr>
          <p:cNvPr id="18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39E88EE0-FB7C-4CAC-B8D1-522CD573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62725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4645D"/>
                </a:solidFill>
              </a:defRPr>
            </a:pPr>
            <a:r>
              <a:rPr sz="900" b="1">
                <a:solidFill>
                  <a:srgbClr val="54645D"/>
                </a:solidFill>
              </a:rPr>
              <a:t>2 / 8</a:t>
            </a:r>
          </a:p>
        </p:txBody>
      </p:sp>
    </p:spTree>
    <p:extLst>
      <p:ext uri="{BB962C8B-B14F-4D97-AF65-F5344CB8AC3E}">
        <p14:creationId xmlns:p14="http://schemas.microsoft.com/office/powerpoint/2010/main" val="14450846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cent-3">
            <a:extLst xmlns:a="http://schemas.openxmlformats.org/drawingml/2006/main">
              <a:ext uri="{FF2B5EF4-FFF2-40B4-BE49-F238E27FC236}">
                <a16:creationId xmlns:a16="http://schemas.microsoft.com/office/drawing/2014/main" id="{2E9B2CBA-20D6-4249-992E-BD6DE107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2" name="module-kicker-3">
            <a:extLst xmlns:a="http://schemas.openxmlformats.org/drawingml/2006/main">
              <a:ext uri="{FF2B5EF4-FFF2-40B4-BE49-F238E27FC236}">
                <a16:creationId xmlns:a16="http://schemas.microsoft.com/office/drawing/2014/main" id="{9EC8169D-38B4-4663-B7DD-370D540CE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4932"/>
                </a:solidFill>
              </a:defRPr>
            </a:pPr>
            <a:r>
              <a:rPr sz="1050" b="1">
                <a:solidFill>
                  <a:srgbClr val="B84932"/>
                </a:solidFill>
              </a:rPr>
              <a:t>MODULE 5  •  FINISH, TEST AND EVALUATE</a:t>
            </a:r>
          </a:p>
        </p:txBody>
      </p:sp>
      <p:sp>
        <p:nvSpPr>
          <p:cNvPr id="3" name="slide-title-3">
            <a:extLst xmlns:a="http://schemas.openxmlformats.org/drawingml/2006/main">
              <a:ext uri="{FF2B5EF4-FFF2-40B4-BE49-F238E27FC236}">
                <a16:creationId xmlns:a16="http://schemas.microsoft.com/office/drawing/2014/main" id="{50E2BD8B-0EC4-43AB-8D12-635AB8EB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3F30"/>
                </a:solidFill>
              </a:defRPr>
            </a:pPr>
            <a:r>
              <a:rPr sz="2850" b="1">
                <a:solidFill>
                  <a:srgbClr val="113F30"/>
                </a:solidFill>
              </a:rPr>
              <a:t>A coating works as a compatible surface system</a:t>
            </a:r>
          </a:p>
        </p:txBody>
      </p:sp>
      <p:sp>
        <p:nvSpPr>
          <p:cNvPr id="4" name="section-name-3">
            <a:extLst xmlns:a="http://schemas.openxmlformats.org/drawingml/2006/main">
              <a:ext uri="{FF2B5EF4-FFF2-40B4-BE49-F238E27FC236}">
                <a16:creationId xmlns:a16="http://schemas.microsoft.com/office/drawing/2014/main" id="{2FAEA4D1-4CD7-420F-A048-6EA1A800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4932"/>
                </a:solidFill>
              </a:defRPr>
            </a:pPr>
            <a:r>
              <a:rPr sz="1050" b="1">
                <a:solidFill>
                  <a:srgbClr val="B84932"/>
                </a:solidFill>
              </a:rPr>
              <a:t>SURFACE PREPARATION AND COATINGS</a:t>
            </a:r>
          </a:p>
        </p:txBody>
      </p:sp>
      <p:sp>
        <p:nvSpPr>
          <p:cNvPr id="5" name="s3-mark-1">
            <a:extLst xmlns:a="http://schemas.openxmlformats.org/drawingml/2006/main">
              <a:ext uri="{FF2B5EF4-FFF2-40B4-BE49-F238E27FC236}">
                <a16:creationId xmlns:a16="http://schemas.microsoft.com/office/drawing/2014/main" id="{577E4E96-49E1-40CA-AC17-3BAB63CB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6" name="s3-text-1">
            <a:extLst xmlns:a="http://schemas.openxmlformats.org/drawingml/2006/main">
              <a:ext uri="{FF2B5EF4-FFF2-40B4-BE49-F238E27FC236}">
                <a16:creationId xmlns:a16="http://schemas.microsoft.com/office/drawing/2014/main" id="{04342C5A-57E3-4324-B8DB-59FE0888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5"/>
                </a:solidFill>
              </a:defRPr>
            </a:pPr>
            <a:r>
              <a:rPr sz="1575" b="0">
                <a:solidFill>
                  <a:srgbClr val="1F2A25"/>
                </a:solidFill>
              </a:rPr>
              <a:t>The substrate, approved preparation, primer, topcoat, environment and curing time work as one finish system.</a:t>
            </a:r>
          </a:p>
        </p:txBody>
      </p:sp>
      <p:sp>
        <p:nvSpPr>
          <p:cNvPr id="7" name="s3-mark-2">
            <a:extLst xmlns:a="http://schemas.openxmlformats.org/drawingml/2006/main">
              <a:ext uri="{FF2B5EF4-FFF2-40B4-BE49-F238E27FC236}">
                <a16:creationId xmlns:a16="http://schemas.microsoft.com/office/drawing/2014/main" id="{D87BEB12-EFE0-41E3-A587-C7864CF1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8" name="s3-text-2">
            <a:extLst xmlns:a="http://schemas.openxmlformats.org/drawingml/2006/main">
              <a:ext uri="{FF2B5EF4-FFF2-40B4-BE49-F238E27FC236}">
                <a16:creationId xmlns:a16="http://schemas.microsoft.com/office/drawing/2014/main" id="{758C90C0-F377-4B9F-8B53-D1D3A511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5"/>
                </a:solidFill>
              </a:defRPr>
            </a:pPr>
            <a:r>
              <a:rPr sz="1575" b="0">
                <a:solidFill>
                  <a:srgbClr val="1F2A25"/>
                </a:solidFill>
              </a:rPr>
              <a:t>Each layer has a purpose. Compatibility and surface condition affect adhesion, appearance and service performance.</a:t>
            </a:r>
          </a:p>
        </p:txBody>
      </p:sp>
      <p:sp>
        <p:nvSpPr>
          <p:cNvPr id="9" name="s3-mark-3">
            <a:extLst xmlns:a="http://schemas.openxmlformats.org/drawingml/2006/main">
              <a:ext uri="{FF2B5EF4-FFF2-40B4-BE49-F238E27FC236}">
                <a16:creationId xmlns:a16="http://schemas.microsoft.com/office/drawing/2014/main" id="{1D784210-3857-4BA1-A8F1-AB5B7860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10" name="s3-text-3">
            <a:extLst xmlns:a="http://schemas.openxmlformats.org/drawingml/2006/main">
              <a:ext uri="{FF2B5EF4-FFF2-40B4-BE49-F238E27FC236}">
                <a16:creationId xmlns:a16="http://schemas.microsoft.com/office/drawing/2014/main" id="{6CAE3788-151F-4EC1-9FF3-BAAFA985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957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5"/>
                </a:solidFill>
              </a:defRPr>
            </a:pPr>
            <a:r>
              <a:rPr sz="1575" b="0">
                <a:solidFill>
                  <a:srgbClr val="1F2A25"/>
                </a:solidFill>
              </a:rPr>
              <a:t>Judge the finish against confirmed criteria; never substitute an unapproved product or application method.</a:t>
            </a:r>
          </a:p>
        </p:txBody>
      </p:sp>
      <p:sp>
        <p:nvSpPr>
          <p:cNvPr id="11" name="prompt-band-3">
            <a:extLst xmlns:a="http://schemas.openxmlformats.org/drawingml/2006/main">
              <a:ext uri="{FF2B5EF4-FFF2-40B4-BE49-F238E27FC236}">
                <a16:creationId xmlns:a16="http://schemas.microsoft.com/office/drawing/2014/main" id="{DA8932CE-9581-427D-854F-00076CE04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417195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8F3ED"/>
          </a:solidFill>
          <a:ln xmlns:a="http://schemas.openxmlformats.org/drawingml/2006/main" w="9525">
            <a:solidFill>
              <a:srgbClr val="C8D8CF"/>
            </a:solidFill>
            <a:prstDash val="solid"/>
          </a:ln>
        </p:spPr>
      </p:sp>
      <p:sp>
        <p:nvSpPr>
          <p:cNvPr id="12" name="prompt-label-3">
            <a:extLst xmlns:a="http://schemas.openxmlformats.org/drawingml/2006/main">
              <a:ext uri="{FF2B5EF4-FFF2-40B4-BE49-F238E27FC236}">
                <a16:creationId xmlns:a16="http://schemas.microsoft.com/office/drawing/2014/main" id="{E9A7C0C0-F757-4842-A78F-4CD9AD41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57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4932"/>
                </a:solidFill>
              </a:defRPr>
            </a:pPr>
            <a:r>
              <a:rPr sz="1050" b="1">
                <a:solidFill>
                  <a:srgbClr val="B84932"/>
                </a:solidFill>
              </a:rPr>
              <a:t>APPLY IT</a:t>
            </a:r>
          </a:p>
        </p:txBody>
      </p:sp>
      <p:sp>
        <p:nvSpPr>
          <p:cNvPr id="13" name="prompt-3">
            <a:extLst xmlns:a="http://schemas.openxmlformats.org/drawingml/2006/main">
              <a:ext uri="{FF2B5EF4-FFF2-40B4-BE49-F238E27FC236}">
                <a16:creationId xmlns:a16="http://schemas.microsoft.com/office/drawing/2014/main" id="{355B5C5D-029F-4C77-A4A0-062C8974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43500"/>
            <a:ext cx="371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3F30"/>
                </a:solidFill>
              </a:defRPr>
            </a:pPr>
            <a:r>
              <a:rPr sz="1350" b="1">
                <a:solidFill>
                  <a:srgbClr val="113F30"/>
                </a:solidFill>
              </a:rPr>
              <a:t>Explain what evidence would show that a finish system meets both appearance and service needs.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e93342c504468b"/>
          <a:srcRect xmlns:a="http://schemas.openxmlformats.org/drawingml/2006/main" l="226" t="0" r="22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19700" y="1447800"/>
            <a:ext cx="6286500" cy="4210050"/>
          </a:xfrm>
          <a:prstGeom xmlns:a="http://schemas.openxmlformats.org/drawingml/2006/main" prst="roundRect">
            <a:avLst>
              <a:gd name="adj" fmla="val 4072"/>
            </a:avLst>
          </a:prstGeom>
        </p:spPr>
      </p:pic>
      <p:sp>
        <p:nvSpPr>
          <p:cNvPr id="15" name="caption-3">
            <a:extLst xmlns:a="http://schemas.openxmlformats.org/drawingml/2006/main">
              <a:ext uri="{FF2B5EF4-FFF2-40B4-BE49-F238E27FC236}">
                <a16:creationId xmlns:a16="http://schemas.microsoft.com/office/drawing/2014/main" id="{806325EA-C028-4D29-91C3-4C5A4B00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772150"/>
            <a:ext cx="605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645D"/>
                </a:solidFill>
              </a:defRPr>
            </a:pPr>
            <a:r>
              <a:rPr sz="1275" b="0">
                <a:solidFill>
                  <a:srgbClr val="54645D"/>
                </a:solidFill>
              </a:rPr>
              <a:t>Substrate condition, compatible layers and curing all influence the result.</a:t>
            </a:r>
          </a:p>
        </p:txBody>
      </p:sp>
      <p:sp>
        <p:nvSpPr>
          <p:cNvPr id="16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BE0C86E1-C443-445A-B489-24BD3755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8CF"/>
          </a:solidFill>
          <a:ln xmlns:a="http://schemas.openxmlformats.org/drawingml/2006/main" w="0">
            <a:solidFill>
              <a:srgbClr val="C8D8CF"/>
            </a:solidFill>
            <a:prstDash val="solid"/>
          </a:ln>
        </p:spPr>
      </p:sp>
      <p:sp>
        <p:nvSpPr>
          <p:cNvPr id="17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5E953231-5902-42C4-97A0-5DCC66DD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62725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645D"/>
                </a:solidFill>
              </a:defRPr>
            </a:pPr>
            <a:r>
              <a:rPr sz="900" b="1">
                <a:solidFill>
                  <a:srgbClr val="54645D"/>
                </a:solidFill>
              </a:rPr>
              <a:t>SWINGING SIGN  •  MODULE 5</a:t>
            </a:r>
          </a:p>
        </p:txBody>
      </p:sp>
      <p:sp>
        <p:nvSpPr>
          <p:cNvPr id="18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803E42E9-7126-4C55-B13F-995A40B8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62725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4645D"/>
                </a:solidFill>
              </a:defRPr>
            </a:pPr>
            <a:r>
              <a:rPr sz="900" b="1">
                <a:solidFill>
                  <a:srgbClr val="54645D"/>
                </a:solidFill>
              </a:rPr>
              <a:t>3 / 8</a:t>
            </a:r>
          </a:p>
        </p:txBody>
      </p:sp>
    </p:spTree>
    <p:extLst>
      <p:ext uri="{BB962C8B-B14F-4D97-AF65-F5344CB8AC3E}">
        <p14:creationId xmlns:p14="http://schemas.microsoft.com/office/powerpoint/2010/main" val="15769767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cent-4">
            <a:extLst xmlns:a="http://schemas.openxmlformats.org/drawingml/2006/main">
              <a:ext uri="{FF2B5EF4-FFF2-40B4-BE49-F238E27FC236}">
                <a16:creationId xmlns:a16="http://schemas.microsoft.com/office/drawing/2014/main" id="{B1B98D4D-9211-4488-A8F4-330BDDE9C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2" name="module-kicker-4">
            <a:extLst xmlns:a="http://schemas.openxmlformats.org/drawingml/2006/main">
              <a:ext uri="{FF2B5EF4-FFF2-40B4-BE49-F238E27FC236}">
                <a16:creationId xmlns:a16="http://schemas.microsoft.com/office/drawing/2014/main" id="{140C278F-AC43-4E40-BF64-CAEE65ED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4932"/>
                </a:solidFill>
              </a:defRPr>
            </a:pPr>
            <a:r>
              <a:rPr sz="1050" b="1">
                <a:solidFill>
                  <a:srgbClr val="B84932"/>
                </a:solidFill>
              </a:rPr>
              <a:t>MODULE 5  •  FINISH, TEST AND EVALUATE</a:t>
            </a:r>
          </a:p>
        </p:txBody>
      </p:sp>
      <p:sp>
        <p:nvSpPr>
          <p:cNvPr id="3" name="slide-title-4">
            <a:extLst xmlns:a="http://schemas.openxmlformats.org/drawingml/2006/main">
              <a:ext uri="{FF2B5EF4-FFF2-40B4-BE49-F238E27FC236}">
                <a16:creationId xmlns:a16="http://schemas.microsoft.com/office/drawing/2014/main" id="{F2CEF08F-2792-47EA-B232-27FE97EE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3F30"/>
                </a:solidFill>
              </a:defRPr>
            </a:pPr>
            <a:r>
              <a:rPr sz="2850" b="1">
                <a:solidFill>
                  <a:srgbClr val="113F30"/>
                </a:solidFill>
              </a:rPr>
              <a:t>Product, connections and support form one system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1964a32bc04109"/>
          <a:srcRect xmlns:a="http://schemas.openxmlformats.org/drawingml/2006/main" l="2338" t="0" r="233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447800"/>
            <a:ext cx="6019800" cy="4210050"/>
          </a:xfrm>
          <a:prstGeom xmlns:a="http://schemas.openxmlformats.org/drawingml/2006/main" prst="roundRect">
            <a:avLst>
              <a:gd name="adj" fmla="val 4072"/>
            </a:avLst>
          </a:prstGeom>
        </p:spPr>
      </p:pic>
      <p:sp>
        <p:nvSpPr>
          <p:cNvPr id="5" name="caption-4">
            <a:extLst xmlns:a="http://schemas.openxmlformats.org/drawingml/2006/main">
              <a:ext uri="{FF2B5EF4-FFF2-40B4-BE49-F238E27FC236}">
                <a16:creationId xmlns:a16="http://schemas.microsoft.com/office/drawing/2014/main" id="{CC415021-07B3-4AF1-BAB8-A4812139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72150"/>
            <a:ext cx="5791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645D"/>
                </a:solidFill>
              </a:defRPr>
            </a:pPr>
            <a:r>
              <a:rPr sz="1275" b="0">
                <a:solidFill>
                  <a:srgbClr val="54645D"/>
                </a:solidFill>
              </a:rPr>
              <a:t>Balance is observable; capacity and suitability require approved criteria and testing.</a:t>
            </a:r>
          </a:p>
        </p:txBody>
      </p:sp>
      <p:sp>
        <p:nvSpPr>
          <p:cNvPr id="6" name="section-name-4">
            <a:extLst xmlns:a="http://schemas.openxmlformats.org/drawingml/2006/main">
              <a:ext uri="{FF2B5EF4-FFF2-40B4-BE49-F238E27FC236}">
                <a16:creationId xmlns:a16="http://schemas.microsoft.com/office/drawing/2014/main" id="{361227E9-F9FE-4483-B558-370B9CB5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38275"/>
            <a:ext cx="440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4932"/>
                </a:solidFill>
              </a:defRPr>
            </a:pPr>
            <a:r>
              <a:rPr sz="1050" b="1">
                <a:solidFill>
                  <a:srgbClr val="B84932"/>
                </a:solidFill>
              </a:rPr>
              <a:t>HANGING, STABILITY AND USE</a:t>
            </a:r>
          </a:p>
        </p:txBody>
      </p:sp>
      <p:sp>
        <p:nvSpPr>
          <p:cNvPr id="7" name="s4-mark-1">
            <a:extLst xmlns:a="http://schemas.openxmlformats.org/drawingml/2006/main">
              <a:ext uri="{FF2B5EF4-FFF2-40B4-BE49-F238E27FC236}">
                <a16:creationId xmlns:a16="http://schemas.microsoft.com/office/drawing/2014/main" id="{647CBAB6-8CAC-493F-A62F-8C47D3CC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8859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8" name="s4-text-1">
            <a:extLst xmlns:a="http://schemas.openxmlformats.org/drawingml/2006/main">
              <a:ext uri="{FF2B5EF4-FFF2-40B4-BE49-F238E27FC236}">
                <a16:creationId xmlns:a16="http://schemas.microsoft.com/office/drawing/2014/main" id="{C9DDB3F0-C199-4583-AA15-C668A445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809750"/>
            <a:ext cx="41338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5"/>
                </a:solidFill>
              </a:defRPr>
            </a:pPr>
            <a:r>
              <a:rPr sz="1575" b="0">
                <a:solidFill>
                  <a:srgbClr val="1F2A25"/>
                </a:solidFill>
              </a:rPr>
              <a:t>A hanging system includes the product, every connection, the support and the conditions in which it will be used.</a:t>
            </a:r>
          </a:p>
        </p:txBody>
      </p:sp>
      <p:sp>
        <p:nvSpPr>
          <p:cNvPr id="9" name="s4-mark-2">
            <a:extLst xmlns:a="http://schemas.openxmlformats.org/drawingml/2006/main">
              <a:ext uri="{FF2B5EF4-FFF2-40B4-BE49-F238E27FC236}">
                <a16:creationId xmlns:a16="http://schemas.microsoft.com/office/drawing/2014/main" id="{2ECA99A9-9E2B-4D79-B290-ECA4F1B5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670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10" name="s4-text-2">
            <a:extLst xmlns:a="http://schemas.openxmlformats.org/drawingml/2006/main">
              <a:ext uri="{FF2B5EF4-FFF2-40B4-BE49-F238E27FC236}">
                <a16:creationId xmlns:a16="http://schemas.microsoft.com/office/drawing/2014/main" id="{E667965D-BF49-4ED1-ABA7-EA73825C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790825"/>
            <a:ext cx="41338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5"/>
                </a:solidFill>
              </a:defRPr>
            </a:pPr>
            <a:r>
              <a:rPr sz="1575" b="0">
                <a:solidFill>
                  <a:srgbClr val="1F2A25"/>
                </a:solidFill>
              </a:rPr>
              <a:t>A load path explains how effects travel through the system. Looking level once does not prove capacity or long-term suitability.</a:t>
            </a:r>
          </a:p>
        </p:txBody>
      </p:sp>
      <p:sp>
        <p:nvSpPr>
          <p:cNvPr id="11" name="s4-mark-3">
            <a:extLst xmlns:a="http://schemas.openxmlformats.org/drawingml/2006/main">
              <a:ext uri="{FF2B5EF4-FFF2-40B4-BE49-F238E27FC236}">
                <a16:creationId xmlns:a16="http://schemas.microsoft.com/office/drawing/2014/main" id="{2A5CCF4A-DBFE-4EC6-884A-2223B4887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481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12" name="s4-text-3">
            <a:extLst xmlns:a="http://schemas.openxmlformats.org/drawingml/2006/main">
              <a:ext uri="{FF2B5EF4-FFF2-40B4-BE49-F238E27FC236}">
                <a16:creationId xmlns:a16="http://schemas.microsoft.com/office/drawing/2014/main" id="{3CC157DE-AD08-4E3A-B0CA-D9A071FD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771900"/>
            <a:ext cx="41338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5"/>
                </a:solidFill>
              </a:defRPr>
            </a:pPr>
            <a:r>
              <a:rPr sz="1575" b="0">
                <a:solidFill>
                  <a:srgbClr val="1F2A25"/>
                </a:solidFill>
              </a:rPr>
              <a:t>Use only teacher-approved test criteria and installation decisions for the actual context.</a:t>
            </a:r>
          </a:p>
        </p:txBody>
      </p:sp>
      <p:sp>
        <p:nvSpPr>
          <p:cNvPr id="13" name="prompt-band-4">
            <a:extLst xmlns:a="http://schemas.openxmlformats.org/drawingml/2006/main">
              <a:ext uri="{FF2B5EF4-FFF2-40B4-BE49-F238E27FC236}">
                <a16:creationId xmlns:a16="http://schemas.microsoft.com/office/drawing/2014/main" id="{F222BF0F-8AB2-4A95-A535-548B660EF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762500"/>
            <a:ext cx="4400550" cy="1219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3ED"/>
          </a:solidFill>
          <a:ln xmlns:a="http://schemas.openxmlformats.org/drawingml/2006/main" w="9525">
            <a:solidFill>
              <a:srgbClr val="C8D8CF"/>
            </a:solidFill>
            <a:prstDash val="solid"/>
          </a:ln>
        </p:spPr>
      </p:sp>
      <p:sp>
        <p:nvSpPr>
          <p:cNvPr id="14" name="prompt-label-4">
            <a:extLst xmlns:a="http://schemas.openxmlformats.org/drawingml/2006/main">
              <a:ext uri="{FF2B5EF4-FFF2-40B4-BE49-F238E27FC236}">
                <a16:creationId xmlns:a16="http://schemas.microsoft.com/office/drawing/2014/main" id="{3FD01586-C65B-41AF-813C-BA59C0B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0537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4932"/>
                </a:solidFill>
              </a:defRPr>
            </a:pPr>
            <a:r>
              <a:rPr sz="1050" b="1">
                <a:solidFill>
                  <a:srgbClr val="B84932"/>
                </a:solidFill>
              </a:rPr>
              <a:t>APPLY IT</a:t>
            </a:r>
          </a:p>
        </p:txBody>
      </p:sp>
      <p:sp>
        <p:nvSpPr>
          <p:cNvPr id="15" name="prompt-4">
            <a:extLst xmlns:a="http://schemas.openxmlformats.org/drawingml/2006/main">
              <a:ext uri="{FF2B5EF4-FFF2-40B4-BE49-F238E27FC236}">
                <a16:creationId xmlns:a16="http://schemas.microsoft.com/office/drawing/2014/main" id="{35DBEEBE-E18E-49AC-B3B0-4446DD7F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191125"/>
            <a:ext cx="3943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3F30"/>
                </a:solidFill>
              </a:defRPr>
            </a:pPr>
            <a:r>
              <a:rPr sz="1350" b="1">
                <a:solidFill>
                  <a:srgbClr val="113F30"/>
                </a:solidFill>
              </a:rPr>
              <a:t>Trace the system from product to support and name the evidence needed before approved use.</a:t>
            </a:r>
          </a:p>
        </p:txBody>
      </p:sp>
      <p:sp>
        <p:nvSpPr>
          <p:cNvPr id="16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158456C3-7F3A-4A9F-B07B-7544E539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8CF"/>
          </a:solidFill>
          <a:ln xmlns:a="http://schemas.openxmlformats.org/drawingml/2006/main" w="0">
            <a:solidFill>
              <a:srgbClr val="C8D8CF"/>
            </a:solidFill>
            <a:prstDash val="solid"/>
          </a:ln>
        </p:spPr>
      </p:sp>
      <p:sp>
        <p:nvSpPr>
          <p:cNvPr id="17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20866947-B2A0-46E9-8BA3-882B185F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62725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645D"/>
                </a:solidFill>
              </a:defRPr>
            </a:pPr>
            <a:r>
              <a:rPr sz="900" b="1">
                <a:solidFill>
                  <a:srgbClr val="54645D"/>
                </a:solidFill>
              </a:rPr>
              <a:t>SWINGING SIGN  •  MODULE 5</a:t>
            </a:r>
          </a:p>
        </p:txBody>
      </p:sp>
      <p:sp>
        <p:nvSpPr>
          <p:cNvPr id="18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819503C1-12D9-48A9-A9B7-1920DD1B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62725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4645D"/>
                </a:solidFill>
              </a:defRPr>
            </a:pPr>
            <a:r>
              <a:rPr sz="900" b="1">
                <a:solidFill>
                  <a:srgbClr val="54645D"/>
                </a:solidFill>
              </a:rPr>
              <a:t>4 / 8</a:t>
            </a:r>
          </a:p>
        </p:txBody>
      </p:sp>
    </p:spTree>
    <p:extLst>
      <p:ext uri="{BB962C8B-B14F-4D97-AF65-F5344CB8AC3E}">
        <p14:creationId xmlns:p14="http://schemas.microsoft.com/office/powerpoint/2010/main" val="5461993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3F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1515cfb7864855"/>
          <a:srcRect xmlns:a="http://schemas.openxmlformats.org/drawingml/2006/main" l="12870" t="0" r="1287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52950" y="0"/>
            <a:ext cx="7639050" cy="6858000"/>
          </a:xfrm>
          <a:prstGeom xmlns:a="http://schemas.openxmlformats.org/drawingml/2006/main" prst="roundRect">
            <a:avLst>
              <a:gd name="adj" fmla="val 2500"/>
            </a:avLst>
          </a:prstGeom>
        </p:spPr>
      </p:pic>
      <p:sp>
        <p:nvSpPr>
          <p:cNvPr id="2" name="image-layout-panel-5">
            <a:extLst xmlns:a="http://schemas.openxmlformats.org/drawingml/2006/main">
              <a:ext uri="{FF2B5EF4-FFF2-40B4-BE49-F238E27FC236}">
                <a16:creationId xmlns:a16="http://schemas.microsoft.com/office/drawing/2014/main" id="{8E8873A4-0BF5-4CD4-992F-3E761F13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10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3F30"/>
          </a:solidFill>
          <a:ln xmlns:a="http://schemas.openxmlformats.org/drawingml/2006/main" w="0">
            <a:solidFill>
              <a:srgbClr val="113F30"/>
            </a:solidFill>
            <a:prstDash val="solid"/>
          </a:ln>
        </p:spPr>
      </p:sp>
      <p:sp>
        <p:nvSpPr>
          <p:cNvPr id="3" name="image-layout-accent-5">
            <a:extLst xmlns:a="http://schemas.openxmlformats.org/drawingml/2006/main">
              <a:ext uri="{FF2B5EF4-FFF2-40B4-BE49-F238E27FC236}">
                <a16:creationId xmlns:a16="http://schemas.microsoft.com/office/drawing/2014/main" id="{4057986D-A71A-4F83-8792-2DCCDCCC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00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4" name="module-kicker-5">
            <a:extLst xmlns:a="http://schemas.openxmlformats.org/drawingml/2006/main">
              <a:ext uri="{FF2B5EF4-FFF2-40B4-BE49-F238E27FC236}">
                <a16:creationId xmlns:a16="http://schemas.microsoft.com/office/drawing/2014/main" id="{79E1D4D9-706D-4139-9007-77ED8EDA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FE1D8"/>
                </a:solidFill>
              </a:defRPr>
            </a:pPr>
            <a:r>
              <a:rPr sz="1050" b="1">
                <a:solidFill>
                  <a:srgbClr val="CFE1D8"/>
                </a:solidFill>
              </a:rPr>
              <a:t>MODULE 5  •  EVALUATE, FEEDBACK AND IMPROVE</a:t>
            </a:r>
          </a:p>
        </p:txBody>
      </p:sp>
      <p:sp>
        <p:nvSpPr>
          <p:cNvPr id="5" name="stacked-slide-title-5">
            <a:extLst xmlns:a="http://schemas.openxmlformats.org/drawingml/2006/main">
              <a:ext uri="{FF2B5EF4-FFF2-40B4-BE49-F238E27FC236}">
                <a16:creationId xmlns:a16="http://schemas.microsoft.com/office/drawing/2014/main" id="{814F9F17-4CAE-4739-AEB6-0C2DB42C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3829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Evaluation is a judgement backed by criteria</a:t>
            </a:r>
          </a:p>
        </p:txBody>
      </p:sp>
      <p:sp>
        <p:nvSpPr>
          <p:cNvPr id="6" name="s5-mark-1">
            <a:extLst xmlns:a="http://schemas.openxmlformats.org/drawingml/2006/main">
              <a:ext uri="{FF2B5EF4-FFF2-40B4-BE49-F238E27FC236}">
                <a16:creationId xmlns:a16="http://schemas.microsoft.com/office/drawing/2014/main" id="{0544516F-C5C1-4DFE-8FD0-627300BC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7" name="s5-text-1">
            <a:extLst xmlns:a="http://schemas.openxmlformats.org/drawingml/2006/main">
              <a:ext uri="{FF2B5EF4-FFF2-40B4-BE49-F238E27FC236}">
                <a16:creationId xmlns:a16="http://schemas.microsoft.com/office/drawing/2014/main" id="{CDDFEE3C-D016-413F-9C8C-68768FAC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38425"/>
            <a:ext cx="35623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A balanced evaluation judges the result against confirmed criteria using specific evidence, not preference alone.</a:t>
            </a:r>
          </a:p>
        </p:txBody>
      </p:sp>
      <p:sp>
        <p:nvSpPr>
          <p:cNvPr id="8" name="s5-mark-2">
            <a:extLst xmlns:a="http://schemas.openxmlformats.org/drawingml/2006/main">
              <a:ext uri="{FF2B5EF4-FFF2-40B4-BE49-F238E27FC236}">
                <a16:creationId xmlns:a16="http://schemas.microsoft.com/office/drawing/2014/main" id="{C30D7D53-BA74-440D-95E9-49B98AE8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9" name="s5-text-2">
            <a:extLst xmlns:a="http://schemas.openxmlformats.org/drawingml/2006/main">
              <a:ext uri="{FF2B5EF4-FFF2-40B4-BE49-F238E27FC236}">
                <a16:creationId xmlns:a16="http://schemas.microsoft.com/office/drawing/2014/main" id="{FDAE5174-0ADC-47C6-A1C4-DAA60F09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52825"/>
            <a:ext cx="35623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Feedback must be interpreted: decide whether it is relevant, reliable and connected to the user's need.</a:t>
            </a:r>
          </a:p>
        </p:txBody>
      </p:sp>
      <p:sp>
        <p:nvSpPr>
          <p:cNvPr id="10" name="s5-mark-3">
            <a:extLst xmlns:a="http://schemas.openxmlformats.org/drawingml/2006/main">
              <a:ext uri="{FF2B5EF4-FFF2-40B4-BE49-F238E27FC236}">
                <a16:creationId xmlns:a16="http://schemas.microsoft.com/office/drawing/2014/main" id="{CAFC8178-8F2A-46B8-A20F-1665E433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434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11" name="s5-text-3">
            <a:extLst xmlns:a="http://schemas.openxmlformats.org/drawingml/2006/main">
              <a:ext uri="{FF2B5EF4-FFF2-40B4-BE49-F238E27FC236}">
                <a16:creationId xmlns:a16="http://schemas.microsoft.com/office/drawing/2014/main" id="{CE4FCA18-406B-435E-A9ED-FEB6EE9E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67225"/>
            <a:ext cx="35623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A useful improvement names the change, reason, expected benefit and evidence that would show it worked.</a:t>
            </a:r>
          </a:p>
        </p:txBody>
      </p:sp>
      <p:sp>
        <p:nvSpPr>
          <p:cNvPr id="12" name="prompt-label-5">
            <a:extLst xmlns:a="http://schemas.openxmlformats.org/drawingml/2006/main">
              <a:ext uri="{FF2B5EF4-FFF2-40B4-BE49-F238E27FC236}">
                <a16:creationId xmlns:a16="http://schemas.microsoft.com/office/drawing/2014/main" id="{F2827155-D7B6-49A4-849B-AF3B2766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7AD31"/>
                </a:solidFill>
              </a:defRPr>
            </a:pPr>
            <a:r>
              <a:rPr sz="1050" b="1">
                <a:solidFill>
                  <a:srgbClr val="E7AD31"/>
                </a:solidFill>
              </a:rPr>
              <a:t>APPLY IT</a:t>
            </a:r>
          </a:p>
        </p:txBody>
      </p:sp>
      <p:sp>
        <p:nvSpPr>
          <p:cNvPr id="13" name="prompt-5">
            <a:extLst xmlns:a="http://schemas.openxmlformats.org/drawingml/2006/main">
              <a:ext uri="{FF2B5EF4-FFF2-40B4-BE49-F238E27FC236}">
                <a16:creationId xmlns:a16="http://schemas.microsoft.com/office/drawing/2014/main" id="{138A80AF-471D-451E-B8E5-D617927F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3829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Choose one high-priority improvement and justify why it matters more than the alternatives.</a:t>
            </a:r>
          </a:p>
        </p:txBody>
      </p:sp>
      <p:sp>
        <p:nvSpPr>
          <p:cNvPr id="14" name="caption-5">
            <a:extLst xmlns:a="http://schemas.openxmlformats.org/drawingml/2006/main">
              <a:ext uri="{FF2B5EF4-FFF2-40B4-BE49-F238E27FC236}">
                <a16:creationId xmlns:a16="http://schemas.microsoft.com/office/drawing/2014/main" id="{80F041B5-3C7D-4DF0-BFDA-C1B585E5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096000"/>
            <a:ext cx="590550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113F3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Use evidence to judge strengths and limits, then prioritise one testable improvement.</a:t>
            </a:r>
          </a:p>
        </p:txBody>
      </p:sp>
      <p:sp>
        <p:nvSpPr>
          <p:cNvPr id="15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93644B27-A422-4338-8FD9-A999C36B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2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8774"/>
          </a:solidFill>
          <a:ln xmlns:a="http://schemas.openxmlformats.org/drawingml/2006/main" w="0">
            <a:solidFill>
              <a:srgbClr val="5C8774"/>
            </a:solidFill>
            <a:prstDash val="solid"/>
          </a:ln>
        </p:spPr>
      </p:sp>
      <p:sp>
        <p:nvSpPr>
          <p:cNvPr id="16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03E562B8-4B79-4A4D-952C-86D33AD6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8E7DF"/>
                </a:solidFill>
              </a:defRPr>
            </a:pPr>
            <a:r>
              <a:rPr sz="900" b="1">
                <a:solidFill>
                  <a:srgbClr val="D8E7DF"/>
                </a:solidFill>
              </a:rPr>
              <a:t>SWINGING SIGN  •  MODULE 5</a:t>
            </a:r>
          </a:p>
        </p:txBody>
      </p:sp>
      <p:sp>
        <p:nvSpPr>
          <p:cNvPr id="17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2E77B05B-2EFF-47B5-A296-CE8E98F7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43675"/>
            <a:ext cx="742950" cy="228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3F3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 / 8</a:t>
            </a:r>
          </a:p>
        </p:txBody>
      </p:sp>
    </p:spTree>
    <p:extLst>
      <p:ext uri="{BB962C8B-B14F-4D97-AF65-F5344CB8AC3E}">
        <p14:creationId xmlns:p14="http://schemas.microsoft.com/office/powerpoint/2010/main" val="9682233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3F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cent-6">
            <a:extLst xmlns:a="http://schemas.openxmlformats.org/drawingml/2006/main">
              <a:ext uri="{FF2B5EF4-FFF2-40B4-BE49-F238E27FC236}">
                <a16:creationId xmlns:a16="http://schemas.microsoft.com/office/drawing/2014/main" id="{06ABB19E-527A-47E5-ABEF-EFE8E829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2" name="module-kicker-6">
            <a:extLst xmlns:a="http://schemas.openxmlformats.org/drawingml/2006/main">
              <a:ext uri="{FF2B5EF4-FFF2-40B4-BE49-F238E27FC236}">
                <a16:creationId xmlns:a16="http://schemas.microsoft.com/office/drawing/2014/main" id="{05B3160E-D1F2-4DB0-8A56-D29D74E7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FE1D8"/>
                </a:solidFill>
              </a:defRPr>
            </a:pPr>
            <a:r>
              <a:rPr sz="1050" b="1">
                <a:solidFill>
                  <a:srgbClr val="CFE1D8"/>
                </a:solidFill>
              </a:rPr>
              <a:t>MODULE 5  •  FINISH, TEST AND EVALUATE</a:t>
            </a:r>
          </a:p>
        </p:txBody>
      </p:sp>
      <p:sp>
        <p:nvSpPr>
          <p:cNvPr id="3" name="slide-title-6">
            <a:extLst xmlns:a="http://schemas.openxmlformats.org/drawingml/2006/main">
              <a:ext uri="{FF2B5EF4-FFF2-40B4-BE49-F238E27FC236}">
                <a16:creationId xmlns:a16="http://schemas.microsoft.com/office/drawing/2014/main" id="{3DCFAEA2-FF99-49FC-9629-EAA4BA40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Stop. Think. Explain.</a:t>
            </a:r>
          </a:p>
        </p:txBody>
      </p:sp>
      <p:sp>
        <p:nvSpPr>
          <p:cNvPr id="4" name="retrieval-instruction">
            <a:extLst xmlns:a="http://schemas.openxmlformats.org/drawingml/2006/main">
              <a:ext uri="{FF2B5EF4-FFF2-40B4-BE49-F238E27FC236}">
                <a16:creationId xmlns:a16="http://schemas.microsoft.com/office/drawing/2014/main" id="{9F855CE6-B555-4841-B680-40769CFA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6825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7DF"/>
                </a:solidFill>
              </a:defRPr>
            </a:pPr>
            <a:r>
              <a:rPr sz="1650" b="0">
                <a:solidFill>
                  <a:srgbClr val="D8E7DF"/>
                </a:solidFill>
              </a:rPr>
              <a:t>Answer silently first. Then justify one answer with a partner.</a:t>
            </a:r>
          </a:p>
        </p:txBody>
      </p:sp>
      <p:sp>
        <p:nvSpPr>
          <p:cNvPr id="5" name="retrieval-line-1">
            <a:extLst xmlns:a="http://schemas.openxmlformats.org/drawingml/2006/main">
              <a:ext uri="{FF2B5EF4-FFF2-40B4-BE49-F238E27FC236}">
                <a16:creationId xmlns:a16="http://schemas.microsoft.com/office/drawing/2014/main" id="{5EB6BC35-3D6C-49FF-957C-736F5800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781050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1D503D"/>
          </a:solidFill>
          <a:ln xmlns:a="http://schemas.openxmlformats.org/drawingml/2006/main" w="9525">
            <a:solidFill>
              <a:srgbClr val="4F7D69"/>
            </a:solidFill>
            <a:prstDash val="solid"/>
          </a:ln>
        </p:spPr>
      </p:sp>
      <p:sp>
        <p:nvSpPr>
          <p:cNvPr id="6" name="retrieval-number-1">
            <a:extLst xmlns:a="http://schemas.openxmlformats.org/drawingml/2006/main">
              <a:ext uri="{FF2B5EF4-FFF2-40B4-BE49-F238E27FC236}">
                <a16:creationId xmlns:a16="http://schemas.microsoft.com/office/drawing/2014/main" id="{912EA0AD-B7B5-48E1-9800-62136766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9072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7AD31"/>
                </a:solidFill>
              </a:defRPr>
            </a:pPr>
            <a:r>
              <a:rPr sz="1875" b="1">
                <a:solidFill>
                  <a:srgbClr val="E7AD31"/>
                </a:solidFill>
              </a:rPr>
              <a:t>1</a:t>
            </a:r>
          </a:p>
        </p:txBody>
      </p:sp>
      <p:sp>
        <p:nvSpPr>
          <p:cNvPr id="7" name="retrieval-question-1">
            <a:extLst xmlns:a="http://schemas.openxmlformats.org/drawingml/2006/main">
              <a:ext uri="{FF2B5EF4-FFF2-40B4-BE49-F238E27FC236}">
                <a16:creationId xmlns:a16="http://schemas.microsoft.com/office/drawing/2014/main" id="{74E705BD-6320-4E4B-AB61-D1D383C0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62150"/>
            <a:ext cx="9658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Why is a finish described as a system?</a:t>
            </a:r>
          </a:p>
        </p:txBody>
      </p:sp>
      <p:sp>
        <p:nvSpPr>
          <p:cNvPr id="8" name="retrieval-line-2">
            <a:extLst xmlns:a="http://schemas.openxmlformats.org/drawingml/2006/main">
              <a:ext uri="{FF2B5EF4-FFF2-40B4-BE49-F238E27FC236}">
                <a16:creationId xmlns:a16="http://schemas.microsoft.com/office/drawing/2014/main" id="{8D6CBEB8-AF8B-4178-AA0D-636B61E7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820400" cy="781050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245E48"/>
          </a:solidFill>
          <a:ln xmlns:a="http://schemas.openxmlformats.org/drawingml/2006/main" w="9525">
            <a:solidFill>
              <a:srgbClr val="4F7D69"/>
            </a:solidFill>
            <a:prstDash val="solid"/>
          </a:ln>
        </p:spPr>
      </p:sp>
      <p:sp>
        <p:nvSpPr>
          <p:cNvPr id="9" name="retrieval-number-2">
            <a:extLst xmlns:a="http://schemas.openxmlformats.org/drawingml/2006/main">
              <a:ext uri="{FF2B5EF4-FFF2-40B4-BE49-F238E27FC236}">
                <a16:creationId xmlns:a16="http://schemas.microsoft.com/office/drawing/2014/main" id="{A53B9107-0EED-45DD-9632-915FB809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8132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7AD31"/>
                </a:solidFill>
              </a:defRPr>
            </a:pPr>
            <a:r>
              <a:rPr sz="1875" b="1">
                <a:solidFill>
                  <a:srgbClr val="E7AD31"/>
                </a:solidFill>
              </a:rPr>
              <a:t>2</a:t>
            </a:r>
          </a:p>
        </p:txBody>
      </p:sp>
      <p:sp>
        <p:nvSpPr>
          <p:cNvPr id="10" name="retrieval-question-2">
            <a:extLst xmlns:a="http://schemas.openxmlformats.org/drawingml/2006/main">
              <a:ext uri="{FF2B5EF4-FFF2-40B4-BE49-F238E27FC236}">
                <a16:creationId xmlns:a16="http://schemas.microsoft.com/office/drawing/2014/main" id="{86DC2D9B-8BE1-478A-9E0A-3FFDFF57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0"/>
            <a:ext cx="9658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What belongs in a hanging product's load path?</a:t>
            </a:r>
          </a:p>
        </p:txBody>
      </p:sp>
      <p:sp>
        <p:nvSpPr>
          <p:cNvPr id="11" name="retrieval-line-3">
            <a:extLst xmlns:a="http://schemas.openxmlformats.org/drawingml/2006/main">
              <a:ext uri="{FF2B5EF4-FFF2-40B4-BE49-F238E27FC236}">
                <a16:creationId xmlns:a16="http://schemas.microsoft.com/office/drawing/2014/main" id="{DC6516A1-A7EE-4D0D-BE3A-BC49D558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781050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1D503D"/>
          </a:solidFill>
          <a:ln xmlns:a="http://schemas.openxmlformats.org/drawingml/2006/main" w="9525">
            <a:solidFill>
              <a:srgbClr val="4F7D69"/>
            </a:solidFill>
            <a:prstDash val="solid"/>
          </a:ln>
        </p:spPr>
      </p:sp>
      <p:sp>
        <p:nvSpPr>
          <p:cNvPr id="12" name="retrieval-number-3">
            <a:extLst xmlns:a="http://schemas.openxmlformats.org/drawingml/2006/main">
              <a:ext uri="{FF2B5EF4-FFF2-40B4-BE49-F238E27FC236}">
                <a16:creationId xmlns:a16="http://schemas.microsoft.com/office/drawing/2014/main" id="{B7FFAA26-D3A0-4A5C-99E0-85383552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7192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7AD31"/>
                </a:solidFill>
              </a:defRPr>
            </a:pPr>
            <a:r>
              <a:rPr sz="1875" b="1">
                <a:solidFill>
                  <a:srgbClr val="E7AD31"/>
                </a:solidFill>
              </a:rPr>
              <a:t>3</a:t>
            </a:r>
          </a:p>
        </p:txBody>
      </p:sp>
      <p:sp>
        <p:nvSpPr>
          <p:cNvPr id="13" name="retrieval-question-3">
            <a:extLst xmlns:a="http://schemas.openxmlformats.org/drawingml/2006/main">
              <a:ext uri="{FF2B5EF4-FFF2-40B4-BE49-F238E27FC236}">
                <a16:creationId xmlns:a16="http://schemas.microsoft.com/office/drawing/2014/main" id="{47BBD2DE-0A87-4D3F-8917-478CBC00F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43350"/>
            <a:ext cx="9658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What can one successful hold prove — and not prove?</a:t>
            </a:r>
          </a:p>
        </p:txBody>
      </p:sp>
      <p:sp>
        <p:nvSpPr>
          <p:cNvPr id="14" name="retrieval-line-4">
            <a:extLst xmlns:a="http://schemas.openxmlformats.org/drawingml/2006/main">
              <a:ext uri="{FF2B5EF4-FFF2-40B4-BE49-F238E27FC236}">
                <a16:creationId xmlns:a16="http://schemas.microsoft.com/office/drawing/2014/main" id="{2CDFE864-557E-459C-AD08-D4F41010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10820400" cy="781050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245E48"/>
          </a:solidFill>
          <a:ln xmlns:a="http://schemas.openxmlformats.org/drawingml/2006/main" w="9525">
            <a:solidFill>
              <a:srgbClr val="4F7D69"/>
            </a:solidFill>
            <a:prstDash val="solid"/>
          </a:ln>
        </p:spPr>
      </p:sp>
      <p:sp>
        <p:nvSpPr>
          <p:cNvPr id="15" name="retrieval-number-4">
            <a:extLst xmlns:a="http://schemas.openxmlformats.org/drawingml/2006/main">
              <a:ext uri="{FF2B5EF4-FFF2-40B4-BE49-F238E27FC236}">
                <a16:creationId xmlns:a16="http://schemas.microsoft.com/office/drawing/2014/main" id="{04B54FC4-9318-438D-A7B5-C8C6D549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6252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7AD31"/>
                </a:solidFill>
              </a:defRPr>
            </a:pPr>
            <a:r>
              <a:rPr sz="1875" b="1">
                <a:solidFill>
                  <a:srgbClr val="E7AD31"/>
                </a:solidFill>
              </a:rPr>
              <a:t>4</a:t>
            </a:r>
          </a:p>
        </p:txBody>
      </p:sp>
      <p:sp>
        <p:nvSpPr>
          <p:cNvPr id="16" name="retrieval-question-4">
            <a:extLst xmlns:a="http://schemas.openxmlformats.org/drawingml/2006/main">
              <a:ext uri="{FF2B5EF4-FFF2-40B4-BE49-F238E27FC236}">
                <a16:creationId xmlns:a16="http://schemas.microsoft.com/office/drawing/2014/main" id="{885E39DC-D973-4783-8D6A-2B06CEE1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33950"/>
            <a:ext cx="9658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What makes an improvement specific and testable?</a:t>
            </a:r>
          </a:p>
        </p:txBody>
      </p:sp>
      <p:sp>
        <p:nvSpPr>
          <p:cNvPr id="17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37D1FC93-9C0A-42F6-8D75-174EC5FA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8774"/>
          </a:solidFill>
          <a:ln xmlns:a="http://schemas.openxmlformats.org/drawingml/2006/main" w="0">
            <a:solidFill>
              <a:srgbClr val="5C8774"/>
            </a:solidFill>
            <a:prstDash val="solid"/>
          </a:ln>
        </p:spPr>
      </p:sp>
      <p:sp>
        <p:nvSpPr>
          <p:cNvPr id="18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587892BF-B348-40DD-B172-AE765AB7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62725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8E7DF"/>
                </a:solidFill>
              </a:defRPr>
            </a:pPr>
            <a:r>
              <a:rPr sz="900" b="1">
                <a:solidFill>
                  <a:srgbClr val="D8E7DF"/>
                </a:solidFill>
              </a:rPr>
              <a:t>SWINGING SIGN  •  MODULE 5</a:t>
            </a:r>
          </a:p>
        </p:txBody>
      </p:sp>
      <p:sp>
        <p:nvSpPr>
          <p:cNvPr id="19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A71167EB-1C29-4E77-B8D7-FD48B7F2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62725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D8E7DF"/>
                </a:solidFill>
              </a:defRPr>
            </a:pPr>
            <a:r>
              <a:rPr sz="900" b="1">
                <a:solidFill>
                  <a:srgbClr val="D8E7DF"/>
                </a:solidFill>
              </a:rPr>
              <a:t>6 / 8</a:t>
            </a:r>
          </a:p>
        </p:txBody>
      </p:sp>
    </p:spTree>
    <p:extLst>
      <p:ext uri="{BB962C8B-B14F-4D97-AF65-F5344CB8AC3E}">
        <p14:creationId xmlns:p14="http://schemas.microsoft.com/office/powerpoint/2010/main" val="2987589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cent-7">
            <a:extLst xmlns:a="http://schemas.openxmlformats.org/drawingml/2006/main">
              <a:ext uri="{FF2B5EF4-FFF2-40B4-BE49-F238E27FC236}">
                <a16:creationId xmlns:a16="http://schemas.microsoft.com/office/drawing/2014/main" id="{2D0F2F8E-3BEA-4E20-862B-00637E95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2" name="module-kicker-7">
            <a:extLst xmlns:a="http://schemas.openxmlformats.org/drawingml/2006/main">
              <a:ext uri="{FF2B5EF4-FFF2-40B4-BE49-F238E27FC236}">
                <a16:creationId xmlns:a16="http://schemas.microsoft.com/office/drawing/2014/main" id="{DA6D08CF-66BF-4CB8-B7B5-AA583EB1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4932"/>
                </a:solidFill>
              </a:defRPr>
            </a:pPr>
            <a:r>
              <a:rPr sz="1050" b="1">
                <a:solidFill>
                  <a:srgbClr val="B84932"/>
                </a:solidFill>
              </a:rPr>
              <a:t>MODULE 5  •  FINISH, TEST AND EVALUATE</a:t>
            </a:r>
          </a:p>
        </p:txBody>
      </p:sp>
      <p:sp>
        <p:nvSpPr>
          <p:cNvPr id="3" name="slide-title-7">
            <a:extLst xmlns:a="http://schemas.openxmlformats.org/drawingml/2006/main">
              <a:ext uri="{FF2B5EF4-FFF2-40B4-BE49-F238E27FC236}">
                <a16:creationId xmlns:a16="http://schemas.microsoft.com/office/drawing/2014/main" id="{972E0AC7-1DED-4286-9FCC-EA1897C8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3F30"/>
                </a:solidFill>
              </a:defRPr>
            </a:pPr>
            <a:r>
              <a:rPr sz="2850" b="1">
                <a:solidFill>
                  <a:srgbClr val="113F30"/>
                </a:solidFill>
              </a:rPr>
              <a:t>Build one connected explanation</a:t>
            </a:r>
          </a:p>
        </p:txBody>
      </p:sp>
      <p:sp>
        <p:nvSpPr>
          <p:cNvPr id="4" name="guided-question-surface">
            <a:extLst xmlns:a="http://schemas.openxmlformats.org/drawingml/2006/main">
              <a:ext uri="{FF2B5EF4-FFF2-40B4-BE49-F238E27FC236}">
                <a16:creationId xmlns:a16="http://schemas.microsoft.com/office/drawing/2014/main" id="{D87A0DB0-0980-4B5E-BB1F-4337860F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8CF"/>
            </a:solidFill>
            <a:prstDash val="solid"/>
          </a:ln>
        </p:spPr>
      </p:sp>
      <p:sp>
        <p:nvSpPr>
          <p:cNvPr id="5" name="guided-question-label">
            <a:extLst xmlns:a="http://schemas.openxmlformats.org/drawingml/2006/main">
              <a:ext uri="{FF2B5EF4-FFF2-40B4-BE49-F238E27FC236}">
                <a16:creationId xmlns:a16="http://schemas.microsoft.com/office/drawing/2014/main" id="{21BBC487-3FC5-4D1A-8AA6-16E60F47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430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4932"/>
                </a:solidFill>
              </a:defRPr>
            </a:pPr>
            <a:r>
              <a:rPr sz="1050" b="1">
                <a:solidFill>
                  <a:srgbClr val="B84932"/>
                </a:solidFill>
              </a:rPr>
              <a:t>THE QUESTION</a:t>
            </a:r>
          </a:p>
        </p:txBody>
      </p:sp>
      <p:sp>
        <p:nvSpPr>
          <p:cNvPr id="6" name="guided-question">
            <a:extLst xmlns:a="http://schemas.openxmlformats.org/drawingml/2006/main">
              <a:ext uri="{FF2B5EF4-FFF2-40B4-BE49-F238E27FC236}">
                <a16:creationId xmlns:a16="http://schemas.microsoft.com/office/drawing/2014/main" id="{C0C426C9-AE69-4B18-B82A-FC2A7AD7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669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3F30"/>
                </a:solidFill>
              </a:defRPr>
            </a:pPr>
            <a:r>
              <a:rPr sz="1725" b="1">
                <a:solidFill>
                  <a:srgbClr val="113F30"/>
                </a:solidFill>
              </a:rPr>
              <a:t>Evaluate a completed project or teacher-provided case. Judge finish and use evidence against criteria, interpret feedback and justify one high-priority improvement.</a:t>
            </a:r>
          </a:p>
        </p:txBody>
      </p:sp>
      <p:sp>
        <p:nvSpPr>
          <p:cNvPr id="7" name="guided-step-1">
            <a:extLst xmlns:a="http://schemas.openxmlformats.org/drawingml/2006/main">
              <a:ext uri="{FF2B5EF4-FFF2-40B4-BE49-F238E27FC236}">
                <a16:creationId xmlns:a16="http://schemas.microsoft.com/office/drawing/2014/main" id="{5AC9397C-98F1-4111-A6B7-714771DF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25146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113F30"/>
          </a:solidFill>
          <a:ln xmlns:a="http://schemas.openxmlformats.org/drawingml/2006/main" w="0">
            <a:solidFill>
              <a:srgbClr val="113F30"/>
            </a:solidFill>
            <a:prstDash val="solid"/>
          </a:ln>
        </p:spPr>
      </p:sp>
      <p:sp>
        <p:nvSpPr>
          <p:cNvPr id="8" name="guided-step-name-1">
            <a:extLst xmlns:a="http://schemas.openxmlformats.org/drawingml/2006/main">
              <a:ext uri="{FF2B5EF4-FFF2-40B4-BE49-F238E27FC236}">
                <a16:creationId xmlns:a16="http://schemas.microsoft.com/office/drawing/2014/main" id="{6CF57FB6-D73F-4D98-8417-DF660D26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194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7AD31"/>
                </a:solidFill>
              </a:defRPr>
            </a:pPr>
            <a:r>
              <a:rPr sz="1650" b="1">
                <a:solidFill>
                  <a:srgbClr val="E7AD31"/>
                </a:solidFill>
              </a:rPr>
              <a:t>READ</a:t>
            </a:r>
          </a:p>
        </p:txBody>
      </p:sp>
      <p:sp>
        <p:nvSpPr>
          <p:cNvPr id="9" name="guided-step-body-1">
            <a:extLst xmlns:a="http://schemas.openxmlformats.org/drawingml/2006/main">
              <a:ext uri="{FF2B5EF4-FFF2-40B4-BE49-F238E27FC236}">
                <a16:creationId xmlns:a16="http://schemas.microsoft.com/office/drawing/2014/main" id="{91BFA236-4517-47D3-A09C-806FC4EE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095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identify the confirmed criteria and available evidence.</a:t>
            </a:r>
          </a:p>
        </p:txBody>
      </p:sp>
      <p:sp>
        <p:nvSpPr>
          <p:cNvPr id="10" name="guided-step-2">
            <a:extLst xmlns:a="http://schemas.openxmlformats.org/drawingml/2006/main">
              <a:ext uri="{FF2B5EF4-FFF2-40B4-BE49-F238E27FC236}">
                <a16:creationId xmlns:a16="http://schemas.microsoft.com/office/drawing/2014/main" id="{D13A2D6B-1BFD-4E58-B4C0-FA072FD1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90850"/>
            <a:ext cx="25146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176046"/>
          </a:solidFill>
          <a:ln xmlns:a="http://schemas.openxmlformats.org/drawingml/2006/main" w="0">
            <a:solidFill>
              <a:srgbClr val="176046"/>
            </a:solidFill>
            <a:prstDash val="solid"/>
          </a:ln>
        </p:spPr>
      </p:sp>
      <p:sp>
        <p:nvSpPr>
          <p:cNvPr id="11" name="guided-step-name-2">
            <a:extLst xmlns:a="http://schemas.openxmlformats.org/drawingml/2006/main">
              <a:ext uri="{FF2B5EF4-FFF2-40B4-BE49-F238E27FC236}">
                <a16:creationId xmlns:a16="http://schemas.microsoft.com/office/drawing/2014/main" id="{DD1CD121-A50D-4509-8975-913EC8769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2194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7AD31"/>
                </a:solidFill>
              </a:defRPr>
            </a:pPr>
            <a:r>
              <a:rPr sz="1650" b="1">
                <a:solidFill>
                  <a:srgbClr val="E7AD31"/>
                </a:solidFill>
              </a:rPr>
              <a:t>SELECT</a:t>
            </a:r>
          </a:p>
        </p:txBody>
      </p:sp>
      <p:sp>
        <p:nvSpPr>
          <p:cNvPr id="12" name="guided-step-body-2">
            <a:extLst xmlns:a="http://schemas.openxmlformats.org/drawingml/2006/main">
              <a:ext uri="{FF2B5EF4-FFF2-40B4-BE49-F238E27FC236}">
                <a16:creationId xmlns:a16="http://schemas.microsoft.com/office/drawing/2014/main" id="{E0D55909-BEE9-404F-A1D3-EA980AD8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76650"/>
            <a:ext cx="2095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choose finish, system and user evidence that is strongest.</a:t>
            </a:r>
          </a:p>
        </p:txBody>
      </p:sp>
      <p:sp>
        <p:nvSpPr>
          <p:cNvPr id="13" name="guided-step-3">
            <a:extLst xmlns:a="http://schemas.openxmlformats.org/drawingml/2006/main">
              <a:ext uri="{FF2B5EF4-FFF2-40B4-BE49-F238E27FC236}">
                <a16:creationId xmlns:a16="http://schemas.microsoft.com/office/drawing/2014/main" id="{5C342EB8-8DE5-4EA0-BE16-C4C3AF80F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90850"/>
            <a:ext cx="25146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113F30"/>
          </a:solidFill>
          <a:ln xmlns:a="http://schemas.openxmlformats.org/drawingml/2006/main" w="0">
            <a:solidFill>
              <a:srgbClr val="113F30"/>
            </a:solidFill>
            <a:prstDash val="solid"/>
          </a:ln>
        </p:spPr>
      </p:sp>
      <p:sp>
        <p:nvSpPr>
          <p:cNvPr id="14" name="guided-step-name-3">
            <a:extLst xmlns:a="http://schemas.openxmlformats.org/drawingml/2006/main">
              <a:ext uri="{FF2B5EF4-FFF2-40B4-BE49-F238E27FC236}">
                <a16:creationId xmlns:a16="http://schemas.microsoft.com/office/drawing/2014/main" id="{E6076AA5-E6A0-4B01-A82B-8E3BFAAC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194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7AD31"/>
                </a:solidFill>
              </a:defRPr>
            </a:pPr>
            <a:r>
              <a:rPr sz="1650" b="1">
                <a:solidFill>
                  <a:srgbClr val="E7AD31"/>
                </a:solidFill>
              </a:rPr>
              <a:t>EXPLAIN</a:t>
            </a:r>
          </a:p>
        </p:txBody>
      </p:sp>
      <p:sp>
        <p:nvSpPr>
          <p:cNvPr id="15" name="guided-step-body-3">
            <a:extLst xmlns:a="http://schemas.openxmlformats.org/drawingml/2006/main">
              <a:ext uri="{FF2B5EF4-FFF2-40B4-BE49-F238E27FC236}">
                <a16:creationId xmlns:a16="http://schemas.microsoft.com/office/drawing/2014/main" id="{E8C01D8C-8A1A-4ED4-BB0F-D8DBAB07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76650"/>
            <a:ext cx="2095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make a balanced judgement with strengths and limitations.</a:t>
            </a:r>
          </a:p>
        </p:txBody>
      </p:sp>
      <p:sp>
        <p:nvSpPr>
          <p:cNvPr id="16" name="guided-step-4">
            <a:extLst xmlns:a="http://schemas.openxmlformats.org/drawingml/2006/main">
              <a:ext uri="{FF2B5EF4-FFF2-40B4-BE49-F238E27FC236}">
                <a16:creationId xmlns:a16="http://schemas.microsoft.com/office/drawing/2014/main" id="{2F706FCA-C7FA-475F-92CA-EEF3DC69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990850"/>
            <a:ext cx="25146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176046"/>
          </a:solidFill>
          <a:ln xmlns:a="http://schemas.openxmlformats.org/drawingml/2006/main" w="0">
            <a:solidFill>
              <a:srgbClr val="176046"/>
            </a:solidFill>
            <a:prstDash val="solid"/>
          </a:ln>
        </p:spPr>
      </p:sp>
      <p:sp>
        <p:nvSpPr>
          <p:cNvPr id="17" name="guided-step-name-4">
            <a:extLst xmlns:a="http://schemas.openxmlformats.org/drawingml/2006/main">
              <a:ext uri="{FF2B5EF4-FFF2-40B4-BE49-F238E27FC236}">
                <a16:creationId xmlns:a16="http://schemas.microsoft.com/office/drawing/2014/main" id="{C93244E7-D39A-4C72-AB75-8F1DF3D1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2194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7AD31"/>
                </a:solidFill>
              </a:defRPr>
            </a:pPr>
            <a:r>
              <a:rPr sz="1650" b="1">
                <a:solidFill>
                  <a:srgbClr val="E7AD31"/>
                </a:solidFill>
              </a:rPr>
              <a:t>CHECK</a:t>
            </a:r>
          </a:p>
        </p:txBody>
      </p:sp>
      <p:sp>
        <p:nvSpPr>
          <p:cNvPr id="18" name="guided-step-body-4">
            <a:extLst xmlns:a="http://schemas.openxmlformats.org/drawingml/2006/main">
              <a:ext uri="{FF2B5EF4-FFF2-40B4-BE49-F238E27FC236}">
                <a16:creationId xmlns:a16="http://schemas.microsoft.com/office/drawing/2014/main" id="{77946454-C436-4F11-940C-84B05B3FF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76650"/>
            <a:ext cx="2095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justify one testable improvement and mark missing evidence honestly.</a:t>
            </a:r>
          </a:p>
        </p:txBody>
      </p:sp>
      <p:sp>
        <p:nvSpPr>
          <p:cNvPr id="19" name="guided-sentence">
            <a:extLst xmlns:a="http://schemas.openxmlformats.org/drawingml/2006/main">
              <a:ext uri="{FF2B5EF4-FFF2-40B4-BE49-F238E27FC236}">
                <a16:creationId xmlns:a16="http://schemas.microsoft.com/office/drawing/2014/main" id="{50F7655F-E0FC-4BE0-A466-E6E9B16D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84932"/>
                </a:solidFill>
              </a:defRPr>
            </a:pPr>
            <a:r>
              <a:rPr sz="1500" b="1">
                <a:solidFill>
                  <a:srgbClr val="B84932"/>
                </a:solidFill>
              </a:rPr>
              <a:t>Sentence support: The strongest evidence is ___ because ___. This means ___. Before practical work, ___ still needs teacher confirmation.</a:t>
            </a:r>
          </a:p>
        </p:txBody>
      </p:sp>
      <p:sp>
        <p:nvSpPr>
          <p:cNvPr id="20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954756D4-357A-46F5-8DB5-02BA44E8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8CF"/>
          </a:solidFill>
          <a:ln xmlns:a="http://schemas.openxmlformats.org/drawingml/2006/main" w="0">
            <a:solidFill>
              <a:srgbClr val="C8D8CF"/>
            </a:solidFill>
            <a:prstDash val="solid"/>
          </a:ln>
        </p:spPr>
      </p:sp>
      <p:sp>
        <p:nvSpPr>
          <p:cNvPr id="21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EFF6965B-8CF7-4982-8A99-D7AF5E0B2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62725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645D"/>
                </a:solidFill>
              </a:defRPr>
            </a:pPr>
            <a:r>
              <a:rPr sz="900" b="1">
                <a:solidFill>
                  <a:srgbClr val="54645D"/>
                </a:solidFill>
              </a:rPr>
              <a:t>SWINGING SIGN  •  MODULE 5</a:t>
            </a:r>
          </a:p>
        </p:txBody>
      </p:sp>
      <p:sp>
        <p:nvSpPr>
          <p:cNvPr id="22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141650C5-6229-4B16-BC32-BF47F994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62725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4645D"/>
                </a:solidFill>
              </a:defRPr>
            </a:pPr>
            <a:r>
              <a:rPr sz="900" b="1">
                <a:solidFill>
                  <a:srgbClr val="54645D"/>
                </a:solidFill>
              </a:rPr>
              <a:t>7 / 8</a:t>
            </a:r>
          </a:p>
        </p:txBody>
      </p:sp>
    </p:spTree>
    <p:extLst>
      <p:ext uri="{BB962C8B-B14F-4D97-AF65-F5344CB8AC3E}">
        <p14:creationId xmlns:p14="http://schemas.microsoft.com/office/powerpoint/2010/main" val="7651212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B849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xit-accent">
            <a:extLst xmlns:a="http://schemas.openxmlformats.org/drawingml/2006/main">
              <a:ext uri="{FF2B5EF4-FFF2-40B4-BE49-F238E27FC236}">
                <a16:creationId xmlns:a16="http://schemas.microsoft.com/office/drawing/2014/main" id="{620CC86B-C14A-47DE-95A4-AF8B0455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2" name="exit-kicker">
            <a:extLst xmlns:a="http://schemas.openxmlformats.org/drawingml/2006/main">
              <a:ext uri="{FF2B5EF4-FFF2-40B4-BE49-F238E27FC236}">
                <a16:creationId xmlns:a16="http://schemas.microsoft.com/office/drawing/2014/main" id="{ABC545A9-9074-458D-8FD7-CEC586534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2867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E6D9"/>
                </a:solidFill>
              </a:defRPr>
            </a:pPr>
            <a:r>
              <a:rPr sz="1125" b="1">
                <a:solidFill>
                  <a:srgbClr val="FFE6D9"/>
                </a:solidFill>
              </a:rPr>
              <a:t>MODULE 5  •  EXIT EVIDENCE</a:t>
            </a:r>
          </a:p>
        </p:txBody>
      </p:sp>
      <p:sp>
        <p:nvSpPr>
          <p:cNvPr id="3" name="exit-title">
            <a:extLst xmlns:a="http://schemas.openxmlformats.org/drawingml/2006/main">
              <a:ext uri="{FF2B5EF4-FFF2-40B4-BE49-F238E27FC236}">
                <a16:creationId xmlns:a16="http://schemas.microsoft.com/office/drawing/2014/main" id="{551959E0-4251-47AD-B8D0-C69FEA730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714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Before you pack up…</a:t>
            </a:r>
          </a:p>
        </p:txBody>
      </p:sp>
      <p:sp>
        <p:nvSpPr>
          <p:cNvPr id="4" name="exit-row-1">
            <a:extLst xmlns:a="http://schemas.openxmlformats.org/drawingml/2006/main">
              <a:ext uri="{FF2B5EF4-FFF2-40B4-BE49-F238E27FC236}">
                <a16:creationId xmlns:a16="http://schemas.microsoft.com/office/drawing/2014/main" id="{BA74BB53-C0C9-472C-B4F9-3E2791D3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80962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" name="exit-number-1">
            <a:extLst xmlns:a="http://schemas.openxmlformats.org/drawingml/2006/main">
              <a:ext uri="{FF2B5EF4-FFF2-40B4-BE49-F238E27FC236}">
                <a16:creationId xmlns:a16="http://schemas.microsoft.com/office/drawing/2014/main" id="{8FFA994E-1D44-4FEE-85AB-18DAEE29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B84932"/>
                </a:solidFill>
              </a:defRPr>
            </a:pPr>
            <a:r>
              <a:rPr sz="1725" b="1">
                <a:solidFill>
                  <a:srgbClr val="B84932"/>
                </a:solidFill>
              </a:rPr>
              <a:t>1</a:t>
            </a:r>
          </a:p>
        </p:txBody>
      </p:sp>
      <p:sp>
        <p:nvSpPr>
          <p:cNvPr id="6" name="exit-prompt-1">
            <a:extLst xmlns:a="http://schemas.openxmlformats.org/drawingml/2006/main">
              <a:ext uri="{FF2B5EF4-FFF2-40B4-BE49-F238E27FC236}">
                <a16:creationId xmlns:a16="http://schemas.microsoft.com/office/drawing/2014/main" id="{0C096987-7BD3-46EF-B045-E71DCF600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33625"/>
            <a:ext cx="6991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3F30"/>
                </a:solidFill>
              </a:defRPr>
            </a:pPr>
            <a:r>
              <a:rPr sz="1725" b="1">
                <a:solidFill>
                  <a:srgbClr val="113F30"/>
                </a:solidFill>
              </a:rPr>
              <a:t>One idea I can now explain is…</a:t>
            </a:r>
          </a:p>
        </p:txBody>
      </p:sp>
      <p:sp>
        <p:nvSpPr>
          <p:cNvPr id="7" name="exit-row-2">
            <a:extLst xmlns:a="http://schemas.openxmlformats.org/drawingml/2006/main">
              <a:ext uri="{FF2B5EF4-FFF2-40B4-BE49-F238E27FC236}">
                <a16:creationId xmlns:a16="http://schemas.microsoft.com/office/drawing/2014/main" id="{BC44FA38-65CD-4E1B-AC12-F848A5E0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80962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exit-number-2">
            <a:extLst xmlns:a="http://schemas.openxmlformats.org/drawingml/2006/main">
              <a:ext uri="{FF2B5EF4-FFF2-40B4-BE49-F238E27FC236}">
                <a16:creationId xmlns:a16="http://schemas.microsoft.com/office/drawing/2014/main" id="{A04B7F93-7581-410B-ADB4-661BA20E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3850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B84932"/>
                </a:solidFill>
              </a:defRPr>
            </a:pPr>
            <a:r>
              <a:rPr sz="1725" b="1">
                <a:solidFill>
                  <a:srgbClr val="B84932"/>
                </a:solidFill>
              </a:rPr>
              <a:t>2</a:t>
            </a:r>
          </a:p>
        </p:txBody>
      </p:sp>
      <p:sp>
        <p:nvSpPr>
          <p:cNvPr id="9" name="exit-prompt-2">
            <a:extLst xmlns:a="http://schemas.openxmlformats.org/drawingml/2006/main">
              <a:ext uri="{FF2B5EF4-FFF2-40B4-BE49-F238E27FC236}">
                <a16:creationId xmlns:a16="http://schemas.microsoft.com/office/drawing/2014/main" id="{1228EEDA-CF2F-4DEA-AF39-005C7C82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228975"/>
            <a:ext cx="6991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3F30"/>
                </a:solidFill>
              </a:defRPr>
            </a:pPr>
            <a:r>
              <a:rPr sz="1725" b="1">
                <a:solidFill>
                  <a:srgbClr val="113F30"/>
                </a:solidFill>
              </a:rPr>
              <a:t>One design or production decision this changes is…</a:t>
            </a:r>
          </a:p>
        </p:txBody>
      </p:sp>
      <p:sp>
        <p:nvSpPr>
          <p:cNvPr id="10" name="exit-row-3">
            <a:extLst xmlns:a="http://schemas.openxmlformats.org/drawingml/2006/main">
              <a:ext uri="{FF2B5EF4-FFF2-40B4-BE49-F238E27FC236}">
                <a16:creationId xmlns:a16="http://schemas.microsoft.com/office/drawing/2014/main" id="{DC65E72F-D08F-4D8C-AC83-CCA7AA0F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80962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1" name="exit-number-3">
            <a:extLst xmlns:a="http://schemas.openxmlformats.org/drawingml/2006/main">
              <a:ext uri="{FF2B5EF4-FFF2-40B4-BE49-F238E27FC236}">
                <a16:creationId xmlns:a16="http://schemas.microsoft.com/office/drawing/2014/main" id="{FC18736A-CC73-4C52-9FC3-D6070505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B84932"/>
                </a:solidFill>
              </a:defRPr>
            </a:pPr>
            <a:r>
              <a:rPr sz="1725" b="1">
                <a:solidFill>
                  <a:srgbClr val="B84932"/>
                </a:solidFill>
              </a:rPr>
              <a:t>3</a:t>
            </a:r>
          </a:p>
        </p:txBody>
      </p:sp>
      <p:sp>
        <p:nvSpPr>
          <p:cNvPr id="12" name="exit-prompt-3">
            <a:extLst xmlns:a="http://schemas.openxmlformats.org/drawingml/2006/main">
              <a:ext uri="{FF2B5EF4-FFF2-40B4-BE49-F238E27FC236}">
                <a16:creationId xmlns:a16="http://schemas.microsoft.com/office/drawing/2014/main" id="{462878C0-6AA2-45F3-B5A3-90379D84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24325"/>
            <a:ext cx="6991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3F30"/>
                </a:solidFill>
              </a:defRPr>
            </a:pPr>
            <a:r>
              <a:rPr sz="1725" b="1">
                <a:solidFill>
                  <a:srgbClr val="113F30"/>
                </a:solidFill>
              </a:rPr>
              <a:t>One question I still need answered is…</a:t>
            </a:r>
          </a:p>
        </p:txBody>
      </p:sp>
      <p:sp>
        <p:nvSpPr>
          <p:cNvPr id="13" name="exit-evidence-circle">
            <a:extLst xmlns:a="http://schemas.openxmlformats.org/drawingml/2006/main">
              <a:ext uri="{FF2B5EF4-FFF2-40B4-BE49-F238E27FC236}">
                <a16:creationId xmlns:a16="http://schemas.microsoft.com/office/drawing/2014/main" id="{A5487164-4297-4834-B118-F83EFBAD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76500"/>
            <a:ext cx="1600200" cy="1600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AD31"/>
          </a:solidFill>
          <a:ln xmlns:a="http://schemas.openxmlformats.org/drawingml/2006/main" w="0">
            <a:solidFill>
              <a:srgbClr val="E7AD31"/>
            </a:solidFill>
            <a:prstDash val="solid"/>
          </a:ln>
        </p:spPr>
      </p:sp>
      <p:sp>
        <p:nvSpPr>
          <p:cNvPr id="14" name="exit-evidence-label">
            <a:extLst xmlns:a="http://schemas.openxmlformats.org/drawingml/2006/main">
              <a:ext uri="{FF2B5EF4-FFF2-40B4-BE49-F238E27FC236}">
                <a16:creationId xmlns:a16="http://schemas.microsoft.com/office/drawing/2014/main" id="{8A296224-0001-4118-8A03-9700A505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2819400"/>
            <a:ext cx="1162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3F30"/>
                </a:solidFill>
              </a:defRPr>
            </a:pPr>
            <a:r>
              <a:rPr sz="1725" b="1">
                <a:solidFill>
                  <a:srgbClr val="113F30"/>
                </a:solidFill>
              </a:rPr>
              <a:t>SAVE</a:t>
            </a:r>
          </a:p>
          <a:p xmlns:a="http://schemas.openxmlformats.org/drawingml/2006/main">
            <a:pPr algn="ctr">
              <a:defRPr sz="1725" b="1">
                <a:solidFill>
                  <a:srgbClr val="113F30"/>
                </a:solidFill>
              </a:defRPr>
            </a:pPr>
            <a:r>
              <a:rPr sz="1725" b="1">
                <a:solidFill>
                  <a:srgbClr val="113F30"/>
                </a:solidFill>
              </a:rPr>
              <a:t>YOUR</a:t>
            </a:r>
          </a:p>
          <a:p xmlns:a="http://schemas.openxmlformats.org/drawingml/2006/main">
            <a:pPr algn="ctr">
              <a:defRPr sz="1725" b="1">
                <a:solidFill>
                  <a:srgbClr val="113F30"/>
                </a:solidFill>
              </a:defRPr>
            </a:pPr>
            <a:r>
              <a:rPr sz="1725" b="1">
                <a:solidFill>
                  <a:srgbClr val="113F30"/>
                </a:solidFill>
              </a:rPr>
              <a:t>EVIDENCE</a:t>
            </a:r>
          </a:p>
        </p:txBody>
      </p:sp>
      <p:sp>
        <p:nvSpPr>
          <p:cNvPr id="15" name="exit-folio">
            <a:extLst xmlns:a="http://schemas.openxmlformats.org/drawingml/2006/main">
              <a:ext uri="{FF2B5EF4-FFF2-40B4-BE49-F238E27FC236}">
                <a16:creationId xmlns:a16="http://schemas.microsoft.com/office/drawing/2014/main" id="{8E164E25-15B1-483B-B209-3DD17B1C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0175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My folio cards 10–12: Finish and function check; Evaluation against criteria; Feedback and future improvement.</a:t>
            </a:r>
          </a:p>
        </p:txBody>
      </p:sp>
      <p:sp>
        <p:nvSpPr>
          <p:cNvPr id="16" name="exit-next">
            <a:extLst xmlns:a="http://schemas.openxmlformats.org/drawingml/2006/main">
              <a:ext uri="{FF2B5EF4-FFF2-40B4-BE49-F238E27FC236}">
                <a16:creationId xmlns:a16="http://schemas.microsoft.com/office/drawing/2014/main" id="{410BF14A-4658-4530-A64D-7520B53F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43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E6D9"/>
                </a:solidFill>
              </a:defRPr>
            </a:pPr>
            <a:r>
              <a:rPr sz="1425" b="0">
                <a:solidFill>
                  <a:srgbClr val="FFE6D9"/>
                </a:solidFill>
              </a:rPr>
              <a:t>Next: export a whole-course backup and follow the teacher's official submission direction.</a:t>
            </a:r>
          </a:p>
        </p:txBody>
      </p:sp>
      <p:sp>
        <p:nvSpPr>
          <p:cNvPr id="17" name="exit-page">
            <a:extLst xmlns:a="http://schemas.openxmlformats.org/drawingml/2006/main">
              <a:ext uri="{FF2B5EF4-FFF2-40B4-BE49-F238E27FC236}">
                <a16:creationId xmlns:a16="http://schemas.microsoft.com/office/drawing/2014/main" id="{C1046152-284E-40E1-AE2D-67651A07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198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E6D9"/>
                </a:solidFill>
              </a:defRPr>
            </a:pPr>
            <a:r>
              <a:rPr sz="900" b="1">
                <a:solidFill>
                  <a:srgbClr val="FFE6D9"/>
                </a:solidFill>
              </a:rPr>
              <a:t>8 / 8</a:t>
            </a:r>
          </a:p>
        </p:txBody>
      </p:sp>
    </p:spTree>
    <p:extLst>
      <p:ext uri="{BB962C8B-B14F-4D97-AF65-F5344CB8AC3E}">
        <p14:creationId xmlns:p14="http://schemas.microsoft.com/office/powerpoint/2010/main" val="797876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2026-08-31T09:42:47.3380000Z</dcterms:created>
  <dcterms:modified xsi:type="dcterms:W3CDTF">2026-08-31T09:42:47.3380000Z</dcterms:modified>
</coreProperties>
</file>